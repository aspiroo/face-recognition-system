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y="10287000" cx="18288000"/>
  <p:notesSz cx="6858000" cy="9144000"/>
  <p:embeddedFontLst>
    <p:embeddedFont>
      <p:font typeface="Changa Light"/>
      <p:regular r:id="rId58"/>
      <p:bold r:id="rId59"/>
    </p:embeddedFont>
    <p:embeddedFont>
      <p:font typeface="Playfair Display"/>
      <p:regular r:id="rId60"/>
      <p:bold r:id="rId61"/>
      <p:italic r:id="rId62"/>
      <p:boldItalic r:id="rId63"/>
    </p:embeddedFont>
    <p:embeddedFont>
      <p:font typeface="Changa"/>
      <p:regular r:id="rId64"/>
      <p:bold r:id="rId65"/>
    </p:embeddedFont>
    <p:embeddedFont>
      <p:font typeface="Changa ExtraBold"/>
      <p:bold r:id="rId66"/>
    </p:embeddedFont>
    <p:embeddedFont>
      <p:font typeface="NTR"/>
      <p:regular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D87B1AF-5FE0-45FB-A775-C01E60B3ACEB}">
  <a:tblStyle styleId="{9D87B1AF-5FE0-45FB-A775-C01E60B3ACE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B6453AF-2548-49EC-B0BF-D976E116B519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PlayfairDisplay-italic.fntdata"/><Relationship Id="rId61" Type="http://schemas.openxmlformats.org/officeDocument/2006/relationships/font" Target="fonts/PlayfairDisplay-bold.fntdata"/><Relationship Id="rId20" Type="http://schemas.openxmlformats.org/officeDocument/2006/relationships/slide" Target="slides/slide14.xml"/><Relationship Id="rId64" Type="http://schemas.openxmlformats.org/officeDocument/2006/relationships/font" Target="fonts/Changa-regular.fntdata"/><Relationship Id="rId63" Type="http://schemas.openxmlformats.org/officeDocument/2006/relationships/font" Target="fonts/PlayfairDisplay-boldItalic.fntdata"/><Relationship Id="rId22" Type="http://schemas.openxmlformats.org/officeDocument/2006/relationships/slide" Target="slides/slide16.xml"/><Relationship Id="rId66" Type="http://schemas.openxmlformats.org/officeDocument/2006/relationships/font" Target="fonts/ChangaExtraBold-bold.fntdata"/><Relationship Id="rId21" Type="http://schemas.openxmlformats.org/officeDocument/2006/relationships/slide" Target="slides/slide15.xml"/><Relationship Id="rId65" Type="http://schemas.openxmlformats.org/officeDocument/2006/relationships/font" Target="fonts/Changa-bold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7" Type="http://schemas.openxmlformats.org/officeDocument/2006/relationships/font" Target="fonts/NTR-regular.fntdata"/><Relationship Id="rId60" Type="http://schemas.openxmlformats.org/officeDocument/2006/relationships/font" Target="fonts/PlayfairDisplay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font" Target="fonts/ChangaLight-bold.fntdata"/><Relationship Id="rId14" Type="http://schemas.openxmlformats.org/officeDocument/2006/relationships/slide" Target="slides/slide8.xml"/><Relationship Id="rId58" Type="http://schemas.openxmlformats.org/officeDocument/2006/relationships/font" Target="fonts/ChangaLight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059348459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e05934845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6b04a6497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6b04a649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e6b04a6497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e6b04a6497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99a8498bf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d99a8498b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99a8498bf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d99a8498b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99a8498bf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99a8498b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99a8498bf_0_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d99a8498b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99a8498bf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d99a8498bf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99a8498bf_0_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99a8498bf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6b04a649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6b04a64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e6b04a6497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e6b04a649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e6b04a6497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e6b04a649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e6b04a649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e6b04a649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e6b04a6497_1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e6b04a6497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e6b04a6497_1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e6b04a6497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e6b04a6497_1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e6b04a6497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e6b04a6497_1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e6b04a6497_1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d99a8498bf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d99a8498bf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e6b04a6497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e6b04a6497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d99a8498bf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d99a8498bf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e6b04a6497_0_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e6b04a6497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e6b04a6497_1_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e6b04a6497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e6b04a6497_1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e6b04a6497_1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e6b04a6497_1_9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e6b04a6497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e6b04a6497_1_1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e6b04a6497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e6b04a6497_1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e6b04a6497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e6b04a6497_1_12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e6b04a6497_1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6b04a6497_1_1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6b04a6497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e6ac86e3d6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e6ac86e3d6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e6b04a6497_0_4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e6b04a649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e6b04a6497_1_1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e6b04a6497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6b04a6497_1_1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e6b04a6497_1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e6b04a6497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g3e6b04a6497_2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7" name="Google Shape;93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3d99a8498bf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3d99a8498b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3d99a8498bf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3d99a8498b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6.png"/><Relationship Id="rId4" Type="http://schemas.openxmlformats.org/officeDocument/2006/relationships/image" Target="../media/image1.png"/><Relationship Id="rId5" Type="http://schemas.openxmlformats.org/officeDocument/2006/relationships/image" Target="../media/image19.png"/><Relationship Id="rId6" Type="http://schemas.openxmlformats.org/officeDocument/2006/relationships/image" Target="../media/image1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4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5.png"/><Relationship Id="rId5" Type="http://schemas.openxmlformats.org/officeDocument/2006/relationships/image" Target="../media/image47.png"/><Relationship Id="rId6" Type="http://schemas.openxmlformats.org/officeDocument/2006/relationships/image" Target="../media/image4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20.png"/><Relationship Id="rId4" Type="http://schemas.openxmlformats.org/officeDocument/2006/relationships/image" Target="../media/image36.png"/><Relationship Id="rId5" Type="http://schemas.openxmlformats.org/officeDocument/2006/relationships/image" Target="../media/image16.png"/><Relationship Id="rId6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/>
        </p:nvSpPr>
        <p:spPr>
          <a:xfrm>
            <a:off x="37550" y="9496225"/>
            <a:ext cx="18250500" cy="7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Safwan Ismaun 2311443042 , Ananya Sarkar 2231005042, Nudrat Rahman Tushin 2231058642 , Muzahidur Rahman Saim 221758042</a:t>
            </a:r>
            <a:endParaRPr sz="250">
              <a:solidFill>
                <a:srgbClr val="FFFFFF"/>
              </a:solidFill>
              <a:highlight>
                <a:schemeClr val="lt1"/>
              </a:highlight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1" name="Google Shape;11;p2"/>
          <p:cNvSpPr txBox="1"/>
          <p:nvPr/>
        </p:nvSpPr>
        <p:spPr>
          <a:xfrm>
            <a:off x="18800" y="9324975"/>
            <a:ext cx="2356500" cy="3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Group:5</a:t>
            </a:r>
            <a:endParaRPr sz="22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2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" name="Google Shape;14;p3"/>
          <p:cNvSpPr txBox="1"/>
          <p:nvPr>
            <p:ph type="ctrTitle"/>
          </p:nvPr>
        </p:nvSpPr>
        <p:spPr>
          <a:xfrm>
            <a:off x="685800" y="1813575"/>
            <a:ext cx="16073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5660875" y="46181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 rot="5778515">
            <a:off x="15577853" y="2611095"/>
            <a:ext cx="2782915" cy="1315560"/>
          </a:xfrm>
          <a:custGeom>
            <a:rect b="b" l="l" r="r" t="t"/>
            <a:pathLst>
              <a:path extrusionOk="0" h="1314164" w="2779963">
                <a:moveTo>
                  <a:pt x="0" y="0"/>
                </a:moveTo>
                <a:lnTo>
                  <a:pt x="2779962" y="0"/>
                </a:lnTo>
                <a:lnTo>
                  <a:pt x="2779962" y="1314164"/>
                </a:lnTo>
                <a:lnTo>
                  <a:pt x="0" y="1314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" name="Google Shape;17;p3"/>
          <p:cNvSpPr/>
          <p:nvPr/>
        </p:nvSpPr>
        <p:spPr>
          <a:xfrm flipH="1" rot="-7600168">
            <a:off x="-1606189" y="-863622"/>
            <a:ext cx="3763237" cy="1778985"/>
          </a:xfrm>
          <a:custGeom>
            <a:rect b="b" l="l" r="r" t="t"/>
            <a:pathLst>
              <a:path extrusionOk="0" h="1778085" w="3761333">
                <a:moveTo>
                  <a:pt x="3761333" y="0"/>
                </a:moveTo>
                <a:lnTo>
                  <a:pt x="0" y="0"/>
                </a:lnTo>
                <a:lnTo>
                  <a:pt x="0" y="1778084"/>
                </a:lnTo>
                <a:lnTo>
                  <a:pt x="3761333" y="1778084"/>
                </a:lnTo>
                <a:lnTo>
                  <a:pt x="376133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" name="Google Shape;18;p3"/>
          <p:cNvSpPr/>
          <p:nvPr/>
        </p:nvSpPr>
        <p:spPr>
          <a:xfrm>
            <a:off x="37596" y="8974740"/>
            <a:ext cx="5578608" cy="1764869"/>
          </a:xfrm>
          <a:custGeom>
            <a:rect b="b" l="l" r="r" t="t"/>
            <a:pathLst>
              <a:path extrusionOk="0" h="1764869" w="5578608">
                <a:moveTo>
                  <a:pt x="0" y="0"/>
                </a:moveTo>
                <a:lnTo>
                  <a:pt x="5578609" y="0"/>
                </a:lnTo>
                <a:lnTo>
                  <a:pt x="5578609" y="1764869"/>
                </a:lnTo>
                <a:lnTo>
                  <a:pt x="0" y="176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 rot="1073513">
            <a:off x="16225263" y="8621580"/>
            <a:ext cx="517443" cy="489219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5" y="0"/>
                </a:lnTo>
                <a:lnTo>
                  <a:pt x="516975" y="488777"/>
                </a:lnTo>
                <a:lnTo>
                  <a:pt x="0" y="4887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idx="1" type="body"/>
          </p:nvPr>
        </p:nvSpPr>
        <p:spPr>
          <a:xfrm>
            <a:off x="5504500" y="43388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4025" lvl="0" marL="457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indent="-454025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–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indent="-454025" lvl="2" marL="1371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indent="-454025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–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indent="-454025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»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indent="-454025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indent="-454025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indent="-454025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indent="-454025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type="ctrTitle"/>
          </p:nvPr>
        </p:nvSpPr>
        <p:spPr>
          <a:xfrm>
            <a:off x="685800" y="1813575"/>
            <a:ext cx="16073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/>
          <p:nvPr/>
        </p:nvSpPr>
        <p:spPr>
          <a:xfrm>
            <a:off x="-1635968" y="3097517"/>
            <a:ext cx="3996618" cy="1627713"/>
          </a:xfrm>
          <a:custGeom>
            <a:rect b="b" l="l" r="r" t="t"/>
            <a:pathLst>
              <a:path extrusionOk="0" h="1627713" w="3996618">
                <a:moveTo>
                  <a:pt x="0" y="0"/>
                </a:moveTo>
                <a:lnTo>
                  <a:pt x="3996618" y="0"/>
                </a:lnTo>
                <a:lnTo>
                  <a:pt x="3996618" y="1627713"/>
                </a:lnTo>
                <a:lnTo>
                  <a:pt x="0" y="162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4" name="Google Shape;24;p4"/>
          <p:cNvSpPr/>
          <p:nvPr/>
        </p:nvSpPr>
        <p:spPr>
          <a:xfrm>
            <a:off x="15791550" y="8056909"/>
            <a:ext cx="3996618" cy="1627713"/>
          </a:xfrm>
          <a:custGeom>
            <a:rect b="b" l="l" r="r" t="t"/>
            <a:pathLst>
              <a:path extrusionOk="0" h="1627713" w="3996618">
                <a:moveTo>
                  <a:pt x="0" y="0"/>
                </a:moveTo>
                <a:lnTo>
                  <a:pt x="3996618" y="0"/>
                </a:lnTo>
                <a:lnTo>
                  <a:pt x="3996618" y="1627713"/>
                </a:lnTo>
                <a:lnTo>
                  <a:pt x="0" y="162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685800" y="1813575"/>
            <a:ext cx="16073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5504500" y="43388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4025" lvl="0" marL="4572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indent="-454025" lvl="1" marL="9144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–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indent="-454025" lvl="2" marL="13716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indent="-454025" lvl="3" marL="1828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–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indent="-454025" lvl="4" marL="22860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»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indent="-454025" lvl="5" marL="27432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indent="-454025" lvl="6" marL="32004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indent="-454025" lvl="7" marL="36576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indent="-454025" lvl="8" marL="4114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50"/>
              <a:buFont typeface="NTR"/>
              <a:buChar char="•"/>
              <a:defRPr sz="355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/>
        </p:txBody>
      </p:sp>
      <p:sp>
        <p:nvSpPr>
          <p:cNvPr id="28" name="Google Shape;28;p5"/>
          <p:cNvSpPr/>
          <p:nvPr/>
        </p:nvSpPr>
        <p:spPr>
          <a:xfrm rot="825477">
            <a:off x="17037111" y="2618989"/>
            <a:ext cx="379870" cy="458177"/>
          </a:xfrm>
          <a:custGeom>
            <a:rect b="b" l="l" r="r" t="t"/>
            <a:pathLst>
              <a:path extrusionOk="0" h="458795" w="380383">
                <a:moveTo>
                  <a:pt x="0" y="0"/>
                </a:moveTo>
                <a:lnTo>
                  <a:pt x="380383" y="0"/>
                </a:lnTo>
                <a:lnTo>
                  <a:pt x="380383" y="458794"/>
                </a:lnTo>
                <a:lnTo>
                  <a:pt x="0" y="458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" name="Google Shape;29;p5"/>
          <p:cNvSpPr/>
          <p:nvPr/>
        </p:nvSpPr>
        <p:spPr>
          <a:xfrm rot="2967651">
            <a:off x="740385" y="8092069"/>
            <a:ext cx="577734" cy="660610"/>
          </a:xfrm>
          <a:custGeom>
            <a:rect b="b" l="l" r="r" t="t"/>
            <a:pathLst>
              <a:path extrusionOk="0" h="660577" w="577705">
                <a:moveTo>
                  <a:pt x="0" y="0"/>
                </a:moveTo>
                <a:lnTo>
                  <a:pt x="577704" y="0"/>
                </a:lnTo>
                <a:lnTo>
                  <a:pt x="577704" y="660577"/>
                </a:lnTo>
                <a:lnTo>
                  <a:pt x="0" y="660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" name="Google Shape;30;p5"/>
          <p:cNvSpPr/>
          <p:nvPr/>
        </p:nvSpPr>
        <p:spPr>
          <a:xfrm>
            <a:off x="13136502" y="-936542"/>
            <a:ext cx="6179516" cy="2131933"/>
          </a:xfrm>
          <a:custGeom>
            <a:rect b="b" l="l" r="r" t="t"/>
            <a:pathLst>
              <a:path extrusionOk="0" h="2131933" w="6179516">
                <a:moveTo>
                  <a:pt x="0" y="0"/>
                </a:moveTo>
                <a:lnTo>
                  <a:pt x="6179515" y="0"/>
                </a:lnTo>
                <a:lnTo>
                  <a:pt x="6179515" y="2131933"/>
                </a:lnTo>
                <a:lnTo>
                  <a:pt x="0" y="2131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1" name="Google Shape;31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828425" y="7792725"/>
            <a:ext cx="5866775" cy="29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588200" y="4384125"/>
            <a:ext cx="5849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1pPr>
            <a:lvl2pPr indent="-45085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2pPr>
            <a:lvl3pPr indent="-450850" lvl="2" marL="1371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3pPr>
            <a:lvl4pPr indent="-45085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4pPr>
            <a:lvl5pPr indent="-450850" lvl="4" marL="22860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»"/>
              <a:defRPr>
                <a:solidFill>
                  <a:schemeClr val="lt1"/>
                </a:solidFill>
              </a:defRPr>
            </a:lvl5pPr>
            <a:lvl6pPr indent="-450850" lvl="5" marL="27432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6pPr>
            <a:lvl7pPr indent="-450850" lvl="6" marL="3200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7pPr>
            <a:lvl8pPr indent="-450850" lvl="7" marL="3657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8pPr>
            <a:lvl9pPr indent="-450850" lvl="8" marL="4114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" name="Google Shape;34;p6"/>
          <p:cNvSpPr txBox="1"/>
          <p:nvPr>
            <p:ph type="ctrTitle"/>
          </p:nvPr>
        </p:nvSpPr>
        <p:spPr>
          <a:xfrm>
            <a:off x="685800" y="1813575"/>
            <a:ext cx="16073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9600050" y="4384125"/>
            <a:ext cx="5849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1pPr>
            <a:lvl2pPr indent="-450850" lvl="1" marL="9144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2pPr>
            <a:lvl3pPr indent="-450850" lvl="2" marL="13716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3pPr>
            <a:lvl4pPr indent="-450850" lvl="3" marL="1828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4pPr>
            <a:lvl5pPr indent="-450850" lvl="4" marL="22860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»"/>
              <a:defRPr>
                <a:solidFill>
                  <a:schemeClr val="lt1"/>
                </a:solidFill>
              </a:defRPr>
            </a:lvl5pPr>
            <a:lvl6pPr indent="-450850" lvl="5" marL="27432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6pPr>
            <a:lvl7pPr indent="-450850" lvl="6" marL="32004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7pPr>
            <a:lvl8pPr indent="-450850" lvl="7" marL="36576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8pPr>
            <a:lvl9pPr indent="-450850" lvl="8" marL="4114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6"/>
          <p:cNvSpPr/>
          <p:nvPr/>
        </p:nvSpPr>
        <p:spPr>
          <a:xfrm>
            <a:off x="14850963" y="7265385"/>
            <a:ext cx="7315200" cy="2560320"/>
          </a:xfrm>
          <a:custGeom>
            <a:rect b="b" l="l" r="r" t="t"/>
            <a:pathLst>
              <a:path extrusionOk="0" h="2560320" w="7315200">
                <a:moveTo>
                  <a:pt x="0" y="0"/>
                </a:moveTo>
                <a:lnTo>
                  <a:pt x="7315200" y="0"/>
                </a:lnTo>
                <a:lnTo>
                  <a:pt x="7315200" y="2560320"/>
                </a:lnTo>
                <a:lnTo>
                  <a:pt x="0" y="2560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" name="Google Shape;37;p6"/>
          <p:cNvSpPr/>
          <p:nvPr/>
        </p:nvSpPr>
        <p:spPr>
          <a:xfrm rot="8100000">
            <a:off x="-2783258" y="-163133"/>
            <a:ext cx="7319268" cy="1500450"/>
          </a:xfrm>
          <a:custGeom>
            <a:rect b="b" l="l" r="r" t="t"/>
            <a:pathLst>
              <a:path extrusionOk="0" h="1499616" w="7315200">
                <a:moveTo>
                  <a:pt x="0" y="0"/>
                </a:moveTo>
                <a:lnTo>
                  <a:pt x="7315200" y="0"/>
                </a:lnTo>
                <a:lnTo>
                  <a:pt x="7315200" y="1499616"/>
                </a:lnTo>
                <a:lnTo>
                  <a:pt x="0" y="1499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" name="Google Shape;38;p6"/>
          <p:cNvSpPr/>
          <p:nvPr/>
        </p:nvSpPr>
        <p:spPr>
          <a:xfrm rot="825477">
            <a:off x="16279001" y="1132379"/>
            <a:ext cx="520887" cy="628262"/>
          </a:xfrm>
          <a:custGeom>
            <a:rect b="b" l="l" r="r" t="t"/>
            <a:pathLst>
              <a:path extrusionOk="0" h="629110" w="521590">
                <a:moveTo>
                  <a:pt x="0" y="0"/>
                </a:moveTo>
                <a:lnTo>
                  <a:pt x="521590" y="0"/>
                </a:lnTo>
                <a:lnTo>
                  <a:pt x="521590" y="629111"/>
                </a:lnTo>
                <a:lnTo>
                  <a:pt x="0" y="629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" name="Google Shape;39;p6"/>
          <p:cNvSpPr/>
          <p:nvPr/>
        </p:nvSpPr>
        <p:spPr>
          <a:xfrm rot="-956724">
            <a:off x="1453827" y="8242110"/>
            <a:ext cx="530753" cy="606890"/>
          </a:xfrm>
          <a:custGeom>
            <a:rect b="b" l="l" r="r" t="t"/>
            <a:pathLst>
              <a:path extrusionOk="0" h="606275" w="530215">
                <a:moveTo>
                  <a:pt x="0" y="0"/>
                </a:moveTo>
                <a:lnTo>
                  <a:pt x="530215" y="0"/>
                </a:lnTo>
                <a:lnTo>
                  <a:pt x="530215" y="606276"/>
                </a:lnTo>
                <a:lnTo>
                  <a:pt x="0" y="606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588200" y="4384125"/>
            <a:ext cx="5849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1pPr>
            <a:lvl2pPr indent="-450850" lvl="1" marL="9144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2pPr>
            <a:lvl3pPr indent="-450850" lvl="2" marL="13716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3pPr>
            <a:lvl4pPr indent="-450850" lvl="3" marL="1828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4pPr>
            <a:lvl5pPr indent="-450850" lvl="4" marL="22860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»"/>
              <a:defRPr>
                <a:solidFill>
                  <a:schemeClr val="lt1"/>
                </a:solidFill>
              </a:defRPr>
            </a:lvl5pPr>
            <a:lvl6pPr indent="-450850" lvl="5" marL="27432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6pPr>
            <a:lvl7pPr indent="-450850" lvl="6" marL="32004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7pPr>
            <a:lvl8pPr indent="-450850" lvl="7" marL="36576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8pPr>
            <a:lvl9pPr indent="-450850" lvl="8" marL="4114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7"/>
          <p:cNvSpPr txBox="1"/>
          <p:nvPr>
            <p:ph idx="2" type="body"/>
          </p:nvPr>
        </p:nvSpPr>
        <p:spPr>
          <a:xfrm>
            <a:off x="9600050" y="4384125"/>
            <a:ext cx="58491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1pPr>
            <a:lvl2pPr indent="-450850" lvl="1" marL="91440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2pPr>
            <a:lvl3pPr indent="-450850" lvl="2" marL="137160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3pPr>
            <a:lvl4pPr indent="-450850" lvl="3" marL="1828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–"/>
              <a:defRPr>
                <a:solidFill>
                  <a:schemeClr val="lt1"/>
                </a:solidFill>
              </a:defRPr>
            </a:lvl4pPr>
            <a:lvl5pPr indent="-450850" lvl="4" marL="22860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»"/>
              <a:defRPr>
                <a:solidFill>
                  <a:schemeClr val="lt1"/>
                </a:solidFill>
              </a:defRPr>
            </a:lvl5pPr>
            <a:lvl6pPr indent="-450850" lvl="5" marL="27432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6pPr>
            <a:lvl7pPr indent="-450850" lvl="6" marL="32004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7pPr>
            <a:lvl8pPr indent="-450850" lvl="7" marL="36576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8pPr>
            <a:lvl9pPr indent="-450850" lvl="8" marL="4114800" rtl="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3500"/>
              <a:buChar char="•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7"/>
          <p:cNvSpPr txBox="1"/>
          <p:nvPr>
            <p:ph type="ctrTitle"/>
          </p:nvPr>
        </p:nvSpPr>
        <p:spPr>
          <a:xfrm>
            <a:off x="685800" y="1813575"/>
            <a:ext cx="16073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49149" y="7357825"/>
            <a:ext cx="6073502" cy="2871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" name="Google Shape;45;p7"/>
          <p:cNvCxnSpPr/>
          <p:nvPr/>
        </p:nvCxnSpPr>
        <p:spPr>
          <a:xfrm>
            <a:off x="508125" y="9480451"/>
            <a:ext cx="3824700" cy="0"/>
          </a:xfrm>
          <a:prstGeom prst="straightConnector1">
            <a:avLst/>
          </a:prstGeom>
          <a:noFill/>
          <a:ln cap="flat" cmpd="sng" w="95250">
            <a:solidFill>
              <a:srgbClr val="F9D02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6" name="Google Shape;46;p7"/>
          <p:cNvCxnSpPr/>
          <p:nvPr/>
        </p:nvCxnSpPr>
        <p:spPr>
          <a:xfrm rot="10800000">
            <a:off x="539016" y="6187051"/>
            <a:ext cx="0" cy="3293400"/>
          </a:xfrm>
          <a:prstGeom prst="straightConnector1">
            <a:avLst/>
          </a:prstGeom>
          <a:noFill/>
          <a:ln cap="flat" cmpd="sng" w="95250">
            <a:solidFill>
              <a:srgbClr val="F9D02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7" name="Google Shape;47;p7"/>
          <p:cNvSpPr/>
          <p:nvPr/>
        </p:nvSpPr>
        <p:spPr>
          <a:xfrm>
            <a:off x="-2100319" y="6736090"/>
            <a:ext cx="5396459" cy="4114800"/>
          </a:xfrm>
          <a:custGeom>
            <a:rect b="b" l="l" r="r" t="t"/>
            <a:pathLst>
              <a:path extrusionOk="0" h="4114800" w="5396459">
                <a:moveTo>
                  <a:pt x="0" y="0"/>
                </a:moveTo>
                <a:lnTo>
                  <a:pt x="5396459" y="0"/>
                </a:lnTo>
                <a:lnTo>
                  <a:pt x="53964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" name="Google Shape;48;p7"/>
          <p:cNvSpPr/>
          <p:nvPr/>
        </p:nvSpPr>
        <p:spPr>
          <a:xfrm rot="744277">
            <a:off x="14174295" y="-201812"/>
            <a:ext cx="4694882" cy="1619734"/>
          </a:xfrm>
          <a:custGeom>
            <a:rect b="b" l="l" r="r" t="t"/>
            <a:pathLst>
              <a:path extrusionOk="0" h="1618334" w="4690823">
                <a:moveTo>
                  <a:pt x="0" y="0"/>
                </a:moveTo>
                <a:lnTo>
                  <a:pt x="4690824" y="0"/>
                </a:lnTo>
                <a:lnTo>
                  <a:pt x="4690824" y="1618334"/>
                </a:lnTo>
                <a:lnTo>
                  <a:pt x="0" y="1618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" name="Google Shape;49;p7"/>
          <p:cNvSpPr/>
          <p:nvPr/>
        </p:nvSpPr>
        <p:spPr>
          <a:xfrm rot="-461132">
            <a:off x="682253" y="305297"/>
            <a:ext cx="542292" cy="987618"/>
          </a:xfrm>
          <a:custGeom>
            <a:rect b="b" l="l" r="r" t="t"/>
            <a:pathLst>
              <a:path extrusionOk="0" h="1354666" w="743835">
                <a:moveTo>
                  <a:pt x="0" y="0"/>
                </a:moveTo>
                <a:lnTo>
                  <a:pt x="743835" y="0"/>
                </a:lnTo>
                <a:lnTo>
                  <a:pt x="743835" y="1354666"/>
                </a:lnTo>
                <a:lnTo>
                  <a:pt x="0" y="1354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685800" y="1813575"/>
            <a:ext cx="16073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/>
          <p:nvPr/>
        </p:nvSpPr>
        <p:spPr>
          <a:xfrm rot="-6747945">
            <a:off x="15115687" y="202131"/>
            <a:ext cx="4362087" cy="1648765"/>
          </a:xfrm>
          <a:custGeom>
            <a:rect b="b" l="l" r="r" t="t"/>
            <a:pathLst>
              <a:path extrusionOk="0" h="1647175" w="4357881">
                <a:moveTo>
                  <a:pt x="0" y="0"/>
                </a:moveTo>
                <a:lnTo>
                  <a:pt x="4357881" y="0"/>
                </a:lnTo>
                <a:lnTo>
                  <a:pt x="4357881" y="1647176"/>
                </a:lnTo>
                <a:lnTo>
                  <a:pt x="0" y="1647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" name="Google Shape;53;p8"/>
          <p:cNvSpPr/>
          <p:nvPr/>
        </p:nvSpPr>
        <p:spPr>
          <a:xfrm>
            <a:off x="16030388" y="-2375495"/>
            <a:ext cx="5396459" cy="4114800"/>
          </a:xfrm>
          <a:custGeom>
            <a:rect b="b" l="l" r="r" t="t"/>
            <a:pathLst>
              <a:path extrusionOk="0" h="4114800" w="5396459">
                <a:moveTo>
                  <a:pt x="0" y="0"/>
                </a:moveTo>
                <a:lnTo>
                  <a:pt x="5396459" y="0"/>
                </a:lnTo>
                <a:lnTo>
                  <a:pt x="53964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4" name="Google Shape;54;p8"/>
          <p:cNvSpPr/>
          <p:nvPr/>
        </p:nvSpPr>
        <p:spPr>
          <a:xfrm rot="1073513">
            <a:off x="16719138" y="9014006"/>
            <a:ext cx="517443" cy="489219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5" y="0"/>
                </a:lnTo>
                <a:lnTo>
                  <a:pt x="516975" y="488776"/>
                </a:lnTo>
                <a:lnTo>
                  <a:pt x="0" y="488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5" name="Google Shape;55;p8"/>
          <p:cNvSpPr/>
          <p:nvPr/>
        </p:nvSpPr>
        <p:spPr>
          <a:xfrm>
            <a:off x="-1052737" y="-821544"/>
            <a:ext cx="7315200" cy="2560320"/>
          </a:xfrm>
          <a:custGeom>
            <a:rect b="b" l="l" r="r" t="t"/>
            <a:pathLst>
              <a:path extrusionOk="0" h="2560320" w="7315200">
                <a:moveTo>
                  <a:pt x="0" y="0"/>
                </a:moveTo>
                <a:lnTo>
                  <a:pt x="7315200" y="0"/>
                </a:lnTo>
                <a:lnTo>
                  <a:pt x="7315200" y="2560320"/>
                </a:lnTo>
                <a:lnTo>
                  <a:pt x="0" y="2560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56" name="Google Shape;56;p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00800" y="6864725"/>
            <a:ext cx="5866775" cy="29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>
            <p:ph idx="2" type="pic"/>
          </p:nvPr>
        </p:nvSpPr>
        <p:spPr>
          <a:xfrm>
            <a:off x="8410383" y="1454150"/>
            <a:ext cx="9053400" cy="679020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9"/>
          <p:cNvSpPr txBox="1"/>
          <p:nvPr>
            <p:ph type="ctrTitle"/>
          </p:nvPr>
        </p:nvSpPr>
        <p:spPr>
          <a:xfrm>
            <a:off x="685800" y="2786825"/>
            <a:ext cx="93510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-70800" y="9256500"/>
            <a:ext cx="18429600" cy="10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1" name="Google Shape;61;p9"/>
          <p:cNvSpPr/>
          <p:nvPr/>
        </p:nvSpPr>
        <p:spPr>
          <a:xfrm flipH="1" rot="-7600168">
            <a:off x="7866928" y="8029532"/>
            <a:ext cx="1777874" cy="840450"/>
          </a:xfrm>
          <a:custGeom>
            <a:rect b="b" l="l" r="r" t="t"/>
            <a:pathLst>
              <a:path extrusionOk="0" h="840025" w="1776975">
                <a:moveTo>
                  <a:pt x="1776975" y="0"/>
                </a:moveTo>
                <a:lnTo>
                  <a:pt x="0" y="0"/>
                </a:lnTo>
                <a:lnTo>
                  <a:pt x="0" y="840025"/>
                </a:lnTo>
                <a:lnTo>
                  <a:pt x="1776975" y="840025"/>
                </a:lnTo>
                <a:lnTo>
                  <a:pt x="1776975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2" name="Google Shape;62;p9"/>
          <p:cNvSpPr/>
          <p:nvPr/>
        </p:nvSpPr>
        <p:spPr>
          <a:xfrm rot="825477">
            <a:off x="17308711" y="2732164"/>
            <a:ext cx="379870" cy="458177"/>
          </a:xfrm>
          <a:custGeom>
            <a:rect b="b" l="l" r="r" t="t"/>
            <a:pathLst>
              <a:path extrusionOk="0" h="458795" w="380383">
                <a:moveTo>
                  <a:pt x="0" y="0"/>
                </a:moveTo>
                <a:lnTo>
                  <a:pt x="380383" y="0"/>
                </a:lnTo>
                <a:lnTo>
                  <a:pt x="380383" y="458794"/>
                </a:lnTo>
                <a:lnTo>
                  <a:pt x="0" y="458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3" name="Google Shape;63;p9"/>
          <p:cNvSpPr/>
          <p:nvPr/>
        </p:nvSpPr>
        <p:spPr>
          <a:xfrm rot="2967651">
            <a:off x="13198018" y="9074256"/>
            <a:ext cx="577734" cy="660610"/>
          </a:xfrm>
          <a:custGeom>
            <a:rect b="b" l="l" r="r" t="t"/>
            <a:pathLst>
              <a:path extrusionOk="0" h="660577" w="577705">
                <a:moveTo>
                  <a:pt x="0" y="0"/>
                </a:moveTo>
                <a:lnTo>
                  <a:pt x="577705" y="0"/>
                </a:lnTo>
                <a:lnTo>
                  <a:pt x="577705" y="660577"/>
                </a:lnTo>
                <a:lnTo>
                  <a:pt x="0" y="660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" name="Google Shape;64;p9"/>
          <p:cNvSpPr/>
          <p:nvPr/>
        </p:nvSpPr>
        <p:spPr>
          <a:xfrm>
            <a:off x="12638577" y="-732842"/>
            <a:ext cx="6179516" cy="2131933"/>
          </a:xfrm>
          <a:custGeom>
            <a:rect b="b" l="l" r="r" t="t"/>
            <a:pathLst>
              <a:path extrusionOk="0" h="2131933" w="6179516">
                <a:moveTo>
                  <a:pt x="0" y="0"/>
                </a:moveTo>
                <a:lnTo>
                  <a:pt x="6179515" y="0"/>
                </a:lnTo>
                <a:lnTo>
                  <a:pt x="6179515" y="2131933"/>
                </a:lnTo>
                <a:lnTo>
                  <a:pt x="0" y="2131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" name="Google Shape;65;p9"/>
          <p:cNvSpPr/>
          <p:nvPr/>
        </p:nvSpPr>
        <p:spPr>
          <a:xfrm rot="-2766921">
            <a:off x="374659" y="337852"/>
            <a:ext cx="550557" cy="617973"/>
          </a:xfrm>
          <a:custGeom>
            <a:rect b="b" l="l" r="r" t="t"/>
            <a:pathLst>
              <a:path extrusionOk="0" h="618605" w="551120">
                <a:moveTo>
                  <a:pt x="0" y="0"/>
                </a:moveTo>
                <a:lnTo>
                  <a:pt x="551120" y="0"/>
                </a:lnTo>
                <a:lnTo>
                  <a:pt x="551120" y="618605"/>
                </a:lnTo>
                <a:lnTo>
                  <a:pt x="0" y="6186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 amt="20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901625" y="1542150"/>
            <a:ext cx="132237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9950"/>
              <a:buFont typeface="Changa"/>
              <a:buNone/>
              <a:defRPr b="1" i="0" sz="9950" u="none" cap="none" strike="noStrike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5504500" y="43388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085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•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1pPr>
            <a:lvl2pPr indent="-45085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–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2pPr>
            <a:lvl3pPr indent="-45085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•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3pPr>
            <a:lvl4pPr indent="-4508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–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4pPr>
            <a:lvl5pPr indent="-450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»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5pPr>
            <a:lvl6pPr indent="-45085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•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6pPr>
            <a:lvl7pPr indent="-45085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•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7pPr>
            <a:lvl8pPr indent="-45085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•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8pPr>
            <a:lvl9pPr indent="-45085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NTR"/>
              <a:buChar char="•"/>
              <a:defRPr i="0" sz="3500" u="none" cap="none" strike="noStrike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11" Type="http://schemas.openxmlformats.org/officeDocument/2006/relationships/image" Target="../media/image30.png"/><Relationship Id="rId10" Type="http://schemas.openxmlformats.org/officeDocument/2006/relationships/image" Target="../media/image28.png"/><Relationship Id="rId9" Type="http://schemas.openxmlformats.org/officeDocument/2006/relationships/image" Target="../media/image6.png"/><Relationship Id="rId5" Type="http://schemas.openxmlformats.org/officeDocument/2006/relationships/image" Target="../media/image26.png"/><Relationship Id="rId6" Type="http://schemas.openxmlformats.org/officeDocument/2006/relationships/image" Target="../media/image35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1.png"/><Relationship Id="rId9" Type="http://schemas.openxmlformats.org/officeDocument/2006/relationships/image" Target="../media/image38.png"/><Relationship Id="rId5" Type="http://schemas.openxmlformats.org/officeDocument/2006/relationships/image" Target="../media/image32.png"/><Relationship Id="rId6" Type="http://schemas.openxmlformats.org/officeDocument/2006/relationships/image" Target="../media/image25.png"/><Relationship Id="rId7" Type="http://schemas.openxmlformats.org/officeDocument/2006/relationships/image" Target="../media/image17.png"/><Relationship Id="rId8" Type="http://schemas.openxmlformats.org/officeDocument/2006/relationships/image" Target="../media/image3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aspiroo/Face-Recognition-System/blob/main/support/att/checking_img.py" TargetMode="External"/><Relationship Id="rId4" Type="http://schemas.openxmlformats.org/officeDocument/2006/relationships/image" Target="../media/image44.png"/><Relationship Id="rId5" Type="http://schemas.openxmlformats.org/officeDocument/2006/relationships/image" Target="../media/image3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5.png"/><Relationship Id="rId4" Type="http://schemas.openxmlformats.org/officeDocument/2006/relationships/image" Target="../media/image48.png"/><Relationship Id="rId10" Type="http://schemas.openxmlformats.org/officeDocument/2006/relationships/hyperlink" Target="https://github.com/aspiroo/Face-Recognition-System/blob/main/support/lfw/preprocessing.py" TargetMode="External"/><Relationship Id="rId9" Type="http://schemas.openxmlformats.org/officeDocument/2006/relationships/hyperlink" Target="https://github.com/aspiroo/Face-Recognition-System/blob/main/support/lfw/preprocessing.py" TargetMode="External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hyperlink" Target="https://github.com/aspiroo/Face-Recognition-System/blob/main/support/att/preprocessing_att.py" TargetMode="External"/><Relationship Id="rId8" Type="http://schemas.openxmlformats.org/officeDocument/2006/relationships/hyperlink" Target="https://github.com/aspiroo/Face-Recognition-System/blob/main/support/att/preprocessing_att.py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7.png"/><Relationship Id="rId4" Type="http://schemas.openxmlformats.org/officeDocument/2006/relationships/image" Target="../media/image54.png"/><Relationship Id="rId5" Type="http://schemas.openxmlformats.org/officeDocument/2006/relationships/image" Target="../media/image5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8.png"/><Relationship Id="rId4" Type="http://schemas.openxmlformats.org/officeDocument/2006/relationships/image" Target="../media/image41.png"/><Relationship Id="rId5" Type="http://schemas.openxmlformats.org/officeDocument/2006/relationships/hyperlink" Target="https://github.com/aspiroo/Face-Recognition-System/blob/main/support/lfw/model_svm.py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2.png"/><Relationship Id="rId4" Type="http://schemas.openxmlformats.org/officeDocument/2006/relationships/image" Target="../media/image56.png"/><Relationship Id="rId5" Type="http://schemas.openxmlformats.org/officeDocument/2006/relationships/image" Target="../media/image72.png"/><Relationship Id="rId6" Type="http://schemas.openxmlformats.org/officeDocument/2006/relationships/image" Target="../media/image6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9.png"/><Relationship Id="rId4" Type="http://schemas.openxmlformats.org/officeDocument/2006/relationships/image" Target="../media/image69.png"/><Relationship Id="rId5" Type="http://schemas.openxmlformats.org/officeDocument/2006/relationships/hyperlink" Target="https://github.com/aspiroo/Face-Recognition-System/blob/main/support/att/model_rf_att.py" TargetMode="External"/><Relationship Id="rId6" Type="http://schemas.openxmlformats.org/officeDocument/2006/relationships/hyperlink" Target="https://github.com/aspiroo/Face-Recognition-System/blob/main/support/lfw/model_rf.py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9.png"/><Relationship Id="rId4" Type="http://schemas.openxmlformats.org/officeDocument/2006/relationships/image" Target="../media/image74.png"/><Relationship Id="rId5" Type="http://schemas.openxmlformats.org/officeDocument/2006/relationships/image" Target="../media/image111.png"/><Relationship Id="rId6" Type="http://schemas.openxmlformats.org/officeDocument/2006/relationships/image" Target="../media/image1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0.png"/><Relationship Id="rId4" Type="http://schemas.openxmlformats.org/officeDocument/2006/relationships/image" Target="../media/image6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8.png"/><Relationship Id="rId4" Type="http://schemas.openxmlformats.org/officeDocument/2006/relationships/image" Target="../media/image10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6.png"/><Relationship Id="rId4" Type="http://schemas.openxmlformats.org/officeDocument/2006/relationships/image" Target="../media/image13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1.png"/><Relationship Id="rId4" Type="http://schemas.openxmlformats.org/officeDocument/2006/relationships/hyperlink" Target="http://support/att/model_svm_att.py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7.png"/><Relationship Id="rId4" Type="http://schemas.openxmlformats.org/officeDocument/2006/relationships/image" Target="../media/image13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6.png"/><Relationship Id="rId4" Type="http://schemas.openxmlformats.org/officeDocument/2006/relationships/image" Target="../media/image8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79.png"/><Relationship Id="rId4" Type="http://schemas.openxmlformats.org/officeDocument/2006/relationships/image" Target="../media/image130.png"/><Relationship Id="rId5" Type="http://schemas.openxmlformats.org/officeDocument/2006/relationships/image" Target="../media/image13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1.png"/><Relationship Id="rId4" Type="http://schemas.openxmlformats.org/officeDocument/2006/relationships/image" Target="../media/image133.png"/><Relationship Id="rId5" Type="http://schemas.openxmlformats.org/officeDocument/2006/relationships/image" Target="../media/image8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27.png"/><Relationship Id="rId7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Relationship Id="rId4" Type="http://schemas.openxmlformats.org/officeDocument/2006/relationships/image" Target="../media/image26.png"/><Relationship Id="rId5" Type="http://schemas.openxmlformats.org/officeDocument/2006/relationships/image" Target="../media/image1.png"/><Relationship Id="rId6" Type="http://schemas.openxmlformats.org/officeDocument/2006/relationships/image" Target="../media/image19.png"/><Relationship Id="rId7" Type="http://schemas.openxmlformats.org/officeDocument/2006/relationships/image" Target="../media/image1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Relationship Id="rId4" Type="http://schemas.openxmlformats.org/officeDocument/2006/relationships/image" Target="../media/image73.png"/><Relationship Id="rId11" Type="http://schemas.openxmlformats.org/officeDocument/2006/relationships/image" Target="../media/image45.png"/><Relationship Id="rId10" Type="http://schemas.openxmlformats.org/officeDocument/2006/relationships/image" Target="../media/image16.png"/><Relationship Id="rId9" Type="http://schemas.openxmlformats.org/officeDocument/2006/relationships/image" Target="../media/image27.png"/><Relationship Id="rId5" Type="http://schemas.openxmlformats.org/officeDocument/2006/relationships/image" Target="../media/image75.png"/><Relationship Id="rId6" Type="http://schemas.openxmlformats.org/officeDocument/2006/relationships/image" Target="../media/image77.png"/><Relationship Id="rId7" Type="http://schemas.openxmlformats.org/officeDocument/2006/relationships/image" Target="../media/image89.png"/><Relationship Id="rId8" Type="http://schemas.openxmlformats.org/officeDocument/2006/relationships/image" Target="../media/image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84.png"/><Relationship Id="rId9" Type="http://schemas.openxmlformats.org/officeDocument/2006/relationships/image" Target="../media/image80.png"/><Relationship Id="rId5" Type="http://schemas.openxmlformats.org/officeDocument/2006/relationships/image" Target="../media/image30.png"/><Relationship Id="rId6" Type="http://schemas.openxmlformats.org/officeDocument/2006/relationships/image" Target="../media/image14.png"/><Relationship Id="rId7" Type="http://schemas.openxmlformats.org/officeDocument/2006/relationships/image" Target="../media/image83.png"/><Relationship Id="rId8" Type="http://schemas.openxmlformats.org/officeDocument/2006/relationships/image" Target="../media/image8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97.png"/><Relationship Id="rId6" Type="http://schemas.openxmlformats.org/officeDocument/2006/relationships/image" Target="../media/image9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91.png"/><Relationship Id="rId5" Type="http://schemas.openxmlformats.org/officeDocument/2006/relationships/image" Target="../media/image19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Relationship Id="rId4" Type="http://schemas.openxmlformats.org/officeDocument/2006/relationships/image" Target="../media/image91.png"/><Relationship Id="rId5" Type="http://schemas.openxmlformats.org/officeDocument/2006/relationships/image" Target="../media/image19.png"/><Relationship Id="rId6" Type="http://schemas.openxmlformats.org/officeDocument/2006/relationships/image" Target="../media/image28.png"/><Relationship Id="rId7" Type="http://schemas.openxmlformats.org/officeDocument/2006/relationships/image" Target="../media/image27.png"/><Relationship Id="rId8" Type="http://schemas.openxmlformats.org/officeDocument/2006/relationships/image" Target="../media/image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30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Relationship Id="rId4" Type="http://schemas.openxmlformats.org/officeDocument/2006/relationships/image" Target="../media/image90.png"/><Relationship Id="rId5" Type="http://schemas.openxmlformats.org/officeDocument/2006/relationships/image" Target="../media/image92.png"/><Relationship Id="rId6" Type="http://schemas.openxmlformats.org/officeDocument/2006/relationships/image" Target="../media/image3.png"/><Relationship Id="rId7" Type="http://schemas.openxmlformats.org/officeDocument/2006/relationships/image" Target="../media/image27.png"/><Relationship Id="rId8" Type="http://schemas.openxmlformats.org/officeDocument/2006/relationships/image" Target="../media/image9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11" Type="http://schemas.openxmlformats.org/officeDocument/2006/relationships/image" Target="../media/image45.png"/><Relationship Id="rId10" Type="http://schemas.openxmlformats.org/officeDocument/2006/relationships/image" Target="../media/image47.png"/><Relationship Id="rId9" Type="http://schemas.openxmlformats.org/officeDocument/2006/relationships/image" Target="../media/image14.png"/><Relationship Id="rId5" Type="http://schemas.openxmlformats.org/officeDocument/2006/relationships/image" Target="../media/image9.png"/><Relationship Id="rId6" Type="http://schemas.openxmlformats.org/officeDocument/2006/relationships/image" Target="../media/image15.png"/><Relationship Id="rId7" Type="http://schemas.openxmlformats.org/officeDocument/2006/relationships/image" Target="../media/image17.png"/><Relationship Id="rId8" Type="http://schemas.openxmlformats.org/officeDocument/2006/relationships/image" Target="../media/image9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Relationship Id="rId4" Type="http://schemas.openxmlformats.org/officeDocument/2006/relationships/image" Target="../media/image100.png"/><Relationship Id="rId9" Type="http://schemas.openxmlformats.org/officeDocument/2006/relationships/image" Target="../media/image84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27.png"/><Relationship Id="rId8" Type="http://schemas.openxmlformats.org/officeDocument/2006/relationships/image" Target="../media/image36.png"/></Relationships>
</file>

<file path=ppt/slides/_rels/slide46.xml.rels><?xml version="1.0" encoding="UTF-8" standalone="yes"?><Relationships xmlns="http://schemas.openxmlformats.org/package/2006/relationships"><Relationship Id="rId11" Type="http://schemas.openxmlformats.org/officeDocument/2006/relationships/image" Target="../media/image32.png"/><Relationship Id="rId10" Type="http://schemas.openxmlformats.org/officeDocument/2006/relationships/image" Target="../media/image31.png"/><Relationship Id="rId13" Type="http://schemas.openxmlformats.org/officeDocument/2006/relationships/image" Target="../media/image17.png"/><Relationship Id="rId1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Relationship Id="rId4" Type="http://schemas.openxmlformats.org/officeDocument/2006/relationships/image" Target="../media/image107.png"/><Relationship Id="rId9" Type="http://schemas.openxmlformats.org/officeDocument/2006/relationships/image" Target="../media/image110.png"/><Relationship Id="rId14" Type="http://schemas.openxmlformats.org/officeDocument/2006/relationships/image" Target="../media/image30.png"/><Relationship Id="rId5" Type="http://schemas.openxmlformats.org/officeDocument/2006/relationships/image" Target="../media/image112.png"/><Relationship Id="rId6" Type="http://schemas.openxmlformats.org/officeDocument/2006/relationships/image" Target="../media/image101.png"/><Relationship Id="rId7" Type="http://schemas.openxmlformats.org/officeDocument/2006/relationships/image" Target="../media/image104.png"/><Relationship Id="rId8" Type="http://schemas.openxmlformats.org/officeDocument/2006/relationships/image" Target="../media/image10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Relationship Id="rId4" Type="http://schemas.openxmlformats.org/officeDocument/2006/relationships/image" Target="../media/image39.png"/><Relationship Id="rId9" Type="http://schemas.openxmlformats.org/officeDocument/2006/relationships/image" Target="../media/image22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6.png"/><Relationship Id="rId8" Type="http://schemas.openxmlformats.org/officeDocument/2006/relationships/image" Target="../media/image16.png"/></Relationships>
</file>

<file path=ppt/slides/_rels/slide4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9.png"/><Relationship Id="rId10" Type="http://schemas.openxmlformats.org/officeDocument/2006/relationships/image" Target="../media/image114.png"/><Relationship Id="rId13" Type="http://schemas.openxmlformats.org/officeDocument/2006/relationships/image" Target="../media/image120.png"/><Relationship Id="rId12" Type="http://schemas.openxmlformats.org/officeDocument/2006/relationships/image" Target="../media/image1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Relationship Id="rId4" Type="http://schemas.openxmlformats.org/officeDocument/2006/relationships/image" Target="../media/image36.png"/><Relationship Id="rId9" Type="http://schemas.openxmlformats.org/officeDocument/2006/relationships/image" Target="../media/image126.png"/><Relationship Id="rId5" Type="http://schemas.openxmlformats.org/officeDocument/2006/relationships/image" Target="../media/image109.png"/><Relationship Id="rId6" Type="http://schemas.openxmlformats.org/officeDocument/2006/relationships/image" Target="../media/image117.png"/><Relationship Id="rId7" Type="http://schemas.openxmlformats.org/officeDocument/2006/relationships/image" Target="../media/image129.png"/><Relationship Id="rId8" Type="http://schemas.openxmlformats.org/officeDocument/2006/relationships/image" Target="../media/image115.png"/></Relationships>
</file>

<file path=ppt/slides/_rels/slide49.xml.rels><?xml version="1.0" encoding="UTF-8" standalone="yes"?><Relationships xmlns="http://schemas.openxmlformats.org/package/2006/relationships"><Relationship Id="rId10" Type="http://schemas.openxmlformats.org/officeDocument/2006/relationships/image" Target="../media/image12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.png"/><Relationship Id="rId4" Type="http://schemas.openxmlformats.org/officeDocument/2006/relationships/image" Target="../media/image90.png"/><Relationship Id="rId9" Type="http://schemas.openxmlformats.org/officeDocument/2006/relationships/image" Target="../media/image124.png"/><Relationship Id="rId5" Type="http://schemas.openxmlformats.org/officeDocument/2006/relationships/image" Target="../media/image92.png"/><Relationship Id="rId6" Type="http://schemas.openxmlformats.org/officeDocument/2006/relationships/image" Target="../media/image3.png"/><Relationship Id="rId7" Type="http://schemas.openxmlformats.org/officeDocument/2006/relationships/image" Target="../media/image20.png"/><Relationship Id="rId8" Type="http://schemas.openxmlformats.org/officeDocument/2006/relationships/image" Target="../media/image3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23.png"/><Relationship Id="rId4" Type="http://schemas.openxmlformats.org/officeDocument/2006/relationships/image" Target="../media/image12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2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5A80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/>
          <p:nvPr/>
        </p:nvSpPr>
        <p:spPr>
          <a:xfrm>
            <a:off x="-179625" y="471275"/>
            <a:ext cx="18250404" cy="10265852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1" name="Google Shape;71;p10"/>
          <p:cNvSpPr txBox="1"/>
          <p:nvPr/>
        </p:nvSpPr>
        <p:spPr>
          <a:xfrm>
            <a:off x="1576675" y="2394350"/>
            <a:ext cx="14737800" cy="45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Face Recognition</a:t>
            </a:r>
            <a:endParaRPr b="1" sz="10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32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 </a:t>
            </a:r>
            <a:endParaRPr sz="10000"/>
          </a:p>
        </p:txBody>
      </p:sp>
      <p:sp>
        <p:nvSpPr>
          <p:cNvPr id="72" name="Google Shape;72;p10"/>
          <p:cNvSpPr txBox="1"/>
          <p:nvPr/>
        </p:nvSpPr>
        <p:spPr>
          <a:xfrm>
            <a:off x="5346489" y="6709151"/>
            <a:ext cx="792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2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0"/>
          <p:cNvSpPr/>
          <p:nvPr/>
        </p:nvSpPr>
        <p:spPr>
          <a:xfrm rot="304165">
            <a:off x="14009788" y="8028421"/>
            <a:ext cx="2042646" cy="965614"/>
          </a:xfrm>
          <a:custGeom>
            <a:rect b="b" l="l" r="r" t="t"/>
            <a:pathLst>
              <a:path extrusionOk="0" h="965614" w="2042646">
                <a:moveTo>
                  <a:pt x="0" y="0"/>
                </a:moveTo>
                <a:lnTo>
                  <a:pt x="2042645" y="0"/>
                </a:lnTo>
                <a:lnTo>
                  <a:pt x="2042645" y="965614"/>
                </a:lnTo>
                <a:lnTo>
                  <a:pt x="0" y="9656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74" name="Google Shape;74;p10"/>
          <p:cNvCxnSpPr/>
          <p:nvPr/>
        </p:nvCxnSpPr>
        <p:spPr>
          <a:xfrm rot="10800000">
            <a:off x="1076325" y="4217775"/>
            <a:ext cx="0" cy="5107200"/>
          </a:xfrm>
          <a:prstGeom prst="straightConnector1">
            <a:avLst/>
          </a:prstGeom>
          <a:noFill/>
          <a:ln cap="flat" cmpd="sng" w="114300">
            <a:solidFill>
              <a:srgbClr val="00C4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5" name="Google Shape;75;p10"/>
          <p:cNvSpPr/>
          <p:nvPr/>
        </p:nvSpPr>
        <p:spPr>
          <a:xfrm flipH="1" rot="-7347071">
            <a:off x="3628580" y="827580"/>
            <a:ext cx="1775165" cy="839169"/>
          </a:xfrm>
          <a:custGeom>
            <a:rect b="b" l="l" r="r" t="t"/>
            <a:pathLst>
              <a:path extrusionOk="0" h="839169" w="1775165">
                <a:moveTo>
                  <a:pt x="1775166" y="0"/>
                </a:moveTo>
                <a:lnTo>
                  <a:pt x="0" y="0"/>
                </a:lnTo>
                <a:lnTo>
                  <a:pt x="0" y="839169"/>
                </a:lnTo>
                <a:lnTo>
                  <a:pt x="1775166" y="839169"/>
                </a:lnTo>
                <a:lnTo>
                  <a:pt x="1775166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6" name="Google Shape;76;p10"/>
          <p:cNvSpPr/>
          <p:nvPr/>
        </p:nvSpPr>
        <p:spPr>
          <a:xfrm rot="-955411">
            <a:off x="11167376" y="8180940"/>
            <a:ext cx="577705" cy="660577"/>
          </a:xfrm>
          <a:custGeom>
            <a:rect b="b" l="l" r="r" t="t"/>
            <a:pathLst>
              <a:path extrusionOk="0" h="660577" w="577705">
                <a:moveTo>
                  <a:pt x="0" y="0"/>
                </a:moveTo>
                <a:lnTo>
                  <a:pt x="577705" y="0"/>
                </a:lnTo>
                <a:lnTo>
                  <a:pt x="577705" y="660577"/>
                </a:lnTo>
                <a:lnTo>
                  <a:pt x="0" y="660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7" name="Google Shape;77;p10"/>
          <p:cNvSpPr/>
          <p:nvPr/>
        </p:nvSpPr>
        <p:spPr>
          <a:xfrm rot="825477">
            <a:off x="841320" y="2098824"/>
            <a:ext cx="750111" cy="904738"/>
          </a:xfrm>
          <a:custGeom>
            <a:rect b="b" l="l" r="r" t="t"/>
            <a:pathLst>
              <a:path extrusionOk="0" h="905959" w="751123">
                <a:moveTo>
                  <a:pt x="0" y="0"/>
                </a:moveTo>
                <a:lnTo>
                  <a:pt x="751123" y="0"/>
                </a:lnTo>
                <a:lnTo>
                  <a:pt x="751123" y="905959"/>
                </a:lnTo>
                <a:lnTo>
                  <a:pt x="0" y="9059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78" name="Google Shape;78;p10"/>
          <p:cNvCxnSpPr/>
          <p:nvPr/>
        </p:nvCxnSpPr>
        <p:spPr>
          <a:xfrm>
            <a:off x="1028700" y="9277350"/>
            <a:ext cx="8115300" cy="0"/>
          </a:xfrm>
          <a:prstGeom prst="straightConnector1">
            <a:avLst/>
          </a:prstGeom>
          <a:noFill/>
          <a:ln cap="flat" cmpd="sng" w="114300">
            <a:solidFill>
              <a:srgbClr val="00C4A8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" name="Google Shape;79;p10"/>
          <p:cNvSpPr/>
          <p:nvPr/>
        </p:nvSpPr>
        <p:spPr>
          <a:xfrm rot="494912">
            <a:off x="15629053" y="711243"/>
            <a:ext cx="1296079" cy="2360408"/>
          </a:xfrm>
          <a:custGeom>
            <a:rect b="b" l="l" r="r" t="t"/>
            <a:pathLst>
              <a:path extrusionOk="0" h="2360408" w="1296079">
                <a:moveTo>
                  <a:pt x="0" y="0"/>
                </a:moveTo>
                <a:lnTo>
                  <a:pt x="1296079" y="0"/>
                </a:lnTo>
                <a:lnTo>
                  <a:pt x="1296079" y="2360408"/>
                </a:lnTo>
                <a:lnTo>
                  <a:pt x="0" y="23604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0" name="Google Shape;80;p10"/>
          <p:cNvSpPr/>
          <p:nvPr/>
        </p:nvSpPr>
        <p:spPr>
          <a:xfrm rot="-10722664">
            <a:off x="6231449" y="874382"/>
            <a:ext cx="4445066" cy="911239"/>
          </a:xfrm>
          <a:custGeom>
            <a:rect b="b" l="l" r="r" t="t"/>
            <a:pathLst>
              <a:path extrusionOk="0" h="911008" w="4443941">
                <a:moveTo>
                  <a:pt x="0" y="0"/>
                </a:moveTo>
                <a:lnTo>
                  <a:pt x="4443941" y="0"/>
                </a:lnTo>
                <a:lnTo>
                  <a:pt x="4443941" y="911008"/>
                </a:lnTo>
                <a:lnTo>
                  <a:pt x="0" y="911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1" name="Google Shape;81;p10"/>
          <p:cNvSpPr/>
          <p:nvPr/>
        </p:nvSpPr>
        <p:spPr>
          <a:xfrm rot="-9571870">
            <a:off x="11936811" y="1310654"/>
            <a:ext cx="2373450" cy="1070210"/>
          </a:xfrm>
          <a:custGeom>
            <a:rect b="b" l="l" r="r" t="t"/>
            <a:pathLst>
              <a:path extrusionOk="0" h="1070210" w="2373450">
                <a:moveTo>
                  <a:pt x="0" y="0"/>
                </a:moveTo>
                <a:lnTo>
                  <a:pt x="2373451" y="0"/>
                </a:lnTo>
                <a:lnTo>
                  <a:pt x="2373451" y="1070211"/>
                </a:lnTo>
                <a:lnTo>
                  <a:pt x="0" y="1070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2" name="Google Shape;82;p10"/>
          <p:cNvSpPr/>
          <p:nvPr/>
        </p:nvSpPr>
        <p:spPr>
          <a:xfrm rot="-1038166">
            <a:off x="3063961" y="3699540"/>
            <a:ext cx="606324" cy="1104232"/>
          </a:xfrm>
          <a:custGeom>
            <a:rect b="b" l="l" r="r" t="t"/>
            <a:pathLst>
              <a:path extrusionOk="0" h="1103939" w="606163">
                <a:moveTo>
                  <a:pt x="0" y="0"/>
                </a:moveTo>
                <a:lnTo>
                  <a:pt x="606163" y="0"/>
                </a:lnTo>
                <a:lnTo>
                  <a:pt x="606163" y="1103939"/>
                </a:lnTo>
                <a:lnTo>
                  <a:pt x="0" y="11039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3" name="Google Shape;83;p10"/>
          <p:cNvSpPr txBox="1"/>
          <p:nvPr/>
        </p:nvSpPr>
        <p:spPr>
          <a:xfrm>
            <a:off x="1451550" y="5003075"/>
            <a:ext cx="15384900" cy="3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100" u="sng">
              <a:solidFill>
                <a:schemeClr val="lt1"/>
              </a:solidFill>
              <a:highlight>
                <a:srgbClr val="93C47D"/>
              </a:highlight>
              <a:latin typeface="NTR"/>
              <a:ea typeface="NTR"/>
              <a:cs typeface="NTR"/>
              <a:sym typeface="NT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u="sng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Project Prompt</a:t>
            </a:r>
            <a:r>
              <a:rPr lang="en-US" sz="4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: Design a face recognition system. Assemble a dataset comprising facial images of 10 individuals exhibiting various facial expressions. Demonstrate the performance of your method using this dataset.</a:t>
            </a:r>
            <a:endParaRPr sz="4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84" name="Google Shape;84;p10"/>
          <p:cNvSpPr txBox="1"/>
          <p:nvPr/>
        </p:nvSpPr>
        <p:spPr>
          <a:xfrm>
            <a:off x="0" y="74400"/>
            <a:ext cx="4065300" cy="19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C.S.E.445.6</a:t>
            </a:r>
            <a:endParaRPr sz="5300">
              <a:solidFill>
                <a:srgbClr val="59FF82"/>
              </a:solidFill>
              <a:highlight>
                <a:schemeClr val="dk1"/>
              </a:highlight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Group: 05</a:t>
            </a:r>
            <a:endParaRPr sz="4600">
              <a:solidFill>
                <a:srgbClr val="59FF82"/>
              </a:solidFill>
              <a:highlight>
                <a:schemeClr val="dk1"/>
              </a:highlight>
              <a:latin typeface="Changa"/>
              <a:ea typeface="Changa"/>
              <a:cs typeface="Changa"/>
              <a:sym typeface="Chang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D5A8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1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" name="Google Shape;90;p11"/>
          <p:cNvSpPr/>
          <p:nvPr/>
        </p:nvSpPr>
        <p:spPr>
          <a:xfrm>
            <a:off x="10972800" y="8243425"/>
            <a:ext cx="7315200" cy="1499616"/>
          </a:xfrm>
          <a:custGeom>
            <a:rect b="b" l="l" r="r" t="t"/>
            <a:pathLst>
              <a:path extrusionOk="0" h="1499616" w="7315200">
                <a:moveTo>
                  <a:pt x="0" y="0"/>
                </a:moveTo>
                <a:lnTo>
                  <a:pt x="7315200" y="0"/>
                </a:lnTo>
                <a:lnTo>
                  <a:pt x="7315200" y="1499616"/>
                </a:lnTo>
                <a:lnTo>
                  <a:pt x="0" y="1499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1"/>
          <p:cNvSpPr/>
          <p:nvPr/>
        </p:nvSpPr>
        <p:spPr>
          <a:xfrm>
            <a:off x="1858117" y="-391630"/>
            <a:ext cx="2129905" cy="2170604"/>
          </a:xfrm>
          <a:custGeom>
            <a:rect b="b" l="l" r="r" t="t"/>
            <a:pathLst>
              <a:path extrusionOk="0" h="2170604" w="2129905">
                <a:moveTo>
                  <a:pt x="0" y="0"/>
                </a:moveTo>
                <a:lnTo>
                  <a:pt x="2129905" y="0"/>
                </a:lnTo>
                <a:lnTo>
                  <a:pt x="2129905" y="2170603"/>
                </a:lnTo>
                <a:lnTo>
                  <a:pt x="0" y="21706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1"/>
          <p:cNvSpPr/>
          <p:nvPr/>
        </p:nvSpPr>
        <p:spPr>
          <a:xfrm rot="-2560134">
            <a:off x="9089157" y="6372679"/>
            <a:ext cx="743549" cy="1354145"/>
          </a:xfrm>
          <a:custGeom>
            <a:rect b="b" l="l" r="r" t="t"/>
            <a:pathLst>
              <a:path extrusionOk="0" h="1354666" w="743835">
                <a:moveTo>
                  <a:pt x="0" y="0"/>
                </a:moveTo>
                <a:lnTo>
                  <a:pt x="743835" y="0"/>
                </a:lnTo>
                <a:lnTo>
                  <a:pt x="743835" y="1354666"/>
                </a:lnTo>
                <a:lnTo>
                  <a:pt x="0" y="1354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1"/>
          <p:cNvSpPr/>
          <p:nvPr/>
        </p:nvSpPr>
        <p:spPr>
          <a:xfrm rot="1072861">
            <a:off x="17000813" y="3140682"/>
            <a:ext cx="516975" cy="488776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4" y="0"/>
                </a:lnTo>
                <a:lnTo>
                  <a:pt x="516974" y="488776"/>
                </a:lnTo>
                <a:lnTo>
                  <a:pt x="0" y="488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1"/>
          <p:cNvSpPr txBox="1"/>
          <p:nvPr/>
        </p:nvSpPr>
        <p:spPr>
          <a:xfrm>
            <a:off x="320850" y="393875"/>
            <a:ext cx="17646300" cy="13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Table of Contents: </a:t>
            </a:r>
            <a:endParaRPr sz="9600"/>
          </a:p>
        </p:txBody>
      </p:sp>
      <p:sp>
        <p:nvSpPr>
          <p:cNvPr id="95" name="Google Shape;95;p11"/>
          <p:cNvSpPr/>
          <p:nvPr/>
        </p:nvSpPr>
        <p:spPr>
          <a:xfrm rot="1624665">
            <a:off x="6483585" y="1945107"/>
            <a:ext cx="499303" cy="909328"/>
          </a:xfrm>
          <a:custGeom>
            <a:rect b="b" l="l" r="r" t="t"/>
            <a:pathLst>
              <a:path extrusionOk="0" h="909726" w="499522">
                <a:moveTo>
                  <a:pt x="0" y="0"/>
                </a:moveTo>
                <a:lnTo>
                  <a:pt x="499522" y="0"/>
                </a:lnTo>
                <a:lnTo>
                  <a:pt x="499522" y="909725"/>
                </a:lnTo>
                <a:lnTo>
                  <a:pt x="0" y="9097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96" name="Google Shape;96;p1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334775" y="2352425"/>
            <a:ext cx="6455800" cy="64558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1"/>
          <p:cNvSpPr txBox="1"/>
          <p:nvPr/>
        </p:nvSpPr>
        <p:spPr>
          <a:xfrm>
            <a:off x="12584675" y="7689325"/>
            <a:ext cx="64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98" name="Google Shape;98;p11"/>
          <p:cNvSpPr txBox="1"/>
          <p:nvPr/>
        </p:nvSpPr>
        <p:spPr>
          <a:xfrm>
            <a:off x="544375" y="1881300"/>
            <a:ext cx="10790400" cy="7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rabi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Datasets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lphaL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AT&amp;T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lphaL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LFW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rabi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Models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lphaL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SVM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lphaL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KNN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lphaL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RF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1" marL="13716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lphaL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CNN (only for LFW)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NTR"/>
              <a:buAutoNum type="arabicPeriod"/>
            </a:pPr>
            <a:r>
              <a:rPr b="1" lang="en-US" sz="48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Comparison between all Models</a:t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  </a:t>
            </a:r>
            <a:endParaRPr b="1"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"/>
          <p:cNvSpPr txBox="1"/>
          <p:nvPr/>
        </p:nvSpPr>
        <p:spPr>
          <a:xfrm>
            <a:off x="0" y="0"/>
            <a:ext cx="35148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Datasets:</a:t>
            </a:r>
            <a:endParaRPr sz="4800">
              <a:solidFill>
                <a:srgbClr val="59FF82"/>
              </a:solidFill>
              <a:highlight>
                <a:schemeClr val="dk1"/>
              </a:highlight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178025" y="1059600"/>
            <a:ext cx="17854500" cy="11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In our project we used two types of data sets to compare their </a:t>
            </a:r>
            <a:r>
              <a:rPr lang="en-US" sz="4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performances</a:t>
            </a:r>
            <a:r>
              <a:rPr lang="en-US" sz="4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at the last.</a:t>
            </a:r>
            <a:endParaRPr sz="4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0" y="1057650"/>
            <a:ext cx="17854500" cy="8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graphicFrame>
        <p:nvGraphicFramePr>
          <p:cNvPr id="106" name="Google Shape;106;p12"/>
          <p:cNvGraphicFramePr/>
          <p:nvPr/>
        </p:nvGraphicFramePr>
        <p:xfrm>
          <a:off x="952500" y="270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{9D87B1AF-5FE0-45FB-A775-C01E60B3ACEB}</a:tableStyleId>
              </a:tblPr>
              <a:tblGrid>
                <a:gridCol w="3950100"/>
                <a:gridCol w="5682850"/>
                <a:gridCol w="6981875"/>
              </a:tblGrid>
              <a:tr h="133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500"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b="1" lang="en-US" sz="4500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Feature</a:t>
                      </a:r>
                      <a:endParaRPr b="1" sz="4500">
                        <a:solidFill>
                          <a:srgbClr val="FCB295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highlight>
                            <a:srgbClr val="B6D7A8"/>
                          </a:highlight>
                          <a:latin typeface="NTR"/>
                          <a:ea typeface="NTR"/>
                          <a:cs typeface="NTR"/>
                          <a:sym typeface="NTR"/>
                        </a:rPr>
                        <a:t>AT&amp;T Data Set</a:t>
                      </a:r>
                      <a:r>
                        <a:rPr lang="en-US" sz="4000"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endParaRPr sz="4000"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highlight>
                            <a:srgbClr val="76A5AF"/>
                          </a:highlight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lang="en-US" sz="4000">
                          <a:highlight>
                            <a:srgbClr val="76A5AF"/>
                          </a:highlight>
                          <a:latin typeface="NTR"/>
                          <a:ea typeface="NTR"/>
                          <a:cs typeface="NTR"/>
                          <a:sym typeface="NTR"/>
                        </a:rPr>
                        <a:t>LFW Data Set</a:t>
                      </a:r>
                      <a:endParaRPr sz="4000">
                        <a:highlight>
                          <a:srgbClr val="76A5AF"/>
                        </a:highlight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500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b="1" lang="en-US" sz="4500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Data Size</a:t>
                      </a:r>
                      <a:endParaRPr b="1" sz="4500">
                        <a:solidFill>
                          <a:srgbClr val="FCB295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solidFill>
                            <a:schemeClr val="lt1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Small (400 Images)</a:t>
                      </a:r>
                      <a:endParaRPr sz="4000">
                        <a:solidFill>
                          <a:schemeClr val="lt1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lang="en-US" sz="4000">
                          <a:solidFill>
                            <a:schemeClr val="lt1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Large(13,00+ Images)</a:t>
                      </a:r>
                      <a:endParaRPr sz="4000">
                        <a:solidFill>
                          <a:schemeClr val="lt1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500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b="1" lang="en-US" sz="4500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Complexity</a:t>
                      </a:r>
                      <a:endParaRPr b="1" sz="4500">
                        <a:solidFill>
                          <a:srgbClr val="FCB295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solidFill>
                            <a:schemeClr val="lt1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Simple (Uniform Background)</a:t>
                      </a:r>
                      <a:endParaRPr sz="4000">
                        <a:solidFill>
                          <a:schemeClr val="lt1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lang="en-US" sz="4000">
                          <a:solidFill>
                            <a:schemeClr val="lt1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High (Varying   Components)</a:t>
                      </a:r>
                      <a:endParaRPr sz="4000">
                        <a:solidFill>
                          <a:schemeClr val="lt1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3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500">
                          <a:solidFill>
                            <a:srgbClr val="CFE2F3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 </a:t>
                      </a:r>
                      <a:r>
                        <a:rPr b="1" lang="en-US" sz="4500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Image Type</a:t>
                      </a:r>
                      <a:endParaRPr b="1" sz="4500">
                        <a:solidFill>
                          <a:srgbClr val="FCB295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solidFill>
                            <a:schemeClr val="lt1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Grayscale (.pgm)</a:t>
                      </a:r>
                      <a:endParaRPr sz="4000">
                        <a:solidFill>
                          <a:schemeClr val="lt1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4000">
                          <a:solidFill>
                            <a:schemeClr val="lt1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Color (.jpg)</a:t>
                      </a:r>
                      <a:endParaRPr sz="4000">
                        <a:solidFill>
                          <a:schemeClr val="lt1"/>
                        </a:solidFill>
                        <a:latin typeface="NTR"/>
                        <a:ea typeface="NTR"/>
                        <a:cs typeface="NTR"/>
                        <a:sym typeface="NTR"/>
                      </a:endParaRPr>
                    </a:p>
                  </a:txBody>
                  <a:tcPr marT="91425" marB="91425" marR="91425" marL="91425">
                    <a:lnL cap="flat" cmpd="sng" w="114300">
                      <a:solidFill>
                        <a:srgbClr val="9E9E9E"/>
                      </a:solidFill>
                      <a:prstDash val="lgDashDot"/>
                      <a:round/>
                      <a:headEnd len="sm" w="sm" type="none"/>
                      <a:tailEnd len="sm" w="sm" type="none"/>
                    </a:lnL>
                    <a:lnR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143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3" title="att_sample_gr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58487" y="1141224"/>
            <a:ext cx="11171026" cy="784917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2861075" y="0"/>
            <a:ext cx="116373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AT&amp;T Data</a:t>
            </a:r>
            <a:r>
              <a:rPr lang="en-US" sz="48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 Set Sample Grid</a:t>
            </a:r>
            <a:endParaRPr sz="4800">
              <a:solidFill>
                <a:srgbClr val="59FF82"/>
              </a:solidFill>
              <a:highlight>
                <a:schemeClr val="dk1"/>
              </a:highlight>
              <a:latin typeface="Changa"/>
              <a:ea typeface="Changa"/>
              <a:cs typeface="Changa"/>
              <a:sym typeface="Chang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/>
          <p:nvPr/>
        </p:nvSpPr>
        <p:spPr>
          <a:xfrm>
            <a:off x="2861075" y="0"/>
            <a:ext cx="11637300" cy="10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LFW</a:t>
            </a:r>
            <a:r>
              <a:rPr lang="en-US" sz="4800">
                <a:solidFill>
                  <a:srgbClr val="59FF82"/>
                </a:solidFill>
                <a:highlight>
                  <a:schemeClr val="dk1"/>
                </a:highlight>
                <a:latin typeface="Changa"/>
                <a:ea typeface="Changa"/>
                <a:cs typeface="Changa"/>
                <a:sym typeface="Changa"/>
              </a:rPr>
              <a:t> Data Set Sample Grid</a:t>
            </a:r>
            <a:endParaRPr sz="4800">
              <a:solidFill>
                <a:srgbClr val="59FF82"/>
              </a:solidFill>
              <a:highlight>
                <a:schemeClr val="dk1"/>
              </a:highlight>
              <a:latin typeface="Changa"/>
              <a:ea typeface="Changa"/>
              <a:cs typeface="Changa"/>
              <a:sym typeface="Changa"/>
            </a:endParaRPr>
          </a:p>
        </p:txBody>
      </p:sp>
      <p:pic>
        <p:nvPicPr>
          <p:cNvPr id="118" name="Google Shape;118;p14" title="lfw_sample_gri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645350"/>
            <a:ext cx="17983201" cy="4996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5"/>
          <p:cNvSpPr txBox="1"/>
          <p:nvPr/>
        </p:nvSpPr>
        <p:spPr>
          <a:xfrm>
            <a:off x="153350" y="103375"/>
            <a:ext cx="8816100" cy="7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37425" y="264100"/>
            <a:ext cx="9272700" cy="16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Code Utilities: </a:t>
            </a: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Why </a:t>
            </a:r>
            <a:r>
              <a:rPr lang="en-US" sz="4800">
                <a:solidFill>
                  <a:schemeClr val="lt1"/>
                </a:solidFill>
                <a:latin typeface="Changa"/>
                <a:ea typeface="Changa"/>
                <a:cs typeface="Changa"/>
                <a:sym typeface="Changa"/>
              </a:rPr>
              <a:t>checking_img.py</a:t>
            </a: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 is helpful:</a:t>
            </a:r>
            <a:endParaRPr sz="48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7425" y="1233475"/>
            <a:ext cx="18288000" cy="81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153350" y="2242350"/>
            <a:ext cx="9272700" cy="71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mic Sans MS"/>
              <a:buAutoNum type="arabicPeriod"/>
            </a:pPr>
            <a:r>
              <a:rPr lang="en-US" sz="3000">
                <a:solidFill>
                  <a:srgbClr val="59FF82"/>
                </a:solidFill>
                <a:latin typeface="NTR"/>
                <a:ea typeface="NTR"/>
                <a:cs typeface="NTR"/>
                <a:sym typeface="NTR"/>
              </a:rPr>
              <a:t>Path Validation: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Confirms the script can navigate the </a:t>
            </a:r>
            <a:r>
              <a:rPr lang="en-US" sz="3000">
                <a:solidFill>
                  <a:schemeClr val="lt1"/>
                </a:solidFill>
                <a:highlight>
                  <a:srgbClr val="00C4A8"/>
                </a:highlight>
                <a:latin typeface="NTR"/>
                <a:ea typeface="NTR"/>
                <a:cs typeface="NTR"/>
                <a:sym typeface="NTR"/>
              </a:rPr>
              <a:t>data/raw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folder structure correctly.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mic Sans MS"/>
              <a:buAutoNum type="arabicPeriod"/>
            </a:pPr>
            <a:r>
              <a:rPr lang="en-US" sz="3000">
                <a:solidFill>
                  <a:srgbClr val="59FF82"/>
                </a:solidFill>
                <a:latin typeface="NTR"/>
                <a:ea typeface="NTR"/>
                <a:cs typeface="NTR"/>
                <a:sym typeface="NTR"/>
              </a:rPr>
              <a:t>Format Versatility: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Proves the code can read different extensions </a:t>
            </a:r>
            <a:r>
              <a:rPr lang="en-US" sz="3000">
                <a:solidFill>
                  <a:schemeClr val="lt1"/>
                </a:solidFill>
                <a:highlight>
                  <a:srgbClr val="00C4A8"/>
                </a:highlight>
                <a:latin typeface="NTR"/>
                <a:ea typeface="NTR"/>
                <a:cs typeface="NTR"/>
                <a:sym typeface="NTR"/>
              </a:rPr>
              <a:t>(.pgm vs .jpg)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using the same OpenCV logic.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mic Sans MS"/>
              <a:buAutoNum type="arabicPeriod"/>
            </a:pPr>
            <a:r>
              <a:rPr lang="en-US" sz="3000">
                <a:solidFill>
                  <a:srgbClr val="59FF82"/>
                </a:solidFill>
                <a:latin typeface="NTR"/>
                <a:ea typeface="NTR"/>
                <a:cs typeface="NTR"/>
                <a:sym typeface="NTR"/>
              </a:rPr>
              <a:t>Normalization Check: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Ensures that color LFW images are correctly converted to grayscale via </a:t>
            </a:r>
            <a:r>
              <a:rPr lang="en-US" sz="3000">
                <a:solidFill>
                  <a:schemeClr val="lt1"/>
                </a:solidFill>
                <a:highlight>
                  <a:schemeClr val="dk2"/>
                </a:highlight>
                <a:latin typeface="NTR"/>
                <a:ea typeface="NTR"/>
                <a:cs typeface="NTR"/>
                <a:sym typeface="NTR"/>
              </a:rPr>
              <a:t>IMREAD_GRAYSCALE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before processing.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omic Sans MS"/>
              <a:buAutoNum type="arabicPeriod"/>
            </a:pPr>
            <a:r>
              <a:rPr lang="en-US" sz="3000">
                <a:solidFill>
                  <a:srgbClr val="59FF82"/>
                </a:solidFill>
                <a:latin typeface="NTR"/>
                <a:ea typeface="NTR"/>
                <a:cs typeface="NTR"/>
                <a:sym typeface="NTR"/>
              </a:rPr>
              <a:t>Integrity Check: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Acts as a "Sanity Test" to ensure </a:t>
            </a:r>
            <a:r>
              <a:rPr lang="en-US" sz="3000">
                <a:solidFill>
                  <a:schemeClr val="lt1"/>
                </a:solidFill>
                <a:highlight>
                  <a:schemeClr val="dk2"/>
                </a:highlight>
                <a:latin typeface="NTR"/>
                <a:ea typeface="NTR"/>
                <a:cs typeface="NTR"/>
                <a:sym typeface="NTR"/>
              </a:rPr>
              <a:t>images aren't corrupted 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before you start the heavy training phase.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9715950" y="264100"/>
            <a:ext cx="79977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solidFill>
                  <a:schemeClr val="hlink"/>
                </a:solidFill>
                <a:highlight>
                  <a:srgbClr val="CFE2F3"/>
                </a:highlight>
                <a:latin typeface="NTR"/>
                <a:ea typeface="NTR"/>
                <a:cs typeface="NTR"/>
                <a:sym typeface="NTR"/>
                <a:hlinkClick r:id="rId3"/>
              </a:rPr>
              <a:t>Link: checking_img.py</a:t>
            </a:r>
            <a:endParaRPr sz="3500">
              <a:solidFill>
                <a:schemeClr val="lt1"/>
              </a:solidFill>
              <a:highlight>
                <a:srgbClr val="CFE2F3"/>
              </a:highlight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9455100" y="1233525"/>
            <a:ext cx="8519400" cy="81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129" name="Google Shape;12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9550" y="1233481"/>
            <a:ext cx="8210501" cy="3992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715948" y="5515600"/>
            <a:ext cx="4818925" cy="365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5"/>
          <p:cNvSpPr txBox="1"/>
          <p:nvPr/>
        </p:nvSpPr>
        <p:spPr>
          <a:xfrm>
            <a:off x="14534875" y="5515600"/>
            <a:ext cx="3644100" cy="3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NTR"/>
              <a:buChar char="●"/>
            </a:pPr>
            <a:r>
              <a:rPr lang="en-US" sz="31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Here we used open </a:t>
            </a:r>
            <a:r>
              <a:rPr lang="en-US" sz="31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source</a:t>
            </a:r>
            <a:r>
              <a:rPr lang="en-US" sz="31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computer </a:t>
            </a:r>
            <a:r>
              <a:rPr lang="en-US" sz="31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vision library.</a:t>
            </a:r>
            <a:endParaRPr sz="31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25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NTR"/>
              <a:buChar char="●"/>
            </a:pPr>
            <a:r>
              <a:rPr lang="en-US" sz="31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and, OS is helping us as navigator of image folders irrespective of windows/mac</a:t>
            </a:r>
            <a:endParaRPr sz="31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</a:t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title="Screenshot 2026-04-28 0037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575" y="417913"/>
            <a:ext cx="11273102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1860225" y="1372838"/>
            <a:ext cx="5737500" cy="10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Before using checking_img.py</a:t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138" name="Google Shape;138;p16" title="Screenshot 2026-04-28 00453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2775" y="3560625"/>
            <a:ext cx="13664945" cy="571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409575" y="5825250"/>
            <a:ext cx="2883000" cy="11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After using checking_img</a:t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/>
        </p:nvSpPr>
        <p:spPr>
          <a:xfrm>
            <a:off x="37425" y="74400"/>
            <a:ext cx="9620400" cy="14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62100" y="74400"/>
            <a:ext cx="17108400" cy="8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Data Preprocessing (Preparing the Faces): </a:t>
            </a:r>
            <a:endParaRPr sz="48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46" name="Google Shape;146;p17"/>
          <p:cNvSpPr txBox="1"/>
          <p:nvPr/>
        </p:nvSpPr>
        <p:spPr>
          <a:xfrm>
            <a:off x="62100" y="1165775"/>
            <a:ext cx="18163800" cy="82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This is the "</a:t>
            </a:r>
            <a:r>
              <a:rPr i="1" lang="en-US" sz="3000">
                <a:solidFill>
                  <a:schemeClr val="lt1"/>
                </a:solidFill>
                <a:highlight>
                  <a:srgbClr val="00C4A8"/>
                </a:highlight>
                <a:latin typeface="NTR"/>
                <a:ea typeface="NTR"/>
                <a:cs typeface="NTR"/>
                <a:sym typeface="NTR"/>
              </a:rPr>
              <a:t>cleaning</a:t>
            </a:r>
            <a:r>
              <a:rPr i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" phase to ensure the computer can read the faces efficiently.</a:t>
            </a:r>
            <a:endParaRPr i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FF82"/>
              </a:buClr>
              <a:buSzPts val="3000"/>
              <a:buFont typeface="Changa"/>
              <a:buChar char="●"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Dataset Splitting (The Gold Standard):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AT&amp;T: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Uses an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80/20 Split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(8 images per person for training, 2 for testing).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LFW: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Uses a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60/20/20 Split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(Train, Validation, and Test).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Stratification: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We use "Stratified" splits to ensure every person in the dataset appears in both the training and testing sets.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FF82"/>
              </a:buClr>
              <a:buSzPts val="3000"/>
              <a:buFont typeface="Changa"/>
              <a:buChar char="●"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Dimensionality Reduction (PCA / Eigenfaces):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Problem: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High-res images have too many "features" (pixels). For example, AT&amp;T has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10,304 pixels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per face.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Solution: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We use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PCA (Principal Component Analysis)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to compress those 10,000+ pixels down to just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100–150 "Eigenfaces."</a:t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Efficiency: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This retains about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90–95% of the important facial info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while making the model run 100x faster.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FF82"/>
              </a:buClr>
              <a:buSzPts val="3000"/>
              <a:buFont typeface="Changa"/>
              <a:buChar char="●"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Normalization: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Whitening: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We scale the data to ensure different lighting or contrast levels don't confuse the model.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Reshaping: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Images are flattened into vectors for SVM, or kept as 2D grids for the CNN model.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75" y="455788"/>
            <a:ext cx="8385401" cy="335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175" y="4106475"/>
            <a:ext cx="8385399" cy="1655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77950" y="385750"/>
            <a:ext cx="8543925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77950" y="4765925"/>
            <a:ext cx="8543925" cy="374384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463225" y="6057450"/>
            <a:ext cx="83853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solidFill>
                  <a:schemeClr val="hlink"/>
                </a:solidFill>
                <a:highlight>
                  <a:srgbClr val="A4C2F4"/>
                </a:highlight>
                <a:latin typeface="NTR"/>
                <a:ea typeface="NTR"/>
                <a:cs typeface="NTR"/>
                <a:sym typeface="NTR"/>
                <a:hlinkClick r:id="rId7"/>
              </a:rPr>
              <a:t>Link: p</a:t>
            </a:r>
            <a:r>
              <a:rPr lang="en-US" sz="3500" u="sng">
                <a:solidFill>
                  <a:schemeClr val="hlink"/>
                </a:solidFill>
                <a:highlight>
                  <a:srgbClr val="A4C2F4"/>
                </a:highlight>
                <a:latin typeface="NTR"/>
                <a:ea typeface="NTR"/>
                <a:cs typeface="NTR"/>
                <a:sym typeface="NTR"/>
                <a:hlinkClick r:id="rId8"/>
              </a:rPr>
              <a:t>reprocessing_att</a:t>
            </a:r>
            <a:endParaRPr sz="3500">
              <a:solidFill>
                <a:schemeClr val="lt1"/>
              </a:solidFill>
              <a:highlight>
                <a:srgbClr val="A4C2F4"/>
              </a:highlight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9282500" y="8622750"/>
            <a:ext cx="8544000" cy="5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solidFill>
                  <a:schemeClr val="hlink"/>
                </a:solidFill>
                <a:highlight>
                  <a:srgbClr val="A4C2F4"/>
                </a:highlight>
                <a:latin typeface="NTR"/>
                <a:ea typeface="NTR"/>
                <a:cs typeface="NTR"/>
                <a:sym typeface="NTR"/>
                <a:hlinkClick r:id="rId9"/>
              </a:rPr>
              <a:t>Link: p</a:t>
            </a:r>
            <a:r>
              <a:rPr lang="en-US" sz="3500" u="sng">
                <a:solidFill>
                  <a:schemeClr val="hlink"/>
                </a:solidFill>
                <a:highlight>
                  <a:srgbClr val="A4C2F4"/>
                </a:highlight>
                <a:latin typeface="NTR"/>
                <a:ea typeface="NTR"/>
                <a:cs typeface="NTR"/>
                <a:sym typeface="NTR"/>
                <a:hlinkClick r:id="rId10"/>
              </a:rPr>
              <a:t>reproces</a:t>
            </a:r>
            <a:r>
              <a:rPr lang="en-US" sz="3500" u="sng">
                <a:solidFill>
                  <a:schemeClr val="dk1"/>
                </a:solidFill>
                <a:highlight>
                  <a:srgbClr val="A4C2F4"/>
                </a:highlight>
                <a:latin typeface="NTR"/>
                <a:ea typeface="NTR"/>
                <a:cs typeface="NTR"/>
                <a:sym typeface="NTR"/>
              </a:rPr>
              <a:t>sing_lfw.py</a:t>
            </a:r>
            <a:endParaRPr sz="3500" u="sng">
              <a:solidFill>
                <a:schemeClr val="dk1"/>
              </a:solidFill>
              <a:highlight>
                <a:srgbClr val="A4C2F4"/>
              </a:highlight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9"/>
          <p:cNvSpPr txBox="1"/>
          <p:nvPr/>
        </p:nvSpPr>
        <p:spPr>
          <a:xfrm>
            <a:off x="4200" y="345300"/>
            <a:ext cx="11777700" cy="86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:</a:t>
            </a:r>
            <a:endParaRPr sz="48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4200" y="1407350"/>
            <a:ext cx="1827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SVM is a supervised learning algorithm that constructs an optimal separating hyperplane by maximizing the margin between classes in a high-dimensional feature space.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Our primary classifier. It finds the "best boundary" in mathematical space to separate Person A from Person B.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RBF Kernel: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We use a non-linear (Radial Basis Function) kernel because facial data is too complex for a straight-line boundary. The 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parameters are C (regularization parameter) and Gamma (RBF kernel)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7554488" y="8470550"/>
            <a:ext cx="10731300" cy="8646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-US" sz="27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This is the "</a:t>
            </a:r>
            <a:r>
              <a:rPr i="1" lang="en-US" sz="2700">
                <a:solidFill>
                  <a:schemeClr val="lt1"/>
                </a:solidFill>
                <a:highlight>
                  <a:srgbClr val="00C4A8"/>
                </a:highlight>
                <a:latin typeface="NTR"/>
                <a:ea typeface="NTR"/>
                <a:cs typeface="NTR"/>
                <a:sym typeface="NTR"/>
              </a:rPr>
              <a:t>learning</a:t>
            </a:r>
            <a:r>
              <a:rPr i="1" lang="en-US" sz="27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" phase where the computer learns to tell people apart.</a:t>
            </a:r>
            <a:endParaRPr sz="27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164" name="Google Shape;164;p19"/>
          <p:cNvPicPr preferRelativeResize="0"/>
          <p:nvPr/>
        </p:nvPicPr>
        <p:blipFill rotWithShape="1">
          <a:blip r:embed="rId3">
            <a:alphaModFix/>
          </a:blip>
          <a:srcRect b="8567" l="0" r="8567" t="0"/>
          <a:stretch/>
        </p:blipFill>
        <p:spPr>
          <a:xfrm>
            <a:off x="2064" y="8470700"/>
            <a:ext cx="7552425" cy="864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54500" y="5245750"/>
            <a:ext cx="10731426" cy="322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2" y="5245750"/>
            <a:ext cx="7552425" cy="3224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/>
        </p:nvSpPr>
        <p:spPr>
          <a:xfrm>
            <a:off x="0" y="353625"/>
            <a:ext cx="156147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Continued:</a:t>
            </a:r>
            <a:endParaRPr sz="48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-49500" y="1436450"/>
            <a:ext cx="18288000" cy="81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Hyperparameter Tuning: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We use a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PCA Sweep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to find the perfect number of components (e.g., is 100 eigenfaces enough, or do we need 150?).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○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 &amp; Gamma: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We tune these "knobs" in the SVM to balance accuracy vs. the ability to recognize new faces.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173" name="Google Shape;17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86875" y="3300425"/>
            <a:ext cx="9138574" cy="5615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913" y="3429000"/>
            <a:ext cx="7773426" cy="1618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2218900" y="5658350"/>
            <a:ext cx="42018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solidFill>
                  <a:schemeClr val="hlink"/>
                </a:solidFill>
                <a:highlight>
                  <a:srgbClr val="A4C2F4"/>
                </a:highlight>
                <a:latin typeface="NTR"/>
                <a:ea typeface="NTR"/>
                <a:cs typeface="NTR"/>
                <a:sym typeface="NTR"/>
                <a:hlinkClick r:id="rId5"/>
              </a:rPr>
              <a:t>Link: svm_model.py</a:t>
            </a:r>
            <a:endParaRPr sz="3500">
              <a:solidFill>
                <a:schemeClr val="lt1"/>
              </a:solidFill>
              <a:highlight>
                <a:srgbClr val="A4C2F4"/>
              </a:highlight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6263" y="622750"/>
            <a:ext cx="8631476" cy="4708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6450" y="540600"/>
            <a:ext cx="8782038" cy="4790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6450" y="5330800"/>
            <a:ext cx="8782050" cy="4148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4100" y="5330800"/>
            <a:ext cx="8631475" cy="414822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256350" y="0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SVM ON AT&amp;T</a:t>
            </a:r>
            <a:endParaRPr sz="2700"/>
          </a:p>
        </p:txBody>
      </p:sp>
      <p:sp>
        <p:nvSpPr>
          <p:cNvPr id="185" name="Google Shape;185;p21"/>
          <p:cNvSpPr txBox="1"/>
          <p:nvPr/>
        </p:nvSpPr>
        <p:spPr>
          <a:xfrm>
            <a:off x="9146450" y="0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SVM ON LFW</a:t>
            </a:r>
            <a:endParaRPr sz="2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/>
        </p:nvSpPr>
        <p:spPr>
          <a:xfrm>
            <a:off x="124350" y="0"/>
            <a:ext cx="79110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0" y="0"/>
            <a:ext cx="13774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Continued:</a:t>
            </a:r>
            <a:endParaRPr sz="2700"/>
          </a:p>
        </p:txBody>
      </p:sp>
      <p:sp>
        <p:nvSpPr>
          <p:cNvPr id="192" name="Google Shape;192;p22"/>
          <p:cNvSpPr txBox="1"/>
          <p:nvPr/>
        </p:nvSpPr>
        <p:spPr>
          <a:xfrm>
            <a:off x="37425" y="1210475"/>
            <a:ext cx="18288000" cy="81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Random Forest:  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It uses a "majority vote" from hundreds of mini-decision trees to identify a face, making it very reliable.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Smart Selection: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It's great at picking out which specific PCA features (like the eyes or nose) are most important for telling people apart.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Hyperparameters of this model is: n_estimators (the number of trees in forest) and max_features( the fraction of PCA components used)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35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2091200" y="5706350"/>
            <a:ext cx="6482700" cy="14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194" name="Google Shape;19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00" y="2348406"/>
            <a:ext cx="8988075" cy="4462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13" y="6810700"/>
            <a:ext cx="8950651" cy="270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2"/>
          <p:cNvSpPr txBox="1"/>
          <p:nvPr/>
        </p:nvSpPr>
        <p:spPr>
          <a:xfrm>
            <a:off x="9548400" y="4971600"/>
            <a:ext cx="32460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solidFill>
                  <a:schemeClr val="hlink"/>
                </a:solidFill>
                <a:highlight>
                  <a:srgbClr val="9FC5E8"/>
                </a:highlight>
                <a:latin typeface="NTR"/>
                <a:ea typeface="NTR"/>
                <a:cs typeface="NTR"/>
                <a:sym typeface="NTR"/>
                <a:hlinkClick r:id="rId5"/>
              </a:rPr>
              <a:t>Link: rf_att.py</a:t>
            </a:r>
            <a:endParaRPr sz="3500">
              <a:solidFill>
                <a:schemeClr val="lt1"/>
              </a:solidFill>
              <a:highlight>
                <a:srgbClr val="9FC5E8"/>
              </a:highlight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9548400" y="7899100"/>
            <a:ext cx="3246000" cy="7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 u="sng">
                <a:solidFill>
                  <a:schemeClr val="hlink"/>
                </a:solidFill>
                <a:highlight>
                  <a:srgbClr val="9FC5E8"/>
                </a:highlight>
                <a:latin typeface="NTR"/>
                <a:ea typeface="NTR"/>
                <a:cs typeface="NTR"/>
                <a:sym typeface="NTR"/>
                <a:hlinkClick r:id="rId6"/>
              </a:rPr>
              <a:t>Link: rf_lfw.py</a:t>
            </a:r>
            <a:endParaRPr sz="3500">
              <a:solidFill>
                <a:schemeClr val="lt1"/>
              </a:solidFill>
              <a:highlight>
                <a:srgbClr val="9FC5E8"/>
              </a:highlight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555225"/>
            <a:ext cx="9233519" cy="384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4300" y="5555225"/>
            <a:ext cx="9233577" cy="3847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3" title="rf_tuning_heatmap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506638" y="1375975"/>
            <a:ext cx="8358499" cy="4179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3" title="rf_att_tuning_heatma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3588" y="1375975"/>
            <a:ext cx="9194349" cy="417924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300963" y="702475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RF</a:t>
            </a: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 ON AT&amp;T</a:t>
            </a:r>
            <a:endParaRPr sz="2700"/>
          </a:p>
        </p:txBody>
      </p:sp>
      <p:sp>
        <p:nvSpPr>
          <p:cNvPr id="207" name="Google Shape;207;p23"/>
          <p:cNvSpPr txBox="1"/>
          <p:nvPr/>
        </p:nvSpPr>
        <p:spPr>
          <a:xfrm>
            <a:off x="9233525" y="702475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RF </a:t>
            </a: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ON LFW</a:t>
            </a:r>
            <a:endParaRPr sz="27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 txBox="1"/>
          <p:nvPr/>
        </p:nvSpPr>
        <p:spPr>
          <a:xfrm>
            <a:off x="0" y="690925"/>
            <a:ext cx="1703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Continued:</a:t>
            </a:r>
            <a:endParaRPr sz="2700"/>
          </a:p>
        </p:txBody>
      </p:sp>
      <p:sp>
        <p:nvSpPr>
          <p:cNvPr id="213" name="Google Shape;213;p24"/>
          <p:cNvSpPr txBox="1"/>
          <p:nvPr/>
        </p:nvSpPr>
        <p:spPr>
          <a:xfrm>
            <a:off x="211300" y="1813025"/>
            <a:ext cx="17038800" cy="71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K-Nearest Neighbour: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"Nearest Neighbor" Rule: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It identifies a face by looking at the most similar images (neighbors) in the dataset and picking the most common result.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Simple &amp; Fast: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It doesn’t "learn" a complex boundary; it just memorizes the data, making it very easy to implement for small datasets like AT&amp;T.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metric we used is cosine similarity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214" name="Google Shape;21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43307" y="4779175"/>
            <a:ext cx="6014848" cy="4545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282" y="4779175"/>
            <a:ext cx="5463011" cy="4545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5" title="knn_k_curv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3688" y="3058375"/>
            <a:ext cx="8314950" cy="519684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5"/>
          <p:cNvSpPr txBox="1"/>
          <p:nvPr/>
        </p:nvSpPr>
        <p:spPr>
          <a:xfrm>
            <a:off x="10090063" y="2031775"/>
            <a:ext cx="746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KNN on LFW</a:t>
            </a:r>
            <a:endParaRPr sz="2700"/>
          </a:p>
        </p:txBody>
      </p:sp>
      <p:sp>
        <p:nvSpPr>
          <p:cNvPr id="222" name="Google Shape;222;p25"/>
          <p:cNvSpPr txBox="1"/>
          <p:nvPr/>
        </p:nvSpPr>
        <p:spPr>
          <a:xfrm>
            <a:off x="1085025" y="2031775"/>
            <a:ext cx="7803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KNN on AT&amp;T</a:t>
            </a:r>
            <a:endParaRPr sz="2700"/>
          </a:p>
        </p:txBody>
      </p:sp>
      <p:pic>
        <p:nvPicPr>
          <p:cNvPr id="223" name="Google Shape;223;p25" title="knn_att_k_curv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9363" y="3058375"/>
            <a:ext cx="9354326" cy="5196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/>
        </p:nvSpPr>
        <p:spPr>
          <a:xfrm>
            <a:off x="0" y="353600"/>
            <a:ext cx="1703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Continued:</a:t>
            </a:r>
            <a:endParaRPr sz="2700"/>
          </a:p>
        </p:txBody>
      </p:sp>
      <p:sp>
        <p:nvSpPr>
          <p:cNvPr id="229" name="Google Shape;229;p26"/>
          <p:cNvSpPr txBox="1"/>
          <p:nvPr/>
        </p:nvSpPr>
        <p:spPr>
          <a:xfrm>
            <a:off x="211300" y="1277000"/>
            <a:ext cx="17038800" cy="77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Convolutional Neural Network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-5080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NTR"/>
              <a:buChar char="●"/>
            </a:pPr>
            <a:r>
              <a:rPr b="1" lang="en-US" sz="25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Convolutional Blocks:</a:t>
            </a:r>
            <a:r>
              <a:rPr lang="en-US" sz="25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The CNN has three convolutional blocks stacked in sequence. Each block applies a filter (32, 64, then 128 filters) that slides across the image looking for patterns — edges in block 1, facial features like eyes and nose in block 2, and higher-level face structure in block 3. After each block, Max Pooling halves the image size by keeping only the strongest signal in each 2×2 region, discarding the weaker ones. This progressively shrinks the spatial dimensions from 62×47 down to 7×5 while increasing the depth of features detected.</a:t>
            </a:r>
            <a:endParaRPr sz="25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230" name="Google Shape;23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65025" y="4426850"/>
            <a:ext cx="6156377" cy="3468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6"/>
          <p:cNvPicPr preferRelativeResize="0"/>
          <p:nvPr/>
        </p:nvPicPr>
        <p:blipFill rotWithShape="1">
          <a:blip r:embed="rId4">
            <a:alphaModFix/>
          </a:blip>
          <a:srcRect b="4290" l="9440" r="-9440" t="-4290"/>
          <a:stretch/>
        </p:blipFill>
        <p:spPr>
          <a:xfrm>
            <a:off x="680675" y="4475063"/>
            <a:ext cx="9705800" cy="337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/>
        </p:nvSpPr>
        <p:spPr>
          <a:xfrm>
            <a:off x="0" y="353600"/>
            <a:ext cx="17038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Continued:</a:t>
            </a:r>
            <a:endParaRPr sz="2700"/>
          </a:p>
        </p:txBody>
      </p:sp>
      <p:sp>
        <p:nvSpPr>
          <p:cNvPr id="237" name="Google Shape;237;p27"/>
          <p:cNvSpPr txBox="1"/>
          <p:nvPr/>
        </p:nvSpPr>
        <p:spPr>
          <a:xfrm>
            <a:off x="211300" y="1277000"/>
            <a:ext cx="8516700" cy="77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Convolutional Neural Network</a:t>
            </a:r>
            <a:endParaRPr i="1" sz="30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GAP (Global Average Pooling)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Averages each feature map into one value.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Converts feature maps into a small vector.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Reduces overfitting.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Replaces flattening layer.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Softmax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Converts outputs into probabilities.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Values between 0 and 1.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All outputs sum to 1.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Highest value = predicted class</a:t>
            </a:r>
            <a:r>
              <a:rPr lang="en-US" sz="1800"/>
              <a:t>.</a:t>
            </a:r>
            <a:endParaRPr b="1" sz="25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38" name="Google Shape;238;p27"/>
          <p:cNvSpPr txBox="1"/>
          <p:nvPr/>
        </p:nvSpPr>
        <p:spPr>
          <a:xfrm>
            <a:off x="8968975" y="1277000"/>
            <a:ext cx="8615400" cy="64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Convolution Operation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Slides a small filter (kernel) over the image.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Multiplies filter values with image pixels and adds them up.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Produces a new “feature map” showing patterns.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Helps detect features like edges, textures, and shapes.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Max Pooling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Keeps the strongest value in each region.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Reduces image size.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Removes noise/less important info.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Keeps key features.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8"/>
          <p:cNvSpPr txBox="1"/>
          <p:nvPr/>
        </p:nvSpPr>
        <p:spPr>
          <a:xfrm>
            <a:off x="1843075" y="1057600"/>
            <a:ext cx="14601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CNN </a:t>
            </a: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on LFW</a:t>
            </a:r>
            <a:endParaRPr sz="2700"/>
          </a:p>
        </p:txBody>
      </p:sp>
      <p:pic>
        <p:nvPicPr>
          <p:cNvPr id="244" name="Google Shape;244;p28" title="cnn_training_hist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089" y="2537543"/>
            <a:ext cx="14601825" cy="521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/>
          <p:nvPr/>
        </p:nvSpPr>
        <p:spPr>
          <a:xfrm>
            <a:off x="153350" y="305400"/>
            <a:ext cx="176559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Modeling (Training the Classifier) </a:t>
            </a:r>
            <a:endParaRPr sz="48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  <p:sp>
        <p:nvSpPr>
          <p:cNvPr id="250" name="Google Shape;250;p29"/>
          <p:cNvSpPr txBox="1"/>
          <p:nvPr/>
        </p:nvSpPr>
        <p:spPr>
          <a:xfrm>
            <a:off x="0" y="1697125"/>
            <a:ext cx="18288000" cy="74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accent6"/>
                </a:solidFill>
                <a:latin typeface="NTR"/>
                <a:ea typeface="NTR"/>
                <a:cs typeface="NTR"/>
                <a:sym typeface="NTR"/>
              </a:rPr>
              <a:t> Model Evaluation: Confusion Matrix Analysis" </a:t>
            </a:r>
            <a:r>
              <a:rPr b="1" i="1" lang="en-US" sz="3000">
                <a:solidFill>
                  <a:schemeClr val="accent6"/>
                </a:solidFill>
                <a:latin typeface="NTR"/>
                <a:ea typeface="NTR"/>
                <a:cs typeface="NTR"/>
                <a:sym typeface="NTR"/>
              </a:rPr>
              <a:t>SVM · KNN · CNN on AT&amp;T &amp; LFW Datasets</a:t>
            </a:r>
            <a:r>
              <a:rPr b="1" lang="en-US" sz="3000">
                <a:solidFill>
                  <a:schemeClr val="accent6"/>
                </a:solidFill>
                <a:latin typeface="NTR"/>
                <a:ea typeface="NTR"/>
                <a:cs typeface="NTR"/>
                <a:sym typeface="NTR"/>
              </a:rPr>
              <a:t> </a:t>
            </a:r>
            <a:endParaRPr b="1" sz="3000">
              <a:solidFill>
                <a:schemeClr val="accent6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We will compare the confusion matrix of SVM,KNN &amp; CNN for AT&amp;T and LFW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 confusion matrix shows how many times the model correctly identified a person (diagonal) vs. mistook one person for another </a:t>
            </a:r>
            <a:r>
              <a:rPr lang="en-US" sz="3000">
                <a:solidFill>
                  <a:schemeClr val="lt1"/>
                </a:solidFill>
                <a:highlight>
                  <a:srgbClr val="86C9CF"/>
                </a:highlight>
                <a:latin typeface="NTR"/>
                <a:ea typeface="NTR"/>
                <a:cs typeface="NTR"/>
                <a:sym typeface="NTR"/>
              </a:rPr>
              <a:t>(off-diagonal)</a:t>
            </a:r>
            <a:endParaRPr sz="3000">
              <a:solidFill>
                <a:schemeClr val="lt1"/>
              </a:solidFill>
              <a:highlight>
                <a:srgbClr val="86C9CF"/>
              </a:highlight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Each row represents the actual person; each column represents who the model predicted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 perfect model has all values on the diagonal and zeros everywhere else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○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For face recognition, off-diagonal errors mean the model confused one person's face with someone else's — which is the most critical failure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999">
              <a:solidFill>
                <a:schemeClr val="accent6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   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51" name="Google Shape;251;p29"/>
          <p:cNvSpPr txBox="1"/>
          <p:nvPr/>
        </p:nvSpPr>
        <p:spPr>
          <a:xfrm>
            <a:off x="0" y="0"/>
            <a:ext cx="1828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560875" y="5437725"/>
            <a:ext cx="4119900" cy="367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0"/>
          <p:cNvSpPr txBox="1"/>
          <p:nvPr/>
        </p:nvSpPr>
        <p:spPr>
          <a:xfrm>
            <a:off x="256350" y="0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SVM ON AT&amp;T</a:t>
            </a:r>
            <a:endParaRPr sz="2700"/>
          </a:p>
        </p:txBody>
      </p:sp>
      <p:sp>
        <p:nvSpPr>
          <p:cNvPr id="258" name="Google Shape;258;p30"/>
          <p:cNvSpPr txBox="1"/>
          <p:nvPr/>
        </p:nvSpPr>
        <p:spPr>
          <a:xfrm>
            <a:off x="9146450" y="0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SVM ON LFW</a:t>
            </a:r>
            <a:endParaRPr sz="2700"/>
          </a:p>
        </p:txBody>
      </p:sp>
      <p:pic>
        <p:nvPicPr>
          <p:cNvPr id="259" name="Google Shape;259;p30" title="svm_att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73600"/>
            <a:ext cx="9965527" cy="853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 title="svm_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65525" y="1675800"/>
            <a:ext cx="8322476" cy="693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/>
        </p:nvSpPr>
        <p:spPr>
          <a:xfrm>
            <a:off x="1349825" y="1289950"/>
            <a:ext cx="883920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66" name="Google Shape;266;p31"/>
          <p:cNvSpPr txBox="1"/>
          <p:nvPr/>
        </p:nvSpPr>
        <p:spPr>
          <a:xfrm>
            <a:off x="435425" y="1480450"/>
            <a:ext cx="7620000" cy="6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435425" y="251975"/>
            <a:ext cx="17020200" cy="94830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SVM EVALUATIONS</a:t>
            </a:r>
            <a:endParaRPr sz="6000">
              <a:solidFill>
                <a:schemeClr val="lt1"/>
              </a:solidFill>
              <a:highlight>
                <a:schemeClr val="dk1"/>
              </a:highlight>
              <a:latin typeface="Changa ExtraBold"/>
              <a:ea typeface="Changa ExtraBold"/>
              <a:cs typeface="Changa ExtraBold"/>
              <a:sym typeface="Changa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Changa ExtraBold"/>
              <a:ea typeface="Changa ExtraBold"/>
              <a:cs typeface="Changa ExtraBold"/>
              <a:sym typeface="Changa ExtraBold"/>
            </a:endParaRPr>
          </a:p>
        </p:txBody>
      </p:sp>
      <p:sp>
        <p:nvSpPr>
          <p:cNvPr id="268" name="Google Shape;268;p31"/>
          <p:cNvSpPr txBox="1"/>
          <p:nvPr/>
        </p:nvSpPr>
        <p:spPr>
          <a:xfrm>
            <a:off x="435425" y="1344450"/>
            <a:ext cx="8267700" cy="56154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AT&amp;T SVM (96.25%)</a:t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96.25% accuracy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— only 3 out of 80 test faces misclassified; confusion matrix is nearly all diagonal (C=5, gamma=0.01, PCA=30 components)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AT&amp;T is a 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controlled dataset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(same lighting, background, only expressions vary) — ideal conditions for SVM's RBF kernel to draw clean boundaries between 40 subjects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Best hyperparameters found by grid search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across C and gamma values — the C-Gamma heatmap in the code shows why C=5, gamma=0.01 won over other combinations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69" name="Google Shape;269;p31"/>
          <p:cNvSpPr txBox="1"/>
          <p:nvPr/>
        </p:nvSpPr>
        <p:spPr>
          <a:xfrm>
            <a:off x="1083125" y="6858000"/>
            <a:ext cx="7620000" cy="2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pic>
        <p:nvPicPr>
          <p:cNvPr id="270" name="Google Shape;27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0150" y="7104025"/>
            <a:ext cx="8267701" cy="2291828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1"/>
          <p:cNvSpPr txBox="1"/>
          <p:nvPr/>
        </p:nvSpPr>
        <p:spPr>
          <a:xfrm>
            <a:off x="9210075" y="1344450"/>
            <a:ext cx="8518800" cy="5229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LFW SVM (55.28%)</a:t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Result: 55.28% accuracy — best LFW model by a large margin (15+ percentage points above KNN and RF). CV mean 57.29% ±1.76% nearly matches test accuracy — the model is stable and not overfitting, it has simply hit the ceiling of what PCA+SVM can do with 36–52 training images per person under real-world variation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confusion matrix has a visible but imperfect diagonal — some subjects are consistently confused with each other, likely those with similar hairstyles or skin tone in PCA space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13558975" y="7638450"/>
            <a:ext cx="3406800" cy="9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u="sng">
                <a:solidFill>
                  <a:schemeClr val="hlink"/>
                </a:solidFill>
                <a:highlight>
                  <a:schemeClr val="lt1"/>
                </a:highlight>
                <a:latin typeface="NTR"/>
                <a:ea typeface="NTR"/>
                <a:cs typeface="NTR"/>
                <a:sym typeface="NTR"/>
                <a:hlinkClick r:id="rId4"/>
              </a:rPr>
              <a:t>Code link</a:t>
            </a:r>
            <a:endParaRPr sz="4800">
              <a:solidFill>
                <a:schemeClr val="lt1"/>
              </a:solidFill>
              <a:highlight>
                <a:schemeClr val="lt1"/>
              </a:highlight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p32" title="knn_att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50" y="906026"/>
            <a:ext cx="9889900" cy="847495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2"/>
          <p:cNvSpPr txBox="1"/>
          <p:nvPr/>
        </p:nvSpPr>
        <p:spPr>
          <a:xfrm>
            <a:off x="434300" y="0"/>
            <a:ext cx="9889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KNN on AT&amp;T</a:t>
            </a:r>
            <a:endParaRPr sz="2700"/>
          </a:p>
        </p:txBody>
      </p:sp>
      <p:pic>
        <p:nvPicPr>
          <p:cNvPr id="279" name="Google Shape;279;p32" title="knn_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24250" y="1952275"/>
            <a:ext cx="7658951" cy="638245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2"/>
          <p:cNvSpPr txBox="1"/>
          <p:nvPr/>
        </p:nvSpPr>
        <p:spPr>
          <a:xfrm>
            <a:off x="10324250" y="923400"/>
            <a:ext cx="7659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KNN on LFW</a:t>
            </a:r>
            <a:endParaRPr sz="2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3"/>
          <p:cNvSpPr txBox="1"/>
          <p:nvPr/>
        </p:nvSpPr>
        <p:spPr>
          <a:xfrm>
            <a:off x="1349825" y="1289950"/>
            <a:ext cx="883920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86" name="Google Shape;286;p33"/>
          <p:cNvSpPr txBox="1"/>
          <p:nvPr/>
        </p:nvSpPr>
        <p:spPr>
          <a:xfrm>
            <a:off x="435425" y="1480450"/>
            <a:ext cx="7620000" cy="6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87" name="Google Shape;287;p33"/>
          <p:cNvSpPr txBox="1"/>
          <p:nvPr/>
        </p:nvSpPr>
        <p:spPr>
          <a:xfrm>
            <a:off x="435425" y="251975"/>
            <a:ext cx="17020200" cy="94830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KNN</a:t>
            </a: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 EVALUATIONS</a:t>
            </a:r>
            <a:endParaRPr sz="6000">
              <a:solidFill>
                <a:schemeClr val="lt1"/>
              </a:solidFill>
              <a:highlight>
                <a:schemeClr val="dk1"/>
              </a:highlight>
              <a:latin typeface="Changa ExtraBold"/>
              <a:ea typeface="Changa ExtraBold"/>
              <a:cs typeface="Changa ExtraBold"/>
              <a:sym typeface="Changa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Changa ExtraBold"/>
              <a:ea typeface="Changa ExtraBold"/>
              <a:cs typeface="Changa ExtraBold"/>
              <a:sym typeface="Changa ExtraBold"/>
            </a:endParaRPr>
          </a:p>
        </p:txBody>
      </p:sp>
      <p:sp>
        <p:nvSpPr>
          <p:cNvPr id="288" name="Google Shape;288;p33"/>
          <p:cNvSpPr txBox="1"/>
          <p:nvPr/>
        </p:nvSpPr>
        <p:spPr>
          <a:xfrm>
            <a:off x="435425" y="1344450"/>
            <a:ext cx="8267700" cy="682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AT&amp;T KNN (</a:t>
            </a: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98.75%)</a:t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Result: 98.75% accuracy — highest on AT&amp;T, only 1 face misclassified out of 80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BUT: cross-validation mean was only 82.24% with high std (±8.75%) — this means the model is sensitive to which images end up in the test set (overfitting risk on small data)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just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confusion matrix shows one single off-diagonal entry — almost perfect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89" name="Google Shape;289;p33"/>
          <p:cNvSpPr txBox="1"/>
          <p:nvPr/>
        </p:nvSpPr>
        <p:spPr>
          <a:xfrm>
            <a:off x="1083125" y="6858000"/>
            <a:ext cx="7620000" cy="25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290" name="Google Shape;290;p33"/>
          <p:cNvSpPr txBox="1"/>
          <p:nvPr/>
        </p:nvSpPr>
        <p:spPr>
          <a:xfrm>
            <a:off x="9210075" y="1344450"/>
            <a:ext cx="8518800" cy="682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LFW KNN (39.02%)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Result: 39.02% accuracy — optimal K jumped from 1 (AT&amp;T) to 19 (LFW), meaning the model needs to consult 19 neighbours just to average out the noise. CV mean 37.78% ±2.48% closely matches test accuracy — no overfitting, just a hard problem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The confusion matrix is more diffuse than SVM with errors scattered across many subjects — cosine distance in 160-dimensional PCA space struggles to reliably separate subjects whose photos vary widely in lighting and pose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/>
          <p:nvPr/>
        </p:nvSpPr>
        <p:spPr>
          <a:xfrm>
            <a:off x="256188" y="203500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RF ON AT&amp;T</a:t>
            </a:r>
            <a:endParaRPr sz="2700"/>
          </a:p>
        </p:txBody>
      </p:sp>
      <p:sp>
        <p:nvSpPr>
          <p:cNvPr id="296" name="Google Shape;296;p34"/>
          <p:cNvSpPr txBox="1"/>
          <p:nvPr/>
        </p:nvSpPr>
        <p:spPr>
          <a:xfrm>
            <a:off x="9265675" y="203500"/>
            <a:ext cx="86316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RF</a:t>
            </a:r>
            <a:r>
              <a:rPr lang="en-US" sz="27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 ON LFW</a:t>
            </a:r>
            <a:endParaRPr sz="2700"/>
          </a:p>
        </p:txBody>
      </p:sp>
      <p:pic>
        <p:nvPicPr>
          <p:cNvPr id="297" name="Google Shape;297;p34" title="rf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6425" y="1776187"/>
            <a:ext cx="8081577" cy="673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34" title="rf_att_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70400"/>
            <a:ext cx="10206423" cy="87462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5"/>
          <p:cNvSpPr txBox="1"/>
          <p:nvPr/>
        </p:nvSpPr>
        <p:spPr>
          <a:xfrm>
            <a:off x="1349825" y="1289950"/>
            <a:ext cx="883920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304" name="Google Shape;304;p35"/>
          <p:cNvSpPr txBox="1"/>
          <p:nvPr/>
        </p:nvSpPr>
        <p:spPr>
          <a:xfrm>
            <a:off x="435425" y="1480450"/>
            <a:ext cx="7620000" cy="6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305" name="Google Shape;305;p35"/>
          <p:cNvSpPr txBox="1"/>
          <p:nvPr/>
        </p:nvSpPr>
        <p:spPr>
          <a:xfrm>
            <a:off x="435425" y="251975"/>
            <a:ext cx="17020200" cy="94830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RF</a:t>
            </a: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 EVALUATIONS</a:t>
            </a:r>
            <a:endParaRPr sz="6000">
              <a:solidFill>
                <a:schemeClr val="lt1"/>
              </a:solidFill>
              <a:highlight>
                <a:schemeClr val="dk1"/>
              </a:highlight>
              <a:latin typeface="Changa ExtraBold"/>
              <a:ea typeface="Changa ExtraBold"/>
              <a:cs typeface="Changa ExtraBold"/>
              <a:sym typeface="Changa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Changa ExtraBold"/>
              <a:ea typeface="Changa ExtraBold"/>
              <a:cs typeface="Changa ExtraBold"/>
              <a:sym typeface="Changa ExtraBold"/>
            </a:endParaRPr>
          </a:p>
        </p:txBody>
      </p:sp>
      <p:sp>
        <p:nvSpPr>
          <p:cNvPr id="306" name="Google Shape;306;p35"/>
          <p:cNvSpPr txBox="1"/>
          <p:nvPr/>
        </p:nvSpPr>
        <p:spPr>
          <a:xfrm>
            <a:off x="435425" y="1344450"/>
            <a:ext cx="8267700" cy="682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AT&amp;T RF (92.50%)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Result: 92.50% accuracy — 6 faces misclassified out of 80, the weakest AT&amp;T model. CV mean 94.06% ±1.82% is stable and slightly above test accuracy — no overfitting concern, just a genuine performance ceiling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Feature importance shows classification concentrates almost entirely in PC1–PC10 out of 70 components — the other 60 components contribute noise. 700 trees with log2 feature subsampling was needed to get the best diversity out of only 320 training images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307" name="Google Shape;307;p35"/>
          <p:cNvSpPr txBox="1"/>
          <p:nvPr/>
        </p:nvSpPr>
        <p:spPr>
          <a:xfrm>
            <a:off x="9210075" y="1344450"/>
            <a:ext cx="8518800" cy="682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LFW RF (40.24%)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Result: 40.24% accuracy — effectively tied with KNN despite using a completely different mechanism. CV mean 41.08% ±3.86% is the highest std of the three classical LFW models — RF is more sensitive to which training fold it gets, consistent with the randomness of its tree-building process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Feature importances are more spread out than AT&amp;T, meaning the model needed components across a wider range to discriminate 19 real-world subjects — confirming that real-world faces require broader feature coverage than controlled ones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 txBox="1"/>
          <p:nvPr/>
        </p:nvSpPr>
        <p:spPr>
          <a:xfrm>
            <a:off x="5412900" y="105100"/>
            <a:ext cx="7462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CNN on LFW</a:t>
            </a:r>
            <a:endParaRPr sz="2700"/>
          </a:p>
        </p:txBody>
      </p:sp>
      <p:pic>
        <p:nvPicPr>
          <p:cNvPr id="313" name="Google Shape;313;p36" title="cnn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8550" y="1145513"/>
            <a:ext cx="9330898" cy="7995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/>
          <p:nvPr/>
        </p:nvSpPr>
        <p:spPr>
          <a:xfrm>
            <a:off x="1349825" y="1289950"/>
            <a:ext cx="8839200" cy="34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319" name="Google Shape;319;p37"/>
          <p:cNvSpPr txBox="1"/>
          <p:nvPr/>
        </p:nvSpPr>
        <p:spPr>
          <a:xfrm>
            <a:off x="435425" y="1480450"/>
            <a:ext cx="7620000" cy="68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  <p:sp>
        <p:nvSpPr>
          <p:cNvPr id="320" name="Google Shape;320;p37"/>
          <p:cNvSpPr txBox="1"/>
          <p:nvPr/>
        </p:nvSpPr>
        <p:spPr>
          <a:xfrm>
            <a:off x="435425" y="251975"/>
            <a:ext cx="17020200" cy="94830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CNN</a:t>
            </a:r>
            <a:r>
              <a:rPr b="1"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 EVALUATION</a:t>
            </a:r>
            <a:endParaRPr sz="6000">
              <a:solidFill>
                <a:schemeClr val="lt1"/>
              </a:solidFill>
              <a:highlight>
                <a:schemeClr val="dk1"/>
              </a:highlight>
              <a:latin typeface="Changa ExtraBold"/>
              <a:ea typeface="Changa ExtraBold"/>
              <a:cs typeface="Changa ExtraBold"/>
              <a:sym typeface="Changa Extra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0">
              <a:solidFill>
                <a:schemeClr val="lt1"/>
              </a:solidFill>
              <a:latin typeface="Changa ExtraBold"/>
              <a:ea typeface="Changa ExtraBold"/>
              <a:cs typeface="Changa ExtraBold"/>
              <a:sym typeface="Changa ExtraBold"/>
            </a:endParaRPr>
          </a:p>
        </p:txBody>
      </p:sp>
      <p:sp>
        <p:nvSpPr>
          <p:cNvPr id="321" name="Google Shape;321;p37"/>
          <p:cNvSpPr txBox="1"/>
          <p:nvPr/>
        </p:nvSpPr>
        <p:spPr>
          <a:xfrm>
            <a:off x="3290075" y="1733100"/>
            <a:ext cx="11310900" cy="6820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LFW CNN (8.13%)</a:t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Result: 8.13% accuracy — barely above the 5.26% random chance baseline for 19 classes. Precision was 0.43% meaning nearly every prediction was wrong even when the model committed to a class — it predicted one or two dominant subjects for almost all 246 test images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Training and validation loss were identical from epoch 1, confirming the model never learned anything at all. No amount of architectural tuning fixes this — the root cause is 36–52 training images per person against a minimum requirement of roughly 1,000+</a:t>
            </a:r>
            <a:endParaRPr sz="3000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8"/>
          <p:cNvSpPr txBox="1"/>
          <p:nvPr/>
        </p:nvSpPr>
        <p:spPr>
          <a:xfrm>
            <a:off x="0" y="105100"/>
            <a:ext cx="1839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Comparison between all 7 models</a:t>
            </a:r>
            <a:endParaRPr sz="2700"/>
          </a:p>
        </p:txBody>
      </p:sp>
      <p:pic>
        <p:nvPicPr>
          <p:cNvPr id="327" name="Google Shape;327;p38" title="comparison_accurac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63" y="1028512"/>
            <a:ext cx="9108275" cy="39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38" title="comparison_train_ti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26150" y="2362813"/>
            <a:ext cx="9268950" cy="55613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38" title="comparison_cv_vs_tes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75" y="4933300"/>
            <a:ext cx="9108275" cy="4554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9"/>
          <p:cNvSpPr txBox="1"/>
          <p:nvPr/>
        </p:nvSpPr>
        <p:spPr>
          <a:xfrm>
            <a:off x="0" y="105100"/>
            <a:ext cx="18395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Comparison between all 7 models</a:t>
            </a:r>
            <a:endParaRPr sz="2700"/>
          </a:p>
        </p:txBody>
      </p:sp>
      <p:pic>
        <p:nvPicPr>
          <p:cNvPr id="335" name="Google Shape;335;p39" title="comparison_metrics_at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" y="4431412"/>
            <a:ext cx="9143955" cy="4571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9" title="comparison_metrics_lf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44025" y="4431425"/>
            <a:ext cx="9143955" cy="4571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283600"/>
            <a:ext cx="18288001" cy="31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 txBox="1"/>
          <p:nvPr/>
        </p:nvSpPr>
        <p:spPr>
          <a:xfrm>
            <a:off x="913250" y="569100"/>
            <a:ext cx="15993600" cy="84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accent6"/>
                </a:solidFill>
                <a:latin typeface="Changa"/>
                <a:ea typeface="Changa"/>
                <a:cs typeface="Changa"/>
                <a:sym typeface="Changa"/>
              </a:rPr>
              <a:t>Comparison Summary:</a:t>
            </a:r>
            <a:endParaRPr sz="6000">
              <a:solidFill>
                <a:srgbClr val="59FF8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SVM wins both datasets — 96.25% AT&amp;T, 55.28% LFW — lowest CV std (±1.76% on LFW), fastest training (0.13s), most stable generalisation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KNN is fastest (0s train) but most fragile — best single result (98.75% AT&amp;T, K=1) but worst classical on LFW (39.02%, K=19) — biggest drop of any model (−59.73pp)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RF is consistent but never dominant — 3rd on both datasets, highest CV std (±3.86% LFW), needed 700 trees, feature importance shows only top 10 PCA components matter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CNN failed completely — 8.13% LFW (barely above 5.26% random chance), train and val loss identical from epoch 1 — root cause is data starvation (36–52 train images vs 1,000+ needed)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AT&amp;T is easy, LFW is hard — controlled vs real-world: every model drops 40–60pp between datasets, gap is not a bug but the expected cost of unconstrained face recognition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Classical methods hit a ceiling at ~40% on LFW — all three models converge to the same floor regardless of algorithm choice — bottleneck is data, not model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To break through the ceiling — transfer learning (FaceNet, ArcFace) trained on millions of images is the only realistic path forward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1"/>
          <p:cNvSpPr txBox="1"/>
          <p:nvPr/>
        </p:nvSpPr>
        <p:spPr>
          <a:xfrm>
            <a:off x="873150" y="734225"/>
            <a:ext cx="16133100" cy="14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Deep Learning: </a:t>
            </a:r>
            <a:r>
              <a:rPr lang="en-US" sz="5000">
                <a:solidFill>
                  <a:srgbClr val="59FF82"/>
                </a:solidFill>
                <a:latin typeface="Changa Light"/>
                <a:ea typeface="Changa Light"/>
                <a:cs typeface="Changa Light"/>
                <a:sym typeface="Changa Light"/>
              </a:rPr>
              <a:t>CNN (Convolutional Neural Network) </a:t>
            </a:r>
            <a:endParaRPr sz="9800">
              <a:solidFill>
                <a:srgbClr val="59FF82"/>
              </a:solidFill>
              <a:latin typeface="Changa Light"/>
              <a:ea typeface="Changa Light"/>
              <a:cs typeface="Changa Light"/>
              <a:sym typeface="Changa Light"/>
            </a:endParaRPr>
          </a:p>
        </p:txBody>
      </p:sp>
      <p:sp>
        <p:nvSpPr>
          <p:cNvPr id="348" name="Google Shape;348;p41"/>
          <p:cNvSpPr txBox="1"/>
          <p:nvPr/>
        </p:nvSpPr>
        <p:spPr>
          <a:xfrm>
            <a:off x="873125" y="2303150"/>
            <a:ext cx="16133100" cy="40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3 Major Reasons Why It Failed:</a:t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AutoNum type="arabicPeriod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Insufficient Data Per Person: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Many subjects in LFW have only one image, making it impossible for the model to "learn" their features and then "test" them later.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AutoNum type="arabicPeriod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Extreme Variation: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Unlike the controlled AT&amp;T set, LFW includes variations in lighting, pose, and background that simple linear models (SVM/KNN) struggle to filter out.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AutoNum type="arabicPeriod"/>
            </a:pPr>
            <a:r>
              <a:rPr b="1"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Data Leakage/Mismatch:</a:t>
            </a: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 If the training set doesn't have enough variety for each class, the model cannot generalize to the test images.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2"/>
          <p:cNvSpPr txBox="1"/>
          <p:nvPr/>
        </p:nvSpPr>
        <p:spPr>
          <a:xfrm>
            <a:off x="873125" y="178600"/>
            <a:ext cx="16133100" cy="148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KEY FINDINGS</a:t>
            </a:r>
            <a:endParaRPr sz="6000">
              <a:solidFill>
                <a:srgbClr val="59FF82"/>
              </a:solidFill>
              <a:latin typeface="Changa Light"/>
              <a:ea typeface="Changa Light"/>
              <a:cs typeface="Changa Light"/>
              <a:sym typeface="Changa Light"/>
            </a:endParaRPr>
          </a:p>
        </p:txBody>
      </p:sp>
      <p:sp>
        <p:nvSpPr>
          <p:cNvPr id="354" name="Google Shape;354;p42"/>
          <p:cNvSpPr txBox="1"/>
          <p:nvPr/>
        </p:nvSpPr>
        <p:spPr>
          <a:xfrm>
            <a:off x="873125" y="1666900"/>
            <a:ext cx="16133100" cy="7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SVM is the best classical model — ranked first on both datasets, most stable CV, best accuracy-to-time ratio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The controlled-to-real-world gap is large — every model dropped 40–60pp from AT&amp;T to LFW, this is the cost of real-world variation not a tuning problem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KNN is unreliable under variation — best single result (98.75%) but worst classical on LFW (39.02%), K jumping from 1 to 19 measures exactly how much the nearest-neighbour assumption breaks down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Only ~10 Eigenfaces actually matter — RF importance showed higher-order components add noise not signal, on both datasets regardless of how many were available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CNN needs ~100x more data — 36–52 training images vs 1,000+ required, confirmed by identical train/val loss from epoch 1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Stability matters as much as accuracy — KNN had the highest peak (98.75%) but worst CV std (±8.75%), SVM had lower peak but far better stability (±1.59%)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TR"/>
              <a:buChar char="●"/>
            </a:pPr>
            <a:r>
              <a:rPr lang="en-US" sz="3000">
                <a:solidFill>
                  <a:schemeClr val="lt1"/>
                </a:solidFill>
                <a:latin typeface="NTR"/>
                <a:ea typeface="NTR"/>
                <a:cs typeface="NTR"/>
                <a:sym typeface="NTR"/>
              </a:rPr>
              <a:t>~40% is the classical ceiling on LFW — all three classical models converged there regardless of algorithm, only transfer learning can break through</a:t>
            </a:r>
            <a:endParaRPr sz="3000">
              <a:solidFill>
                <a:schemeClr val="lt1"/>
              </a:solidFill>
              <a:latin typeface="NTR"/>
              <a:ea typeface="NTR"/>
              <a:cs typeface="NTR"/>
              <a:sym typeface="NTR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3"/>
          <p:cNvSpPr txBox="1"/>
          <p:nvPr/>
        </p:nvSpPr>
        <p:spPr>
          <a:xfrm>
            <a:off x="1077450" y="4118550"/>
            <a:ext cx="16133100" cy="20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Thank you for listening to our presentation!</a:t>
            </a:r>
            <a:endParaRPr sz="59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900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Any Questions?</a:t>
            </a:r>
            <a:endParaRPr sz="5900">
              <a:solidFill>
                <a:srgbClr val="59FF82"/>
              </a:solidFill>
              <a:latin typeface="Changa"/>
              <a:ea typeface="Changa"/>
              <a:cs typeface="Changa"/>
              <a:sym typeface="Chang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4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5" name="Google Shape;365;p44"/>
          <p:cNvSpPr/>
          <p:nvPr/>
        </p:nvSpPr>
        <p:spPr>
          <a:xfrm>
            <a:off x="9847488" y="1267443"/>
            <a:ext cx="7698109" cy="7990549"/>
          </a:xfrm>
          <a:custGeom>
            <a:rect b="b" l="l" r="r" t="t"/>
            <a:pathLst>
              <a:path extrusionOk="0" h="3302906" w="3182025">
                <a:moveTo>
                  <a:pt x="3165896" y="186309"/>
                </a:moveTo>
                <a:cubicBezTo>
                  <a:pt x="3165515" y="125349"/>
                  <a:pt x="3174913" y="8509"/>
                  <a:pt x="3174913" y="8509"/>
                </a:cubicBezTo>
                <a:lnTo>
                  <a:pt x="3030006" y="6223"/>
                </a:lnTo>
                <a:lnTo>
                  <a:pt x="2824520" y="16002"/>
                </a:lnTo>
                <a:cubicBezTo>
                  <a:pt x="2824520" y="16002"/>
                  <a:pt x="2490891" y="0"/>
                  <a:pt x="2459014" y="14986"/>
                </a:cubicBezTo>
                <a:cubicBezTo>
                  <a:pt x="2427010" y="29972"/>
                  <a:pt x="2361097" y="6223"/>
                  <a:pt x="2361097" y="6223"/>
                </a:cubicBezTo>
                <a:lnTo>
                  <a:pt x="931164" y="4318"/>
                </a:lnTo>
                <a:lnTo>
                  <a:pt x="640207" y="3556"/>
                </a:lnTo>
                <a:lnTo>
                  <a:pt x="413258" y="11430"/>
                </a:lnTo>
                <a:lnTo>
                  <a:pt x="149479" y="10668"/>
                </a:lnTo>
                <a:lnTo>
                  <a:pt x="49403" y="1905"/>
                </a:lnTo>
                <a:cubicBezTo>
                  <a:pt x="33528" y="1905"/>
                  <a:pt x="20701" y="14605"/>
                  <a:pt x="20701" y="30480"/>
                </a:cubicBezTo>
                <a:lnTo>
                  <a:pt x="36957" y="275590"/>
                </a:lnTo>
                <a:lnTo>
                  <a:pt x="19177" y="546989"/>
                </a:lnTo>
                <a:lnTo>
                  <a:pt x="17018" y="2657238"/>
                </a:lnTo>
                <a:lnTo>
                  <a:pt x="25019" y="2836054"/>
                </a:lnTo>
                <a:cubicBezTo>
                  <a:pt x="25019" y="2836054"/>
                  <a:pt x="0" y="2877202"/>
                  <a:pt x="16002" y="3037222"/>
                </a:cubicBezTo>
                <a:cubicBezTo>
                  <a:pt x="32004" y="3197242"/>
                  <a:pt x="49276" y="3292492"/>
                  <a:pt x="49276" y="3292492"/>
                </a:cubicBezTo>
                <a:lnTo>
                  <a:pt x="132842" y="3292746"/>
                </a:lnTo>
                <a:lnTo>
                  <a:pt x="305562" y="3276236"/>
                </a:lnTo>
                <a:lnTo>
                  <a:pt x="532511" y="3293762"/>
                </a:lnTo>
                <a:lnTo>
                  <a:pt x="771144" y="3302906"/>
                </a:lnTo>
                <a:lnTo>
                  <a:pt x="906526" y="3277760"/>
                </a:lnTo>
                <a:lnTo>
                  <a:pt x="1008761" y="3295032"/>
                </a:lnTo>
                <a:lnTo>
                  <a:pt x="2425867" y="3296937"/>
                </a:lnTo>
                <a:lnTo>
                  <a:pt x="2668818" y="3297572"/>
                </a:lnTo>
                <a:lnTo>
                  <a:pt x="2905673" y="3287920"/>
                </a:lnTo>
                <a:lnTo>
                  <a:pt x="3091982" y="3298715"/>
                </a:lnTo>
                <a:lnTo>
                  <a:pt x="3169452" y="3298969"/>
                </a:lnTo>
                <a:lnTo>
                  <a:pt x="3169833" y="3151014"/>
                </a:lnTo>
                <a:lnTo>
                  <a:pt x="3170087" y="3037349"/>
                </a:lnTo>
                <a:lnTo>
                  <a:pt x="3162213" y="2831863"/>
                </a:lnTo>
                <a:lnTo>
                  <a:pt x="3171103" y="2663715"/>
                </a:lnTo>
                <a:lnTo>
                  <a:pt x="3172881" y="671576"/>
                </a:lnTo>
                <a:lnTo>
                  <a:pt x="3182025" y="424561"/>
                </a:lnTo>
                <a:cubicBezTo>
                  <a:pt x="3182025" y="424561"/>
                  <a:pt x="3166023" y="247015"/>
                  <a:pt x="3165642" y="186055"/>
                </a:cubicBezTo>
                <a:close/>
              </a:path>
            </a:pathLst>
          </a:custGeom>
          <a:solidFill>
            <a:srgbClr val="F6EE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6" name="Google Shape;366;p44"/>
          <p:cNvCxnSpPr/>
          <p:nvPr/>
        </p:nvCxnSpPr>
        <p:spPr>
          <a:xfrm rot="10800000">
            <a:off x="10988467" y="2213431"/>
            <a:ext cx="0" cy="5564118"/>
          </a:xfrm>
          <a:prstGeom prst="straightConnector1">
            <a:avLst/>
          </a:prstGeom>
          <a:noFill/>
          <a:ln cap="rnd" cmpd="sng" w="38100">
            <a:solidFill>
              <a:srgbClr val="2E2C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7" name="Google Shape;367;p44"/>
          <p:cNvCxnSpPr/>
          <p:nvPr/>
        </p:nvCxnSpPr>
        <p:spPr>
          <a:xfrm>
            <a:off x="10975320" y="7758136"/>
            <a:ext cx="5564118" cy="0"/>
          </a:xfrm>
          <a:prstGeom prst="straightConnector1">
            <a:avLst/>
          </a:prstGeom>
          <a:noFill/>
          <a:ln cap="rnd" cmpd="sng" w="38100">
            <a:solidFill>
              <a:srgbClr val="573221"/>
            </a:solidFill>
            <a:prstDash val="solid"/>
            <a:round/>
            <a:headEnd len="sm" w="sm" type="none"/>
            <a:tailEnd len="med" w="med" type="triangle"/>
          </a:ln>
        </p:spPr>
      </p:cxnSp>
      <p:grpSp>
        <p:nvGrpSpPr>
          <p:cNvPr id="368" name="Google Shape;368;p44"/>
          <p:cNvGrpSpPr/>
          <p:nvPr/>
        </p:nvGrpSpPr>
        <p:grpSpPr>
          <a:xfrm>
            <a:off x="10975320" y="2214760"/>
            <a:ext cx="5564118" cy="5564118"/>
            <a:chOff x="0" y="0"/>
            <a:chExt cx="7418825" cy="7418825"/>
          </a:xfrm>
        </p:grpSpPr>
        <p:cxnSp>
          <p:nvCxnSpPr>
            <p:cNvPr id="369" name="Google Shape;369;p44"/>
            <p:cNvCxnSpPr/>
            <p:nvPr/>
          </p:nvCxnSpPr>
          <p:spPr>
            <a:xfrm>
              <a:off x="0" y="6326357"/>
              <a:ext cx="7418825" cy="0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0" name="Google Shape;370;p44"/>
            <p:cNvCxnSpPr/>
            <p:nvPr/>
          </p:nvCxnSpPr>
          <p:spPr>
            <a:xfrm>
              <a:off x="0" y="5271899"/>
              <a:ext cx="7418825" cy="0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" name="Google Shape;371;p44"/>
            <p:cNvCxnSpPr/>
            <p:nvPr/>
          </p:nvCxnSpPr>
          <p:spPr>
            <a:xfrm>
              <a:off x="0" y="4217441"/>
              <a:ext cx="7418825" cy="0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2" name="Google Shape;372;p44"/>
            <p:cNvCxnSpPr/>
            <p:nvPr/>
          </p:nvCxnSpPr>
          <p:spPr>
            <a:xfrm>
              <a:off x="0" y="3162983"/>
              <a:ext cx="7418825" cy="0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3" name="Google Shape;373;p44"/>
            <p:cNvCxnSpPr/>
            <p:nvPr/>
          </p:nvCxnSpPr>
          <p:spPr>
            <a:xfrm>
              <a:off x="0" y="2108525"/>
              <a:ext cx="7418825" cy="0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4" name="Google Shape;374;p44"/>
            <p:cNvCxnSpPr/>
            <p:nvPr/>
          </p:nvCxnSpPr>
          <p:spPr>
            <a:xfrm>
              <a:off x="0" y="1054067"/>
              <a:ext cx="7418825" cy="0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5" name="Google Shape;375;p44"/>
            <p:cNvCxnSpPr/>
            <p:nvPr/>
          </p:nvCxnSpPr>
          <p:spPr>
            <a:xfrm rot="10800000">
              <a:off x="6335203" y="0"/>
              <a:ext cx="0" cy="7418825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6" name="Google Shape;376;p44"/>
            <p:cNvCxnSpPr/>
            <p:nvPr/>
          </p:nvCxnSpPr>
          <p:spPr>
            <a:xfrm rot="10800000">
              <a:off x="5280745" y="0"/>
              <a:ext cx="0" cy="7418825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44"/>
            <p:cNvCxnSpPr/>
            <p:nvPr/>
          </p:nvCxnSpPr>
          <p:spPr>
            <a:xfrm rot="10800000">
              <a:off x="4226287" y="0"/>
              <a:ext cx="0" cy="7418825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44"/>
            <p:cNvCxnSpPr/>
            <p:nvPr/>
          </p:nvCxnSpPr>
          <p:spPr>
            <a:xfrm rot="10800000">
              <a:off x="3171830" y="0"/>
              <a:ext cx="0" cy="7418825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9" name="Google Shape;379;p44"/>
            <p:cNvCxnSpPr/>
            <p:nvPr/>
          </p:nvCxnSpPr>
          <p:spPr>
            <a:xfrm rot="10800000">
              <a:off x="2117372" y="0"/>
              <a:ext cx="0" cy="7418825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44"/>
            <p:cNvCxnSpPr/>
            <p:nvPr/>
          </p:nvCxnSpPr>
          <p:spPr>
            <a:xfrm rot="10800000">
              <a:off x="1062914" y="0"/>
              <a:ext cx="0" cy="7418825"/>
            </a:xfrm>
            <a:prstGeom prst="straightConnector1">
              <a:avLst/>
            </a:prstGeom>
            <a:noFill/>
            <a:ln cap="rnd" cmpd="sng" w="25400">
              <a:solidFill>
                <a:srgbClr val="2E2C2B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81" name="Google Shape;381;p44"/>
          <p:cNvGrpSpPr/>
          <p:nvPr/>
        </p:nvGrpSpPr>
        <p:grpSpPr>
          <a:xfrm>
            <a:off x="11677255" y="6872043"/>
            <a:ext cx="190500" cy="190500"/>
            <a:chOff x="0" y="0"/>
            <a:chExt cx="812800" cy="812800"/>
          </a:xfrm>
        </p:grpSpPr>
        <p:sp>
          <p:nvSpPr>
            <p:cNvPr id="382" name="Google Shape;382;p4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37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4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4" name="Google Shape;384;p44"/>
          <p:cNvGrpSpPr/>
          <p:nvPr/>
        </p:nvGrpSpPr>
        <p:grpSpPr>
          <a:xfrm>
            <a:off x="12468098" y="6079646"/>
            <a:ext cx="190500" cy="190500"/>
            <a:chOff x="0" y="0"/>
            <a:chExt cx="812800" cy="812800"/>
          </a:xfrm>
        </p:grpSpPr>
        <p:sp>
          <p:nvSpPr>
            <p:cNvPr id="385" name="Google Shape;385;p4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37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4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87" name="Google Shape;387;p44"/>
          <p:cNvGrpSpPr/>
          <p:nvPr/>
        </p:nvGrpSpPr>
        <p:grpSpPr>
          <a:xfrm>
            <a:off x="13258942" y="5287250"/>
            <a:ext cx="190500" cy="190500"/>
            <a:chOff x="0" y="0"/>
            <a:chExt cx="812800" cy="812800"/>
          </a:xfrm>
        </p:grpSpPr>
        <p:sp>
          <p:nvSpPr>
            <p:cNvPr id="388" name="Google Shape;388;p4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37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4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44"/>
          <p:cNvGrpSpPr/>
          <p:nvPr/>
        </p:nvGrpSpPr>
        <p:grpSpPr>
          <a:xfrm>
            <a:off x="14049785" y="4494853"/>
            <a:ext cx="190500" cy="190500"/>
            <a:chOff x="0" y="0"/>
            <a:chExt cx="812800" cy="812800"/>
          </a:xfrm>
        </p:grpSpPr>
        <p:sp>
          <p:nvSpPr>
            <p:cNvPr id="391" name="Google Shape;391;p4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37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4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3" name="Google Shape;393;p44"/>
          <p:cNvGrpSpPr/>
          <p:nvPr/>
        </p:nvGrpSpPr>
        <p:grpSpPr>
          <a:xfrm>
            <a:off x="14049785" y="3702457"/>
            <a:ext cx="190500" cy="190500"/>
            <a:chOff x="0" y="0"/>
            <a:chExt cx="812800" cy="812800"/>
          </a:xfrm>
        </p:grpSpPr>
        <p:sp>
          <p:nvSpPr>
            <p:cNvPr id="394" name="Google Shape;394;p4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373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44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9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6" name="Google Shape;396;p44"/>
          <p:cNvSpPr/>
          <p:nvPr/>
        </p:nvSpPr>
        <p:spPr>
          <a:xfrm>
            <a:off x="861090" y="6930050"/>
            <a:ext cx="7478789" cy="2498162"/>
          </a:xfrm>
          <a:custGeom>
            <a:rect b="b" l="l" r="r" t="t"/>
            <a:pathLst>
              <a:path extrusionOk="0" h="1584579" w="4743780">
                <a:moveTo>
                  <a:pt x="4727651" y="186309"/>
                </a:moveTo>
                <a:cubicBezTo>
                  <a:pt x="4727270" y="125349"/>
                  <a:pt x="4736668" y="8509"/>
                  <a:pt x="4736668" y="8509"/>
                </a:cubicBezTo>
                <a:lnTo>
                  <a:pt x="4591761" y="6223"/>
                </a:lnTo>
                <a:lnTo>
                  <a:pt x="4386275" y="16002"/>
                </a:lnTo>
                <a:cubicBezTo>
                  <a:pt x="4386275" y="16002"/>
                  <a:pt x="4052646" y="0"/>
                  <a:pt x="4020769" y="14986"/>
                </a:cubicBezTo>
                <a:cubicBezTo>
                  <a:pt x="3988765" y="29972"/>
                  <a:pt x="3922852" y="6223"/>
                  <a:pt x="3922852" y="6223"/>
                </a:cubicBezTo>
                <a:lnTo>
                  <a:pt x="931164" y="4318"/>
                </a:lnTo>
                <a:lnTo>
                  <a:pt x="640207" y="3556"/>
                </a:lnTo>
                <a:lnTo>
                  <a:pt x="413258" y="11430"/>
                </a:lnTo>
                <a:lnTo>
                  <a:pt x="149479" y="10668"/>
                </a:lnTo>
                <a:lnTo>
                  <a:pt x="49403" y="1905"/>
                </a:lnTo>
                <a:cubicBezTo>
                  <a:pt x="33528" y="1905"/>
                  <a:pt x="20701" y="14605"/>
                  <a:pt x="20701" y="30480"/>
                </a:cubicBezTo>
                <a:lnTo>
                  <a:pt x="36957" y="275590"/>
                </a:lnTo>
                <a:lnTo>
                  <a:pt x="19177" y="546989"/>
                </a:lnTo>
                <a:lnTo>
                  <a:pt x="17018" y="938911"/>
                </a:lnTo>
                <a:lnTo>
                  <a:pt x="25019" y="1117727"/>
                </a:lnTo>
                <a:cubicBezTo>
                  <a:pt x="25019" y="1117727"/>
                  <a:pt x="0" y="1158875"/>
                  <a:pt x="16002" y="1318895"/>
                </a:cubicBezTo>
                <a:cubicBezTo>
                  <a:pt x="32004" y="1478915"/>
                  <a:pt x="49276" y="1574165"/>
                  <a:pt x="49276" y="1574165"/>
                </a:cubicBezTo>
                <a:lnTo>
                  <a:pt x="132842" y="1574419"/>
                </a:lnTo>
                <a:lnTo>
                  <a:pt x="305562" y="1557909"/>
                </a:lnTo>
                <a:lnTo>
                  <a:pt x="532511" y="1575435"/>
                </a:lnTo>
                <a:lnTo>
                  <a:pt x="771144" y="1584579"/>
                </a:lnTo>
                <a:lnTo>
                  <a:pt x="906526" y="1559433"/>
                </a:lnTo>
                <a:lnTo>
                  <a:pt x="1008761" y="1576705"/>
                </a:lnTo>
                <a:lnTo>
                  <a:pt x="3987622" y="1578610"/>
                </a:lnTo>
                <a:lnTo>
                  <a:pt x="4230573" y="1579245"/>
                </a:lnTo>
                <a:lnTo>
                  <a:pt x="4467428" y="1569593"/>
                </a:lnTo>
                <a:lnTo>
                  <a:pt x="4653737" y="1580388"/>
                </a:lnTo>
                <a:lnTo>
                  <a:pt x="4731207" y="1580642"/>
                </a:lnTo>
                <a:lnTo>
                  <a:pt x="4731588" y="1432687"/>
                </a:lnTo>
                <a:lnTo>
                  <a:pt x="4731842" y="1319022"/>
                </a:lnTo>
                <a:lnTo>
                  <a:pt x="4723968" y="1113536"/>
                </a:lnTo>
                <a:lnTo>
                  <a:pt x="4732858" y="945388"/>
                </a:lnTo>
                <a:lnTo>
                  <a:pt x="4734636" y="671576"/>
                </a:lnTo>
                <a:lnTo>
                  <a:pt x="4743780" y="424561"/>
                </a:lnTo>
                <a:cubicBezTo>
                  <a:pt x="4743780" y="424561"/>
                  <a:pt x="4727778" y="247015"/>
                  <a:pt x="4727397" y="186055"/>
                </a:cubicBezTo>
                <a:close/>
              </a:path>
            </a:pathLst>
          </a:custGeom>
          <a:solidFill>
            <a:srgbClr val="FCB2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97" name="Google Shape;397;p44"/>
          <p:cNvGraphicFramePr/>
          <p:nvPr/>
        </p:nvGraphicFramePr>
        <p:xfrm>
          <a:off x="1210806" y="72223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{6B6453AF-2548-49EC-B0BF-D976E116B519}</a:tableStyleId>
              </a:tblPr>
              <a:tblGrid>
                <a:gridCol w="1103475"/>
                <a:gridCol w="1103475"/>
                <a:gridCol w="1103475"/>
                <a:gridCol w="1103475"/>
                <a:gridCol w="1103475"/>
                <a:gridCol w="1103475"/>
              </a:tblGrid>
              <a:tr h="93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000000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x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3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000000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35636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1905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E2C2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8" name="Google Shape;398;p44"/>
          <p:cNvSpPr/>
          <p:nvPr/>
        </p:nvSpPr>
        <p:spPr>
          <a:xfrm>
            <a:off x="12881838" y="7446947"/>
            <a:ext cx="7315200" cy="2560320"/>
          </a:xfrm>
          <a:custGeom>
            <a:rect b="b" l="l" r="r" t="t"/>
            <a:pathLst>
              <a:path extrusionOk="0" h="2560320" w="7315200">
                <a:moveTo>
                  <a:pt x="0" y="0"/>
                </a:moveTo>
                <a:lnTo>
                  <a:pt x="7315200" y="0"/>
                </a:lnTo>
                <a:lnTo>
                  <a:pt x="7315200" y="2560320"/>
                </a:lnTo>
                <a:lnTo>
                  <a:pt x="0" y="2560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9" name="Google Shape;399;p44"/>
          <p:cNvSpPr/>
          <p:nvPr/>
        </p:nvSpPr>
        <p:spPr>
          <a:xfrm rot="8100000">
            <a:off x="-2779491" y="-163859"/>
            <a:ext cx="7315200" cy="1499616"/>
          </a:xfrm>
          <a:custGeom>
            <a:rect b="b" l="l" r="r" t="t"/>
            <a:pathLst>
              <a:path extrusionOk="0" h="1499616" w="7315200">
                <a:moveTo>
                  <a:pt x="0" y="0"/>
                </a:moveTo>
                <a:lnTo>
                  <a:pt x="7315200" y="0"/>
                </a:lnTo>
                <a:lnTo>
                  <a:pt x="7315200" y="1499616"/>
                </a:lnTo>
                <a:lnTo>
                  <a:pt x="0" y="1499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0" name="Google Shape;400;p44"/>
          <p:cNvSpPr txBox="1"/>
          <p:nvPr/>
        </p:nvSpPr>
        <p:spPr>
          <a:xfrm>
            <a:off x="1027809" y="3947634"/>
            <a:ext cx="8116191" cy="2354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Do you still remember how to fill in the table of values based on a given graph?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Complete the table of values below. </a:t>
            </a:r>
            <a:endParaRPr/>
          </a:p>
        </p:txBody>
      </p:sp>
      <p:sp>
        <p:nvSpPr>
          <p:cNvPr id="401" name="Google Shape;401;p44"/>
          <p:cNvSpPr txBox="1"/>
          <p:nvPr/>
        </p:nvSpPr>
        <p:spPr>
          <a:xfrm>
            <a:off x="1027809" y="1173481"/>
            <a:ext cx="8483845" cy="2352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LET'S RECALL AND ANALYZE! </a:t>
            </a:r>
            <a:endParaRPr/>
          </a:p>
        </p:txBody>
      </p:sp>
      <p:sp>
        <p:nvSpPr>
          <p:cNvPr id="402" name="Google Shape;402;p44"/>
          <p:cNvSpPr txBox="1"/>
          <p:nvPr/>
        </p:nvSpPr>
        <p:spPr>
          <a:xfrm>
            <a:off x="10503374" y="2858943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12</a:t>
            </a:r>
            <a:endParaRPr/>
          </a:p>
        </p:txBody>
      </p:sp>
      <p:sp>
        <p:nvSpPr>
          <p:cNvPr id="403" name="Google Shape;403;p44"/>
          <p:cNvSpPr txBox="1"/>
          <p:nvPr/>
        </p:nvSpPr>
        <p:spPr>
          <a:xfrm>
            <a:off x="11138336" y="2247849"/>
            <a:ext cx="374196" cy="361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2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y</a:t>
            </a:r>
            <a:endParaRPr/>
          </a:p>
        </p:txBody>
      </p:sp>
      <p:sp>
        <p:nvSpPr>
          <p:cNvPr id="404" name="Google Shape;404;p44"/>
          <p:cNvSpPr txBox="1"/>
          <p:nvPr/>
        </p:nvSpPr>
        <p:spPr>
          <a:xfrm>
            <a:off x="16063180" y="7256654"/>
            <a:ext cx="351851" cy="3615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82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x</a:t>
            </a:r>
            <a:endParaRPr/>
          </a:p>
        </p:txBody>
      </p:sp>
      <p:sp>
        <p:nvSpPr>
          <p:cNvPr id="405" name="Google Shape;405;p44"/>
          <p:cNvSpPr txBox="1"/>
          <p:nvPr/>
        </p:nvSpPr>
        <p:spPr>
          <a:xfrm>
            <a:off x="10503374" y="3651339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10</a:t>
            </a:r>
            <a:endParaRPr/>
          </a:p>
        </p:txBody>
      </p:sp>
      <p:sp>
        <p:nvSpPr>
          <p:cNvPr id="406" name="Google Shape;406;p44"/>
          <p:cNvSpPr txBox="1"/>
          <p:nvPr/>
        </p:nvSpPr>
        <p:spPr>
          <a:xfrm>
            <a:off x="10503374" y="444373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8</a:t>
            </a:r>
            <a:endParaRPr/>
          </a:p>
        </p:txBody>
      </p:sp>
      <p:sp>
        <p:nvSpPr>
          <p:cNvPr id="407" name="Google Shape;407;p44"/>
          <p:cNvSpPr txBox="1"/>
          <p:nvPr/>
        </p:nvSpPr>
        <p:spPr>
          <a:xfrm>
            <a:off x="10503374" y="5236132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6</a:t>
            </a:r>
            <a:endParaRPr/>
          </a:p>
        </p:txBody>
      </p:sp>
      <p:sp>
        <p:nvSpPr>
          <p:cNvPr id="408" name="Google Shape;408;p44"/>
          <p:cNvSpPr txBox="1"/>
          <p:nvPr/>
        </p:nvSpPr>
        <p:spPr>
          <a:xfrm>
            <a:off x="10503374" y="6028529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4</a:t>
            </a:r>
            <a:endParaRPr/>
          </a:p>
        </p:txBody>
      </p:sp>
      <p:sp>
        <p:nvSpPr>
          <p:cNvPr id="409" name="Google Shape;409;p44"/>
          <p:cNvSpPr txBox="1"/>
          <p:nvPr/>
        </p:nvSpPr>
        <p:spPr>
          <a:xfrm>
            <a:off x="10503374" y="6820925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2</a:t>
            </a:r>
            <a:endParaRPr/>
          </a:p>
        </p:txBody>
      </p:sp>
      <p:sp>
        <p:nvSpPr>
          <p:cNvPr id="410" name="Google Shape;410;p44"/>
          <p:cNvSpPr txBox="1"/>
          <p:nvPr/>
        </p:nvSpPr>
        <p:spPr>
          <a:xfrm>
            <a:off x="11596579" y="791815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2</a:t>
            </a:r>
            <a:endParaRPr/>
          </a:p>
        </p:txBody>
      </p:sp>
      <p:sp>
        <p:nvSpPr>
          <p:cNvPr id="411" name="Google Shape;411;p44"/>
          <p:cNvSpPr txBox="1"/>
          <p:nvPr/>
        </p:nvSpPr>
        <p:spPr>
          <a:xfrm>
            <a:off x="12387423" y="791815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4</a:t>
            </a:r>
            <a:endParaRPr/>
          </a:p>
        </p:txBody>
      </p:sp>
      <p:sp>
        <p:nvSpPr>
          <p:cNvPr id="412" name="Google Shape;412;p44"/>
          <p:cNvSpPr txBox="1"/>
          <p:nvPr/>
        </p:nvSpPr>
        <p:spPr>
          <a:xfrm>
            <a:off x="13178266" y="791815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6</a:t>
            </a:r>
            <a:endParaRPr/>
          </a:p>
        </p:txBody>
      </p:sp>
      <p:sp>
        <p:nvSpPr>
          <p:cNvPr id="413" name="Google Shape;413;p44"/>
          <p:cNvSpPr txBox="1"/>
          <p:nvPr/>
        </p:nvSpPr>
        <p:spPr>
          <a:xfrm>
            <a:off x="13969110" y="791815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8</a:t>
            </a:r>
            <a:endParaRPr/>
          </a:p>
        </p:txBody>
      </p:sp>
      <p:sp>
        <p:nvSpPr>
          <p:cNvPr id="414" name="Google Shape;414;p44"/>
          <p:cNvSpPr txBox="1"/>
          <p:nvPr/>
        </p:nvSpPr>
        <p:spPr>
          <a:xfrm>
            <a:off x="14759953" y="791815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10</a:t>
            </a:r>
            <a:endParaRPr/>
          </a:p>
        </p:txBody>
      </p:sp>
      <p:sp>
        <p:nvSpPr>
          <p:cNvPr id="415" name="Google Shape;415;p44"/>
          <p:cNvSpPr txBox="1"/>
          <p:nvPr/>
        </p:nvSpPr>
        <p:spPr>
          <a:xfrm>
            <a:off x="15550796" y="7918156"/>
            <a:ext cx="351851" cy="273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12</a:t>
            </a:r>
            <a:endParaRPr/>
          </a:p>
        </p:txBody>
      </p:sp>
      <p:sp>
        <p:nvSpPr>
          <p:cNvPr id="416" name="Google Shape;416;p44"/>
          <p:cNvSpPr/>
          <p:nvPr/>
        </p:nvSpPr>
        <p:spPr>
          <a:xfrm rot="827264">
            <a:off x="15794174" y="271393"/>
            <a:ext cx="521590" cy="629110"/>
          </a:xfrm>
          <a:custGeom>
            <a:rect b="b" l="l" r="r" t="t"/>
            <a:pathLst>
              <a:path extrusionOk="0" h="629110" w="521590">
                <a:moveTo>
                  <a:pt x="0" y="0"/>
                </a:moveTo>
                <a:lnTo>
                  <a:pt x="521590" y="0"/>
                </a:lnTo>
                <a:lnTo>
                  <a:pt x="521590" y="629111"/>
                </a:lnTo>
                <a:lnTo>
                  <a:pt x="0" y="6291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17" name="Google Shape;417;p44"/>
          <p:cNvSpPr/>
          <p:nvPr/>
        </p:nvSpPr>
        <p:spPr>
          <a:xfrm rot="-955411">
            <a:off x="8832244" y="8125625"/>
            <a:ext cx="530215" cy="606275"/>
          </a:xfrm>
          <a:custGeom>
            <a:rect b="b" l="l" r="r" t="t"/>
            <a:pathLst>
              <a:path extrusionOk="0" h="606275" w="530215">
                <a:moveTo>
                  <a:pt x="0" y="0"/>
                </a:moveTo>
                <a:lnTo>
                  <a:pt x="530215" y="0"/>
                </a:lnTo>
                <a:lnTo>
                  <a:pt x="530215" y="606276"/>
                </a:lnTo>
                <a:lnTo>
                  <a:pt x="0" y="606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3" name="Google Shape;423;p45"/>
          <p:cNvSpPr/>
          <p:nvPr/>
        </p:nvSpPr>
        <p:spPr>
          <a:xfrm rot="5782266">
            <a:off x="15869319" y="1471397"/>
            <a:ext cx="2779963" cy="1314164"/>
          </a:xfrm>
          <a:custGeom>
            <a:rect b="b" l="l" r="r" t="t"/>
            <a:pathLst>
              <a:path extrusionOk="0" h="1314164" w="2779963">
                <a:moveTo>
                  <a:pt x="0" y="0"/>
                </a:moveTo>
                <a:lnTo>
                  <a:pt x="2779962" y="0"/>
                </a:lnTo>
                <a:lnTo>
                  <a:pt x="2779962" y="1314164"/>
                </a:lnTo>
                <a:lnTo>
                  <a:pt x="0" y="13141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4" name="Google Shape;424;p45"/>
          <p:cNvSpPr txBox="1"/>
          <p:nvPr/>
        </p:nvSpPr>
        <p:spPr>
          <a:xfrm>
            <a:off x="1616234" y="942975"/>
            <a:ext cx="8865900" cy="27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LEARNING OUTCOMES</a:t>
            </a:r>
            <a:endParaRPr/>
          </a:p>
        </p:txBody>
      </p:sp>
      <p:sp>
        <p:nvSpPr>
          <p:cNvPr id="425" name="Google Shape;425;p45"/>
          <p:cNvSpPr/>
          <p:nvPr/>
        </p:nvSpPr>
        <p:spPr>
          <a:xfrm flipH="1" rot="-7603577">
            <a:off x="9100527" y="1239437"/>
            <a:ext cx="3761333" cy="1778085"/>
          </a:xfrm>
          <a:custGeom>
            <a:rect b="b" l="l" r="r" t="t"/>
            <a:pathLst>
              <a:path extrusionOk="0" h="1778085" w="3761333">
                <a:moveTo>
                  <a:pt x="3761333" y="0"/>
                </a:moveTo>
                <a:lnTo>
                  <a:pt x="0" y="0"/>
                </a:lnTo>
                <a:lnTo>
                  <a:pt x="0" y="1778084"/>
                </a:lnTo>
                <a:lnTo>
                  <a:pt x="3761333" y="1778084"/>
                </a:lnTo>
                <a:lnTo>
                  <a:pt x="3761333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6" name="Google Shape;426;p45"/>
          <p:cNvSpPr/>
          <p:nvPr/>
        </p:nvSpPr>
        <p:spPr>
          <a:xfrm>
            <a:off x="37596" y="8974740"/>
            <a:ext cx="5578608" cy="1764869"/>
          </a:xfrm>
          <a:custGeom>
            <a:rect b="b" l="l" r="r" t="t"/>
            <a:pathLst>
              <a:path extrusionOk="0" h="1764869" w="5578608">
                <a:moveTo>
                  <a:pt x="0" y="0"/>
                </a:moveTo>
                <a:lnTo>
                  <a:pt x="5578609" y="0"/>
                </a:lnTo>
                <a:lnTo>
                  <a:pt x="5578609" y="1764869"/>
                </a:lnTo>
                <a:lnTo>
                  <a:pt x="0" y="176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7" name="Google Shape;427;p45"/>
          <p:cNvSpPr txBox="1"/>
          <p:nvPr/>
        </p:nvSpPr>
        <p:spPr>
          <a:xfrm>
            <a:off x="1692434" y="3973650"/>
            <a:ext cx="6660900" cy="44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By the end of the lesson, you'll be able to: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99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-388618" lvl="1" marL="7772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Arial"/>
              <a:buChar char="•"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Express relations and functions in tables and graphs.</a:t>
            </a:r>
            <a:endParaRPr/>
          </a:p>
          <a:p>
            <a:pPr indent="-388618" lvl="1" marL="7772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Arial"/>
              <a:buChar char="•"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Differentiate between a relation and a function.</a:t>
            </a:r>
            <a:endParaRPr/>
          </a:p>
          <a:p>
            <a:pPr indent="-388618" lvl="1" marL="77723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99"/>
              <a:buFont typeface="Arial"/>
              <a:buChar char="•"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Use a vertical test.</a:t>
            </a:r>
            <a:endParaRPr/>
          </a:p>
        </p:txBody>
      </p:sp>
      <p:sp>
        <p:nvSpPr>
          <p:cNvPr id="428" name="Google Shape;428;p45"/>
          <p:cNvSpPr/>
          <p:nvPr/>
        </p:nvSpPr>
        <p:spPr>
          <a:xfrm rot="1072861">
            <a:off x="17321851" y="5211061"/>
            <a:ext cx="516975" cy="488776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5" y="0"/>
                </a:lnTo>
                <a:lnTo>
                  <a:pt x="516975" y="488777"/>
                </a:lnTo>
                <a:lnTo>
                  <a:pt x="0" y="4887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46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4" name="Google Shape;434;p46"/>
          <p:cNvSpPr/>
          <p:nvPr/>
        </p:nvSpPr>
        <p:spPr>
          <a:xfrm>
            <a:off x="1011681" y="4486461"/>
            <a:ext cx="5943094" cy="3161069"/>
          </a:xfrm>
          <a:custGeom>
            <a:rect b="b" l="l" r="r" t="t"/>
            <a:pathLst>
              <a:path extrusionOk="0" h="2005059" w="3769692">
                <a:moveTo>
                  <a:pt x="3753563" y="186309"/>
                </a:moveTo>
                <a:cubicBezTo>
                  <a:pt x="3753182" y="125349"/>
                  <a:pt x="3762580" y="8509"/>
                  <a:pt x="3762580" y="8509"/>
                </a:cubicBezTo>
                <a:lnTo>
                  <a:pt x="3617673" y="6223"/>
                </a:lnTo>
                <a:lnTo>
                  <a:pt x="3412187" y="16002"/>
                </a:lnTo>
                <a:cubicBezTo>
                  <a:pt x="3412187" y="16002"/>
                  <a:pt x="3078558" y="0"/>
                  <a:pt x="3046681" y="14986"/>
                </a:cubicBezTo>
                <a:cubicBezTo>
                  <a:pt x="3014677" y="29972"/>
                  <a:pt x="2948764" y="6223"/>
                  <a:pt x="2948764" y="6223"/>
                </a:cubicBezTo>
                <a:lnTo>
                  <a:pt x="931164" y="4318"/>
                </a:lnTo>
                <a:lnTo>
                  <a:pt x="640207" y="3556"/>
                </a:lnTo>
                <a:lnTo>
                  <a:pt x="413258" y="11430"/>
                </a:lnTo>
                <a:lnTo>
                  <a:pt x="149479" y="10668"/>
                </a:lnTo>
                <a:lnTo>
                  <a:pt x="49403" y="1905"/>
                </a:lnTo>
                <a:cubicBezTo>
                  <a:pt x="33528" y="1905"/>
                  <a:pt x="20701" y="14605"/>
                  <a:pt x="20701" y="30480"/>
                </a:cubicBezTo>
                <a:lnTo>
                  <a:pt x="36957" y="275590"/>
                </a:lnTo>
                <a:lnTo>
                  <a:pt x="19177" y="546989"/>
                </a:lnTo>
                <a:lnTo>
                  <a:pt x="17018" y="1359391"/>
                </a:lnTo>
                <a:lnTo>
                  <a:pt x="25019" y="1538207"/>
                </a:lnTo>
                <a:cubicBezTo>
                  <a:pt x="25019" y="1538207"/>
                  <a:pt x="0" y="1579355"/>
                  <a:pt x="16002" y="1739375"/>
                </a:cubicBezTo>
                <a:cubicBezTo>
                  <a:pt x="32004" y="1899395"/>
                  <a:pt x="49276" y="1994645"/>
                  <a:pt x="49276" y="1994645"/>
                </a:cubicBezTo>
                <a:lnTo>
                  <a:pt x="132842" y="1994899"/>
                </a:lnTo>
                <a:lnTo>
                  <a:pt x="305562" y="1978389"/>
                </a:lnTo>
                <a:lnTo>
                  <a:pt x="532511" y="1995915"/>
                </a:lnTo>
                <a:lnTo>
                  <a:pt x="771144" y="2005059"/>
                </a:lnTo>
                <a:lnTo>
                  <a:pt x="906526" y="1979913"/>
                </a:lnTo>
                <a:lnTo>
                  <a:pt x="1008761" y="1997185"/>
                </a:lnTo>
                <a:lnTo>
                  <a:pt x="3013534" y="1999090"/>
                </a:lnTo>
                <a:lnTo>
                  <a:pt x="3256485" y="1999725"/>
                </a:lnTo>
                <a:lnTo>
                  <a:pt x="3493340" y="1990073"/>
                </a:lnTo>
                <a:lnTo>
                  <a:pt x="3679649" y="2000868"/>
                </a:lnTo>
                <a:lnTo>
                  <a:pt x="3757119" y="2001122"/>
                </a:lnTo>
                <a:lnTo>
                  <a:pt x="3757500" y="1853167"/>
                </a:lnTo>
                <a:lnTo>
                  <a:pt x="3757754" y="1739502"/>
                </a:lnTo>
                <a:lnTo>
                  <a:pt x="3749880" y="1534016"/>
                </a:lnTo>
                <a:lnTo>
                  <a:pt x="3758770" y="1365868"/>
                </a:lnTo>
                <a:lnTo>
                  <a:pt x="3760548" y="671576"/>
                </a:lnTo>
                <a:lnTo>
                  <a:pt x="3769692" y="424561"/>
                </a:lnTo>
                <a:cubicBezTo>
                  <a:pt x="3769692" y="424561"/>
                  <a:pt x="3753690" y="247015"/>
                  <a:pt x="3753309" y="186055"/>
                </a:cubicBezTo>
                <a:close/>
              </a:path>
            </a:pathLst>
          </a:custGeom>
          <a:solidFill>
            <a:srgbClr val="FCB2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435" name="Google Shape;435;p46"/>
          <p:cNvGraphicFramePr/>
          <p:nvPr/>
        </p:nvGraphicFramePr>
        <p:xfrm>
          <a:off x="8534595" y="661152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{6B6453AF-2548-49EC-B0BF-D976E116B519}</a:tableStyleId>
              </a:tblPr>
              <a:tblGrid>
                <a:gridCol w="1519650"/>
                <a:gridCol w="1920950"/>
                <a:gridCol w="1920950"/>
                <a:gridCol w="1920950"/>
                <a:gridCol w="1920950"/>
              </a:tblGrid>
              <a:tr h="919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Name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Alex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Jude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Arlo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Casey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9150"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799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Age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9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12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11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99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11</a:t>
                      </a:r>
                      <a:endParaRPr sz="1100" u="none" cap="none" strike="noStrike"/>
                    </a:p>
                  </a:txBody>
                  <a:tcPr marT="169325" marB="169325" marR="169325" marL="169325" anchor="ctr">
                    <a:lnL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6" name="Google Shape;436;p46"/>
          <p:cNvSpPr/>
          <p:nvPr/>
        </p:nvSpPr>
        <p:spPr>
          <a:xfrm>
            <a:off x="15311741" y="4238377"/>
            <a:ext cx="1578539" cy="1753932"/>
          </a:xfrm>
          <a:custGeom>
            <a:rect b="b" l="l" r="r" t="t"/>
            <a:pathLst>
              <a:path extrusionOk="0" h="1753932" w="1578539">
                <a:moveTo>
                  <a:pt x="0" y="0"/>
                </a:moveTo>
                <a:lnTo>
                  <a:pt x="1578539" y="0"/>
                </a:lnTo>
                <a:lnTo>
                  <a:pt x="1578539" y="1753932"/>
                </a:lnTo>
                <a:lnTo>
                  <a:pt x="0" y="1753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7" name="Google Shape;437;p46"/>
          <p:cNvSpPr/>
          <p:nvPr/>
        </p:nvSpPr>
        <p:spPr>
          <a:xfrm>
            <a:off x="13226144" y="4370570"/>
            <a:ext cx="1498030" cy="1678466"/>
          </a:xfrm>
          <a:custGeom>
            <a:rect b="b" l="l" r="r" t="t"/>
            <a:pathLst>
              <a:path extrusionOk="0" h="1678466" w="1498030">
                <a:moveTo>
                  <a:pt x="0" y="0"/>
                </a:moveTo>
                <a:lnTo>
                  <a:pt x="1498030" y="0"/>
                </a:lnTo>
                <a:lnTo>
                  <a:pt x="1498030" y="1678466"/>
                </a:lnTo>
                <a:lnTo>
                  <a:pt x="0" y="16784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8" name="Google Shape;438;p46"/>
          <p:cNvSpPr/>
          <p:nvPr/>
        </p:nvSpPr>
        <p:spPr>
          <a:xfrm>
            <a:off x="11043368" y="4351010"/>
            <a:ext cx="1595209" cy="1717587"/>
          </a:xfrm>
          <a:custGeom>
            <a:rect b="b" l="l" r="r" t="t"/>
            <a:pathLst>
              <a:path extrusionOk="0" h="1717587" w="1595209">
                <a:moveTo>
                  <a:pt x="0" y="0"/>
                </a:moveTo>
                <a:lnTo>
                  <a:pt x="1595209" y="0"/>
                </a:lnTo>
                <a:lnTo>
                  <a:pt x="1595209" y="1717587"/>
                </a:lnTo>
                <a:lnTo>
                  <a:pt x="0" y="17175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9" name="Google Shape;439;p46"/>
          <p:cNvSpPr/>
          <p:nvPr/>
        </p:nvSpPr>
        <p:spPr>
          <a:xfrm>
            <a:off x="9220077" y="4427297"/>
            <a:ext cx="1234403" cy="1565012"/>
          </a:xfrm>
          <a:custGeom>
            <a:rect b="b" l="l" r="r" t="t"/>
            <a:pathLst>
              <a:path extrusionOk="0" h="1565012" w="1234403">
                <a:moveTo>
                  <a:pt x="0" y="0"/>
                </a:moveTo>
                <a:lnTo>
                  <a:pt x="1234403" y="0"/>
                </a:lnTo>
                <a:lnTo>
                  <a:pt x="1234403" y="1565012"/>
                </a:lnTo>
                <a:lnTo>
                  <a:pt x="0" y="156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0" name="Google Shape;440;p46"/>
          <p:cNvSpPr txBox="1"/>
          <p:nvPr/>
        </p:nvSpPr>
        <p:spPr>
          <a:xfrm>
            <a:off x="1028700" y="1314450"/>
            <a:ext cx="9566672" cy="23812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0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WHAT ARE RELATIONS?</a:t>
            </a:r>
            <a:endParaRPr/>
          </a:p>
        </p:txBody>
      </p:sp>
      <p:sp>
        <p:nvSpPr>
          <p:cNvPr id="441" name="Google Shape;441;p46"/>
          <p:cNvSpPr/>
          <p:nvPr/>
        </p:nvSpPr>
        <p:spPr>
          <a:xfrm rot="-955411">
            <a:off x="8211598" y="609387"/>
            <a:ext cx="577705" cy="660577"/>
          </a:xfrm>
          <a:custGeom>
            <a:rect b="b" l="l" r="r" t="t"/>
            <a:pathLst>
              <a:path extrusionOk="0" h="660577" w="577705">
                <a:moveTo>
                  <a:pt x="0" y="0"/>
                </a:moveTo>
                <a:lnTo>
                  <a:pt x="577705" y="0"/>
                </a:lnTo>
                <a:lnTo>
                  <a:pt x="577705" y="660577"/>
                </a:lnTo>
                <a:lnTo>
                  <a:pt x="0" y="660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2" name="Google Shape;442;p46"/>
          <p:cNvSpPr/>
          <p:nvPr/>
        </p:nvSpPr>
        <p:spPr>
          <a:xfrm rot="827264">
            <a:off x="17308491" y="2732284"/>
            <a:ext cx="380383" cy="458795"/>
          </a:xfrm>
          <a:custGeom>
            <a:rect b="b" l="l" r="r" t="t"/>
            <a:pathLst>
              <a:path extrusionOk="0" h="458795" w="380383">
                <a:moveTo>
                  <a:pt x="0" y="0"/>
                </a:moveTo>
                <a:lnTo>
                  <a:pt x="380383" y="0"/>
                </a:lnTo>
                <a:lnTo>
                  <a:pt x="380383" y="458794"/>
                </a:lnTo>
                <a:lnTo>
                  <a:pt x="0" y="458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3" name="Google Shape;443;p46"/>
          <p:cNvSpPr/>
          <p:nvPr/>
        </p:nvSpPr>
        <p:spPr>
          <a:xfrm rot="2972040">
            <a:off x="739848" y="8091983"/>
            <a:ext cx="577705" cy="660577"/>
          </a:xfrm>
          <a:custGeom>
            <a:rect b="b" l="l" r="r" t="t"/>
            <a:pathLst>
              <a:path extrusionOk="0" h="660577" w="577705">
                <a:moveTo>
                  <a:pt x="0" y="0"/>
                </a:moveTo>
                <a:lnTo>
                  <a:pt x="577704" y="0"/>
                </a:lnTo>
                <a:lnTo>
                  <a:pt x="577704" y="660577"/>
                </a:lnTo>
                <a:lnTo>
                  <a:pt x="0" y="660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4" name="Google Shape;444;p46"/>
          <p:cNvSpPr/>
          <p:nvPr/>
        </p:nvSpPr>
        <p:spPr>
          <a:xfrm>
            <a:off x="12638577" y="-732842"/>
            <a:ext cx="6179516" cy="2131933"/>
          </a:xfrm>
          <a:custGeom>
            <a:rect b="b" l="l" r="r" t="t"/>
            <a:pathLst>
              <a:path extrusionOk="0" h="2131933" w="6179516">
                <a:moveTo>
                  <a:pt x="0" y="0"/>
                </a:moveTo>
                <a:lnTo>
                  <a:pt x="6179515" y="0"/>
                </a:lnTo>
                <a:lnTo>
                  <a:pt x="6179515" y="2131933"/>
                </a:lnTo>
                <a:lnTo>
                  <a:pt x="0" y="2131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45" name="Google Shape;445;p46"/>
          <p:cNvSpPr txBox="1"/>
          <p:nvPr/>
        </p:nvSpPr>
        <p:spPr>
          <a:xfrm>
            <a:off x="1711529" y="5152926"/>
            <a:ext cx="4560600" cy="18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Example: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Names and their age are a set of ordered pairs that we could put into a table.</a:t>
            </a:r>
            <a:endParaRPr/>
          </a:p>
        </p:txBody>
      </p:sp>
      <p:sp>
        <p:nvSpPr>
          <p:cNvPr id="446" name="Google Shape;446;p46"/>
          <p:cNvSpPr txBox="1"/>
          <p:nvPr/>
        </p:nvSpPr>
        <p:spPr>
          <a:xfrm>
            <a:off x="9144000" y="2056316"/>
            <a:ext cx="75819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 relation is a set of </a:t>
            </a:r>
            <a:r>
              <a:rPr b="1" i="0" lang="en-US" sz="3599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ordered pairs</a:t>
            </a:r>
            <a:r>
              <a:rPr b="0" i="0" lang="en-US" sz="3599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that represent a relationship.</a:t>
            </a:r>
            <a:endParaRPr/>
          </a:p>
        </p:txBody>
      </p:sp>
      <p:pic>
        <p:nvPicPr>
          <p:cNvPr id="447" name="Google Shape;447;p4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-828425" y="6792700"/>
            <a:ext cx="7870624" cy="392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7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3" name="Google Shape;453;p47"/>
          <p:cNvSpPr/>
          <p:nvPr/>
        </p:nvSpPr>
        <p:spPr>
          <a:xfrm>
            <a:off x="-969609" y="915461"/>
            <a:ext cx="3996618" cy="1627713"/>
          </a:xfrm>
          <a:custGeom>
            <a:rect b="b" l="l" r="r" t="t"/>
            <a:pathLst>
              <a:path extrusionOk="0" h="1627713" w="3996618">
                <a:moveTo>
                  <a:pt x="0" y="0"/>
                </a:moveTo>
                <a:lnTo>
                  <a:pt x="3996618" y="0"/>
                </a:lnTo>
                <a:lnTo>
                  <a:pt x="3996618" y="1627713"/>
                </a:lnTo>
                <a:lnTo>
                  <a:pt x="0" y="162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4" name="Google Shape;454;p47"/>
          <p:cNvSpPr txBox="1"/>
          <p:nvPr/>
        </p:nvSpPr>
        <p:spPr>
          <a:xfrm>
            <a:off x="8037275" y="3942025"/>
            <a:ext cx="8544000" cy="33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88620" lvl="1" marL="777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 function is a special type of relation where each</a:t>
            </a:r>
            <a:r>
              <a:rPr b="0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input only has one output.</a:t>
            </a:r>
            <a:endParaRPr/>
          </a:p>
          <a:p>
            <a:pPr indent="-388620" lvl="1" marL="777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Functions are a way of connecting</a:t>
            </a:r>
            <a:r>
              <a:rPr b="0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inp﻿ut</a:t>
            </a: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values to their corresponding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output</a:t>
            </a:r>
            <a:r>
              <a:rPr b="0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values.</a:t>
            </a:r>
            <a:endParaRPr/>
          </a:p>
          <a:p>
            <a:pPr indent="-388620" lvl="1" marL="7772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The relation is a function if, for every x-value, there is exactly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one y-value</a:t>
            </a: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.</a:t>
            </a:r>
            <a:endParaRPr/>
          </a:p>
        </p:txBody>
      </p:sp>
      <p:sp>
        <p:nvSpPr>
          <p:cNvPr id="455" name="Google Shape;455;p47"/>
          <p:cNvSpPr txBox="1"/>
          <p:nvPr/>
        </p:nvSpPr>
        <p:spPr>
          <a:xfrm>
            <a:off x="2890801" y="1323975"/>
            <a:ext cx="13295100" cy="121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WHAT IS A FUNCTION?</a:t>
            </a:r>
            <a:endParaRPr/>
          </a:p>
        </p:txBody>
      </p:sp>
      <p:sp>
        <p:nvSpPr>
          <p:cNvPr id="456" name="Google Shape;456;p47"/>
          <p:cNvSpPr/>
          <p:nvPr/>
        </p:nvSpPr>
        <p:spPr>
          <a:xfrm rot="-2556956">
            <a:off x="656783" y="3457783"/>
            <a:ext cx="743835" cy="1354666"/>
          </a:xfrm>
          <a:custGeom>
            <a:rect b="b" l="l" r="r" t="t"/>
            <a:pathLst>
              <a:path extrusionOk="0" h="1354666" w="743835">
                <a:moveTo>
                  <a:pt x="0" y="0"/>
                </a:moveTo>
                <a:lnTo>
                  <a:pt x="743834" y="0"/>
                </a:lnTo>
                <a:lnTo>
                  <a:pt x="743834" y="1354666"/>
                </a:lnTo>
                <a:lnTo>
                  <a:pt x="0" y="1354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7" name="Google Shape;457;p47"/>
          <p:cNvSpPr/>
          <p:nvPr/>
        </p:nvSpPr>
        <p:spPr>
          <a:xfrm rot="1304833">
            <a:off x="17120585" y="3105068"/>
            <a:ext cx="371917" cy="677333"/>
          </a:xfrm>
          <a:custGeom>
            <a:rect b="b" l="l" r="r" t="t"/>
            <a:pathLst>
              <a:path extrusionOk="0" h="677333" w="371917">
                <a:moveTo>
                  <a:pt x="0" y="0"/>
                </a:moveTo>
                <a:lnTo>
                  <a:pt x="371917" y="0"/>
                </a:lnTo>
                <a:lnTo>
                  <a:pt x="371917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8" name="Google Shape;458;p47"/>
          <p:cNvSpPr/>
          <p:nvPr/>
        </p:nvSpPr>
        <p:spPr>
          <a:xfrm rot="-2344766">
            <a:off x="13620931" y="8888825"/>
            <a:ext cx="689202" cy="1255170"/>
          </a:xfrm>
          <a:custGeom>
            <a:rect b="b" l="l" r="r" t="t"/>
            <a:pathLst>
              <a:path extrusionOk="0" h="1255170" w="689202">
                <a:moveTo>
                  <a:pt x="0" y="0"/>
                </a:moveTo>
                <a:lnTo>
                  <a:pt x="689203" y="0"/>
                </a:lnTo>
                <a:lnTo>
                  <a:pt x="689203" y="1255170"/>
                </a:lnTo>
                <a:lnTo>
                  <a:pt x="0" y="1255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59" name="Google Shape;459;p4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79675" y="3599538"/>
            <a:ext cx="557590" cy="431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4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851391" y="8035810"/>
            <a:ext cx="4314684" cy="5575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033961" y="3149080"/>
            <a:ext cx="4867963" cy="7689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8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7" name="Google Shape;467;p48"/>
          <p:cNvSpPr/>
          <p:nvPr/>
        </p:nvSpPr>
        <p:spPr>
          <a:xfrm>
            <a:off x="-1500168" y="1309467"/>
            <a:ext cx="3996618" cy="1627713"/>
          </a:xfrm>
          <a:custGeom>
            <a:rect b="b" l="l" r="r" t="t"/>
            <a:pathLst>
              <a:path extrusionOk="0" h="1627713" w="3996618">
                <a:moveTo>
                  <a:pt x="0" y="0"/>
                </a:moveTo>
                <a:lnTo>
                  <a:pt x="3996618" y="0"/>
                </a:lnTo>
                <a:lnTo>
                  <a:pt x="3996618" y="1627713"/>
                </a:lnTo>
                <a:lnTo>
                  <a:pt x="0" y="162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8" name="Google Shape;468;p48"/>
          <p:cNvSpPr txBox="1"/>
          <p:nvPr/>
        </p:nvSpPr>
        <p:spPr>
          <a:xfrm>
            <a:off x="2496450" y="3420653"/>
            <a:ext cx="92283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Functions are a way of connecting </a:t>
            </a:r>
            <a:r>
              <a:rPr b="1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inp﻿ut</a:t>
            </a: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values to their corresponding </a:t>
            </a:r>
            <a:r>
              <a:rPr b="1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output</a:t>
            </a: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values.</a:t>
            </a:r>
            <a:endParaRPr/>
          </a:p>
        </p:txBody>
      </p:sp>
      <p:sp>
        <p:nvSpPr>
          <p:cNvPr id="469" name="Google Shape;469;p48"/>
          <p:cNvSpPr txBox="1"/>
          <p:nvPr/>
        </p:nvSpPr>
        <p:spPr>
          <a:xfrm>
            <a:off x="2496450" y="5090950"/>
            <a:ext cx="6950700" cy="23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Example: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Ordering a coffee for $5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999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Pay $5, and you get 1 coffee.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Pay $10, and you'll get 2 coffees, and so on.</a:t>
            </a:r>
            <a:endParaRPr/>
          </a:p>
        </p:txBody>
      </p:sp>
      <p:sp>
        <p:nvSpPr>
          <p:cNvPr id="470" name="Google Shape;470;p48"/>
          <p:cNvSpPr txBox="1"/>
          <p:nvPr/>
        </p:nvSpPr>
        <p:spPr>
          <a:xfrm>
            <a:off x="2496450" y="8059236"/>
            <a:ext cx="9974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The input affects the output in a predictable way.</a:t>
            </a:r>
            <a:endParaRPr/>
          </a:p>
        </p:txBody>
      </p:sp>
      <p:sp>
        <p:nvSpPr>
          <p:cNvPr id="471" name="Google Shape;471;p48"/>
          <p:cNvSpPr txBox="1"/>
          <p:nvPr/>
        </p:nvSpPr>
        <p:spPr>
          <a:xfrm>
            <a:off x="2496450" y="904125"/>
            <a:ext cx="13295100" cy="121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WHAT IS A FUNCTION?</a:t>
            </a:r>
            <a:endParaRPr/>
          </a:p>
        </p:txBody>
      </p:sp>
      <p:sp>
        <p:nvSpPr>
          <p:cNvPr id="472" name="Google Shape;472;p48"/>
          <p:cNvSpPr/>
          <p:nvPr/>
        </p:nvSpPr>
        <p:spPr>
          <a:xfrm>
            <a:off x="15791550" y="8056909"/>
            <a:ext cx="3996618" cy="1627713"/>
          </a:xfrm>
          <a:custGeom>
            <a:rect b="b" l="l" r="r" t="t"/>
            <a:pathLst>
              <a:path extrusionOk="0" h="1627713" w="3996618">
                <a:moveTo>
                  <a:pt x="0" y="0"/>
                </a:moveTo>
                <a:lnTo>
                  <a:pt x="3996618" y="0"/>
                </a:lnTo>
                <a:lnTo>
                  <a:pt x="3996618" y="1627713"/>
                </a:lnTo>
                <a:lnTo>
                  <a:pt x="0" y="162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473" name="Google Shape;473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25425" y="3420648"/>
            <a:ext cx="3101756" cy="432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35850" y="4493713"/>
            <a:ext cx="4830025" cy="218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9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480" name="Google Shape;480;p49"/>
          <p:cNvGrpSpPr/>
          <p:nvPr/>
        </p:nvGrpSpPr>
        <p:grpSpPr>
          <a:xfrm>
            <a:off x="11639664" y="4308691"/>
            <a:ext cx="4559618" cy="4558922"/>
            <a:chOff x="0" y="12700"/>
            <a:chExt cx="6079490" cy="6078563"/>
          </a:xfrm>
        </p:grpSpPr>
        <p:cxnSp>
          <p:nvCxnSpPr>
            <p:cNvPr id="481" name="Google Shape;481;p49"/>
            <p:cNvCxnSpPr/>
            <p:nvPr/>
          </p:nvCxnSpPr>
          <p:spPr>
            <a:xfrm>
              <a:off x="0" y="2273111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2" name="Google Shape;482;p49"/>
            <p:cNvCxnSpPr/>
            <p:nvPr/>
          </p:nvCxnSpPr>
          <p:spPr>
            <a:xfrm>
              <a:off x="0" y="12700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3" name="Google Shape;483;p49"/>
            <p:cNvCxnSpPr/>
            <p:nvPr/>
          </p:nvCxnSpPr>
          <p:spPr>
            <a:xfrm>
              <a:off x="0" y="766170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4" name="Google Shape;484;p49"/>
            <p:cNvCxnSpPr/>
            <p:nvPr/>
          </p:nvCxnSpPr>
          <p:spPr>
            <a:xfrm>
              <a:off x="0" y="1519641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49"/>
            <p:cNvCxnSpPr/>
            <p:nvPr/>
          </p:nvCxnSpPr>
          <p:spPr>
            <a:xfrm>
              <a:off x="0" y="6091263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p49"/>
            <p:cNvCxnSpPr/>
            <p:nvPr/>
          </p:nvCxnSpPr>
          <p:spPr>
            <a:xfrm>
              <a:off x="0" y="3830852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7" name="Google Shape;487;p49"/>
            <p:cNvCxnSpPr/>
            <p:nvPr/>
          </p:nvCxnSpPr>
          <p:spPr>
            <a:xfrm>
              <a:off x="0" y="4584322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8" name="Google Shape;488;p49"/>
            <p:cNvCxnSpPr/>
            <p:nvPr/>
          </p:nvCxnSpPr>
          <p:spPr>
            <a:xfrm>
              <a:off x="0" y="5337793"/>
              <a:ext cx="607949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89" name="Google Shape;489;p49"/>
          <p:cNvGrpSpPr/>
          <p:nvPr/>
        </p:nvGrpSpPr>
        <p:grpSpPr>
          <a:xfrm>
            <a:off x="11640087" y="4299166"/>
            <a:ext cx="4558922" cy="4577973"/>
            <a:chOff x="12700" y="0"/>
            <a:chExt cx="6078563" cy="6103964"/>
          </a:xfrm>
        </p:grpSpPr>
        <p:cxnSp>
          <p:nvCxnSpPr>
            <p:cNvPr id="490" name="Google Shape;490;p49"/>
            <p:cNvCxnSpPr/>
            <p:nvPr/>
          </p:nvCxnSpPr>
          <p:spPr>
            <a:xfrm rot="10800000">
              <a:off x="2273111" y="172"/>
              <a:ext cx="0" cy="610362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1" name="Google Shape;491;p49"/>
            <p:cNvCxnSpPr/>
            <p:nvPr/>
          </p:nvCxnSpPr>
          <p:spPr>
            <a:xfrm rot="10800000">
              <a:off x="12700" y="172"/>
              <a:ext cx="0" cy="610362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2" name="Google Shape;492;p49"/>
            <p:cNvCxnSpPr/>
            <p:nvPr/>
          </p:nvCxnSpPr>
          <p:spPr>
            <a:xfrm rot="10800000">
              <a:off x="766170" y="172"/>
              <a:ext cx="0" cy="610362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3" name="Google Shape;493;p49"/>
            <p:cNvCxnSpPr/>
            <p:nvPr/>
          </p:nvCxnSpPr>
          <p:spPr>
            <a:xfrm rot="10800000">
              <a:off x="1519641" y="172"/>
              <a:ext cx="0" cy="610362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4" name="Google Shape;494;p49"/>
            <p:cNvCxnSpPr/>
            <p:nvPr/>
          </p:nvCxnSpPr>
          <p:spPr>
            <a:xfrm rot="10800000">
              <a:off x="6091263" y="172"/>
              <a:ext cx="0" cy="610362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5" name="Google Shape;495;p49"/>
            <p:cNvCxnSpPr/>
            <p:nvPr/>
          </p:nvCxnSpPr>
          <p:spPr>
            <a:xfrm flipH="1" rot="10800000">
              <a:off x="3818152" y="172"/>
              <a:ext cx="12700" cy="6103792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6" name="Google Shape;496;p49"/>
            <p:cNvCxnSpPr/>
            <p:nvPr/>
          </p:nvCxnSpPr>
          <p:spPr>
            <a:xfrm rot="10800000">
              <a:off x="4584322" y="0"/>
              <a:ext cx="0" cy="6103792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7" name="Google Shape;497;p49"/>
            <p:cNvCxnSpPr/>
            <p:nvPr/>
          </p:nvCxnSpPr>
          <p:spPr>
            <a:xfrm rot="10800000">
              <a:off x="5337793" y="172"/>
              <a:ext cx="0" cy="610362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498" name="Google Shape;498;p49"/>
          <p:cNvCxnSpPr/>
          <p:nvPr/>
        </p:nvCxnSpPr>
        <p:spPr>
          <a:xfrm>
            <a:off x="11081959" y="6590344"/>
            <a:ext cx="5675177" cy="0"/>
          </a:xfrm>
          <a:prstGeom prst="straightConnector1">
            <a:avLst/>
          </a:prstGeom>
          <a:noFill/>
          <a:ln cap="rnd" cmpd="sng" w="38100">
            <a:solidFill>
              <a:srgbClr val="B37345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499" name="Google Shape;499;p49"/>
          <p:cNvGrpSpPr/>
          <p:nvPr/>
        </p:nvGrpSpPr>
        <p:grpSpPr>
          <a:xfrm>
            <a:off x="13179820" y="4009088"/>
            <a:ext cx="2035033" cy="4053460"/>
            <a:chOff x="0" y="-144661"/>
            <a:chExt cx="2713377" cy="5404613"/>
          </a:xfrm>
        </p:grpSpPr>
        <p:grpSp>
          <p:nvGrpSpPr>
            <p:cNvPr id="500" name="Google Shape;500;p49"/>
            <p:cNvGrpSpPr/>
            <p:nvPr/>
          </p:nvGrpSpPr>
          <p:grpSpPr>
            <a:xfrm>
              <a:off x="1557741" y="2888715"/>
              <a:ext cx="389466" cy="666089"/>
              <a:chOff x="0" y="-28575"/>
              <a:chExt cx="76932" cy="131573"/>
            </a:xfrm>
          </p:grpSpPr>
          <p:sp>
            <p:nvSpPr>
              <p:cNvPr id="501" name="Google Shape;501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02" name="Google Shape;502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503" name="Google Shape;503;p49"/>
            <p:cNvGrpSpPr/>
            <p:nvPr/>
          </p:nvGrpSpPr>
          <p:grpSpPr>
            <a:xfrm>
              <a:off x="0" y="2888715"/>
              <a:ext cx="389466" cy="666089"/>
              <a:chOff x="0" y="-28575"/>
              <a:chExt cx="76932" cy="131573"/>
            </a:xfrm>
          </p:grpSpPr>
          <p:sp>
            <p:nvSpPr>
              <p:cNvPr id="504" name="Google Shape;504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05" name="Google Shape;505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-1</a:t>
                </a:r>
                <a:endParaRPr/>
              </a:p>
            </p:txBody>
          </p:sp>
        </p:grpSp>
        <p:grpSp>
          <p:nvGrpSpPr>
            <p:cNvPr id="506" name="Google Shape;506;p49"/>
            <p:cNvGrpSpPr/>
            <p:nvPr/>
          </p:nvGrpSpPr>
          <p:grpSpPr>
            <a:xfrm>
              <a:off x="791570" y="2888715"/>
              <a:ext cx="389466" cy="666089"/>
              <a:chOff x="0" y="-28575"/>
              <a:chExt cx="76932" cy="131573"/>
            </a:xfrm>
          </p:grpSpPr>
          <p:sp>
            <p:nvSpPr>
              <p:cNvPr id="507" name="Google Shape;507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08" name="Google Shape;508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/>
              </a:p>
            </p:txBody>
          </p:sp>
        </p:grpSp>
        <p:grpSp>
          <p:nvGrpSpPr>
            <p:cNvPr id="509" name="Google Shape;509;p49"/>
            <p:cNvGrpSpPr/>
            <p:nvPr/>
          </p:nvGrpSpPr>
          <p:grpSpPr>
            <a:xfrm>
              <a:off x="2323911" y="2888715"/>
              <a:ext cx="389466" cy="666089"/>
              <a:chOff x="0" y="-28575"/>
              <a:chExt cx="76932" cy="131573"/>
            </a:xfrm>
          </p:grpSpPr>
          <p:sp>
            <p:nvSpPr>
              <p:cNvPr id="510" name="Google Shape;510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11" name="Google Shape;511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512" name="Google Shape;512;p49"/>
            <p:cNvGrpSpPr/>
            <p:nvPr/>
          </p:nvGrpSpPr>
          <p:grpSpPr>
            <a:xfrm>
              <a:off x="444976" y="-144661"/>
              <a:ext cx="389466" cy="666089"/>
              <a:chOff x="0" y="-28575"/>
              <a:chExt cx="76932" cy="131573"/>
            </a:xfrm>
          </p:grpSpPr>
          <p:sp>
            <p:nvSpPr>
              <p:cNvPr id="513" name="Google Shape;513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14" name="Google Shape;514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grpSp>
          <p:nvGrpSpPr>
            <p:cNvPr id="515" name="Google Shape;515;p49"/>
            <p:cNvGrpSpPr/>
            <p:nvPr/>
          </p:nvGrpSpPr>
          <p:grpSpPr>
            <a:xfrm>
              <a:off x="444976" y="2132563"/>
              <a:ext cx="389466" cy="666089"/>
              <a:chOff x="0" y="-28575"/>
              <a:chExt cx="76932" cy="131573"/>
            </a:xfrm>
          </p:grpSpPr>
          <p:sp>
            <p:nvSpPr>
              <p:cNvPr id="516" name="Google Shape;516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17" name="Google Shape;517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518" name="Google Shape;518;p49"/>
            <p:cNvGrpSpPr/>
            <p:nvPr/>
          </p:nvGrpSpPr>
          <p:grpSpPr>
            <a:xfrm>
              <a:off x="389466" y="4593863"/>
              <a:ext cx="444976" cy="666089"/>
              <a:chOff x="0" y="-28575"/>
              <a:chExt cx="87897" cy="131573"/>
            </a:xfrm>
          </p:grpSpPr>
          <p:sp>
            <p:nvSpPr>
              <p:cNvPr id="519" name="Google Shape;519;p49"/>
              <p:cNvSpPr/>
              <p:nvPr/>
            </p:nvSpPr>
            <p:spPr>
              <a:xfrm>
                <a:off x="0" y="0"/>
                <a:ext cx="87897" cy="102998"/>
              </a:xfrm>
              <a:custGeom>
                <a:rect b="b" l="l" r="r" t="t"/>
                <a:pathLst>
                  <a:path extrusionOk="0" h="102998" w="87897">
                    <a:moveTo>
                      <a:pt x="0" y="0"/>
                    </a:moveTo>
                    <a:lnTo>
                      <a:pt x="87897" y="0"/>
                    </a:lnTo>
                    <a:lnTo>
                      <a:pt x="87897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20" name="Google Shape;520;p49"/>
              <p:cNvSpPr txBox="1"/>
              <p:nvPr/>
            </p:nvSpPr>
            <p:spPr>
              <a:xfrm>
                <a:off x="0" y="-28575"/>
                <a:ext cx="87897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-2</a:t>
                </a:r>
                <a:endParaRPr/>
              </a:p>
            </p:txBody>
          </p:sp>
        </p:grpSp>
        <p:grpSp>
          <p:nvGrpSpPr>
            <p:cNvPr id="521" name="Google Shape;521;p49"/>
            <p:cNvGrpSpPr/>
            <p:nvPr/>
          </p:nvGrpSpPr>
          <p:grpSpPr>
            <a:xfrm>
              <a:off x="444976" y="1373488"/>
              <a:ext cx="389466" cy="666089"/>
              <a:chOff x="0" y="-28575"/>
              <a:chExt cx="76932" cy="131573"/>
            </a:xfrm>
          </p:grpSpPr>
          <p:sp>
            <p:nvSpPr>
              <p:cNvPr id="522" name="Google Shape;522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23" name="Google Shape;523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524" name="Google Shape;524;p49"/>
            <p:cNvGrpSpPr/>
            <p:nvPr/>
          </p:nvGrpSpPr>
          <p:grpSpPr>
            <a:xfrm>
              <a:off x="444976" y="3650713"/>
              <a:ext cx="389466" cy="666089"/>
              <a:chOff x="0" y="-28575"/>
              <a:chExt cx="76932" cy="131573"/>
            </a:xfrm>
          </p:grpSpPr>
          <p:sp>
            <p:nvSpPr>
              <p:cNvPr id="525" name="Google Shape;525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26" name="Google Shape;526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-1</a:t>
                </a:r>
                <a:endParaRPr/>
              </a:p>
            </p:txBody>
          </p:sp>
        </p:grpSp>
        <p:grpSp>
          <p:nvGrpSpPr>
            <p:cNvPr id="527" name="Google Shape;527;p49"/>
            <p:cNvGrpSpPr/>
            <p:nvPr/>
          </p:nvGrpSpPr>
          <p:grpSpPr>
            <a:xfrm>
              <a:off x="444976" y="614414"/>
              <a:ext cx="389466" cy="666089"/>
              <a:chOff x="0" y="-28575"/>
              <a:chExt cx="76932" cy="131573"/>
            </a:xfrm>
          </p:grpSpPr>
          <p:sp>
            <p:nvSpPr>
              <p:cNvPr id="528" name="Google Shape;528;p49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29" name="Google Shape;529;p49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pic>
        <p:nvPicPr>
          <p:cNvPr id="530" name="Google Shape;53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79771" y="3797273"/>
            <a:ext cx="3061212" cy="44363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1" name="Google Shape;531;p49"/>
          <p:cNvCxnSpPr/>
          <p:nvPr/>
        </p:nvCxnSpPr>
        <p:spPr>
          <a:xfrm rot="10800000">
            <a:off x="13919473" y="3750563"/>
            <a:ext cx="150" cy="5675177"/>
          </a:xfrm>
          <a:prstGeom prst="straightConnector1">
            <a:avLst/>
          </a:prstGeom>
          <a:noFill/>
          <a:ln cap="rnd" cmpd="sng" w="38100">
            <a:solidFill>
              <a:srgbClr val="B37345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532" name="Google Shape;532;p49"/>
          <p:cNvGraphicFramePr/>
          <p:nvPr/>
        </p:nvGraphicFramePr>
        <p:xfrm>
          <a:off x="1961066" y="65733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{6B6453AF-2548-49EC-B0BF-D976E116B519}</a:tableStyleId>
              </a:tblPr>
              <a:tblGrid>
                <a:gridCol w="1329875"/>
                <a:gridCol w="1329875"/>
                <a:gridCol w="1329875"/>
                <a:gridCol w="1329875"/>
                <a:gridCol w="1329875"/>
              </a:tblGrid>
              <a:tr h="9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x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33" name="Google Shape;533;p49"/>
          <p:cNvSpPr/>
          <p:nvPr/>
        </p:nvSpPr>
        <p:spPr>
          <a:xfrm rot="6545551">
            <a:off x="-1778326" y="6069281"/>
            <a:ext cx="4673116" cy="1478404"/>
          </a:xfrm>
          <a:custGeom>
            <a:rect b="b" l="l" r="r" t="t"/>
            <a:pathLst>
              <a:path extrusionOk="0" h="1478404" w="4673116">
                <a:moveTo>
                  <a:pt x="0" y="0"/>
                </a:moveTo>
                <a:lnTo>
                  <a:pt x="4673116" y="0"/>
                </a:lnTo>
                <a:lnTo>
                  <a:pt x="4673116" y="1478404"/>
                </a:lnTo>
                <a:lnTo>
                  <a:pt x="0" y="1478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4" name="Google Shape;534;p49"/>
          <p:cNvSpPr/>
          <p:nvPr/>
        </p:nvSpPr>
        <p:spPr>
          <a:xfrm rot="-186286">
            <a:off x="8933779" y="6946830"/>
            <a:ext cx="2373450" cy="1070210"/>
          </a:xfrm>
          <a:custGeom>
            <a:rect b="b" l="l" r="r" t="t"/>
            <a:pathLst>
              <a:path extrusionOk="0" h="1070210" w="2373450">
                <a:moveTo>
                  <a:pt x="0" y="0"/>
                </a:moveTo>
                <a:lnTo>
                  <a:pt x="2373450" y="0"/>
                </a:lnTo>
                <a:lnTo>
                  <a:pt x="2373450" y="1070211"/>
                </a:lnTo>
                <a:lnTo>
                  <a:pt x="0" y="1070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5" name="Google Shape;535;p49"/>
          <p:cNvSpPr/>
          <p:nvPr/>
        </p:nvSpPr>
        <p:spPr>
          <a:xfrm rot="827264">
            <a:off x="17366655" y="8514784"/>
            <a:ext cx="366798" cy="442409"/>
          </a:xfrm>
          <a:custGeom>
            <a:rect b="b" l="l" r="r" t="t"/>
            <a:pathLst>
              <a:path extrusionOk="0" h="442409" w="366798">
                <a:moveTo>
                  <a:pt x="0" y="0"/>
                </a:moveTo>
                <a:lnTo>
                  <a:pt x="366797" y="0"/>
                </a:lnTo>
                <a:lnTo>
                  <a:pt x="366797" y="442410"/>
                </a:lnTo>
                <a:lnTo>
                  <a:pt x="0" y="442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6" name="Google Shape;536;p49"/>
          <p:cNvSpPr/>
          <p:nvPr/>
        </p:nvSpPr>
        <p:spPr>
          <a:xfrm rot="-955411">
            <a:off x="9724050" y="4207128"/>
            <a:ext cx="348479" cy="398469"/>
          </a:xfrm>
          <a:custGeom>
            <a:rect b="b" l="l" r="r" t="t"/>
            <a:pathLst>
              <a:path extrusionOk="0" h="398469" w="348479">
                <a:moveTo>
                  <a:pt x="0" y="0"/>
                </a:moveTo>
                <a:lnTo>
                  <a:pt x="348479" y="0"/>
                </a:lnTo>
                <a:lnTo>
                  <a:pt x="348479" y="398469"/>
                </a:lnTo>
                <a:lnTo>
                  <a:pt x="0" y="398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7" name="Google Shape;537;p49"/>
          <p:cNvSpPr/>
          <p:nvPr/>
        </p:nvSpPr>
        <p:spPr>
          <a:xfrm rot="827264">
            <a:off x="820691" y="8295274"/>
            <a:ext cx="366798" cy="442409"/>
          </a:xfrm>
          <a:custGeom>
            <a:rect b="b" l="l" r="r" t="t"/>
            <a:pathLst>
              <a:path extrusionOk="0" h="442409" w="366798">
                <a:moveTo>
                  <a:pt x="0" y="0"/>
                </a:moveTo>
                <a:lnTo>
                  <a:pt x="366798" y="0"/>
                </a:lnTo>
                <a:lnTo>
                  <a:pt x="366798" y="442409"/>
                </a:lnTo>
                <a:lnTo>
                  <a:pt x="0" y="4424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38" name="Google Shape;538;p49"/>
          <p:cNvGrpSpPr/>
          <p:nvPr/>
        </p:nvGrpSpPr>
        <p:grpSpPr>
          <a:xfrm>
            <a:off x="4395868" y="4438395"/>
            <a:ext cx="1760725" cy="663547"/>
            <a:chOff x="0" y="-19050"/>
            <a:chExt cx="463730" cy="174762"/>
          </a:xfrm>
        </p:grpSpPr>
        <p:sp>
          <p:nvSpPr>
            <p:cNvPr id="539" name="Google Shape;539;p49"/>
            <p:cNvSpPr/>
            <p:nvPr/>
          </p:nvSpPr>
          <p:spPr>
            <a:xfrm>
              <a:off x="0" y="0"/>
              <a:ext cx="463730" cy="155712"/>
            </a:xfrm>
            <a:custGeom>
              <a:rect b="b" l="l" r="r" t="t"/>
              <a:pathLst>
                <a:path extrusionOk="0" h="155712" w="463730">
                  <a:moveTo>
                    <a:pt x="77856" y="0"/>
                  </a:moveTo>
                  <a:lnTo>
                    <a:pt x="385874" y="0"/>
                  </a:lnTo>
                  <a:cubicBezTo>
                    <a:pt x="428873" y="0"/>
                    <a:pt x="463730" y="34857"/>
                    <a:pt x="463730" y="77856"/>
                  </a:cubicBezTo>
                  <a:lnTo>
                    <a:pt x="463730" y="77856"/>
                  </a:lnTo>
                  <a:cubicBezTo>
                    <a:pt x="463730" y="98504"/>
                    <a:pt x="455527" y="118307"/>
                    <a:pt x="440927" y="132908"/>
                  </a:cubicBezTo>
                  <a:cubicBezTo>
                    <a:pt x="426326" y="147509"/>
                    <a:pt x="406523" y="155712"/>
                    <a:pt x="385874" y="155712"/>
                  </a:cubicBezTo>
                  <a:lnTo>
                    <a:pt x="77856" y="155712"/>
                  </a:lnTo>
                  <a:cubicBezTo>
                    <a:pt x="34857" y="155712"/>
                    <a:pt x="0" y="120854"/>
                    <a:pt x="0" y="77856"/>
                  </a:cubicBezTo>
                  <a:lnTo>
                    <a:pt x="0" y="77856"/>
                  </a:lnTo>
                  <a:cubicBezTo>
                    <a:pt x="0" y="34857"/>
                    <a:pt x="34857" y="0"/>
                    <a:pt x="77856" y="0"/>
                  </a:cubicBezTo>
                  <a:close/>
                </a:path>
              </a:pathLst>
            </a:custGeom>
            <a:solidFill>
              <a:srgbClr val="00C4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49"/>
            <p:cNvSpPr txBox="1"/>
            <p:nvPr/>
          </p:nvSpPr>
          <p:spPr>
            <a:xfrm>
              <a:off x="0" y="-19050"/>
              <a:ext cx="463730" cy="174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1" name="Google Shape;541;p49"/>
          <p:cNvSpPr txBox="1"/>
          <p:nvPr/>
        </p:nvSpPr>
        <p:spPr>
          <a:xfrm>
            <a:off x="4405393" y="4495819"/>
            <a:ext cx="1760725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Step 1:</a:t>
            </a:r>
            <a:endParaRPr/>
          </a:p>
        </p:txBody>
      </p:sp>
      <p:grpSp>
        <p:nvGrpSpPr>
          <p:cNvPr id="542" name="Google Shape;542;p49"/>
          <p:cNvGrpSpPr/>
          <p:nvPr/>
        </p:nvGrpSpPr>
        <p:grpSpPr>
          <a:xfrm>
            <a:off x="14999852" y="2376584"/>
            <a:ext cx="1760725" cy="663547"/>
            <a:chOff x="0" y="-19050"/>
            <a:chExt cx="463730" cy="174762"/>
          </a:xfrm>
        </p:grpSpPr>
        <p:sp>
          <p:nvSpPr>
            <p:cNvPr id="543" name="Google Shape;543;p49"/>
            <p:cNvSpPr/>
            <p:nvPr/>
          </p:nvSpPr>
          <p:spPr>
            <a:xfrm>
              <a:off x="0" y="0"/>
              <a:ext cx="463730" cy="155712"/>
            </a:xfrm>
            <a:custGeom>
              <a:rect b="b" l="l" r="r" t="t"/>
              <a:pathLst>
                <a:path extrusionOk="0" h="155712" w="463730">
                  <a:moveTo>
                    <a:pt x="77856" y="0"/>
                  </a:moveTo>
                  <a:lnTo>
                    <a:pt x="385874" y="0"/>
                  </a:lnTo>
                  <a:cubicBezTo>
                    <a:pt x="428873" y="0"/>
                    <a:pt x="463730" y="34857"/>
                    <a:pt x="463730" y="77856"/>
                  </a:cubicBezTo>
                  <a:lnTo>
                    <a:pt x="463730" y="77856"/>
                  </a:lnTo>
                  <a:cubicBezTo>
                    <a:pt x="463730" y="98504"/>
                    <a:pt x="455527" y="118307"/>
                    <a:pt x="440927" y="132908"/>
                  </a:cubicBezTo>
                  <a:cubicBezTo>
                    <a:pt x="426326" y="147509"/>
                    <a:pt x="406523" y="155712"/>
                    <a:pt x="385874" y="155712"/>
                  </a:cubicBezTo>
                  <a:lnTo>
                    <a:pt x="77856" y="155712"/>
                  </a:lnTo>
                  <a:cubicBezTo>
                    <a:pt x="34857" y="155712"/>
                    <a:pt x="0" y="120854"/>
                    <a:pt x="0" y="77856"/>
                  </a:cubicBezTo>
                  <a:lnTo>
                    <a:pt x="0" y="77856"/>
                  </a:lnTo>
                  <a:cubicBezTo>
                    <a:pt x="0" y="34857"/>
                    <a:pt x="34857" y="0"/>
                    <a:pt x="77856" y="0"/>
                  </a:cubicBezTo>
                  <a:close/>
                </a:path>
              </a:pathLst>
            </a:custGeom>
            <a:solidFill>
              <a:srgbClr val="00C4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49"/>
            <p:cNvSpPr txBox="1"/>
            <p:nvPr/>
          </p:nvSpPr>
          <p:spPr>
            <a:xfrm>
              <a:off x="0" y="-19050"/>
              <a:ext cx="463730" cy="1747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45" name="Google Shape;545;p49"/>
          <p:cNvSpPr txBox="1"/>
          <p:nvPr/>
        </p:nvSpPr>
        <p:spPr>
          <a:xfrm>
            <a:off x="14999852" y="2457202"/>
            <a:ext cx="1760725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Step 2:</a:t>
            </a:r>
            <a:endParaRPr/>
          </a:p>
        </p:txBody>
      </p:sp>
      <p:sp>
        <p:nvSpPr>
          <p:cNvPr id="546" name="Google Shape;546;p49"/>
          <p:cNvSpPr txBox="1"/>
          <p:nvPr/>
        </p:nvSpPr>
        <p:spPr>
          <a:xfrm>
            <a:off x="13732450" y="3288352"/>
            <a:ext cx="374196" cy="362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y</a:t>
            </a:r>
            <a:endParaRPr/>
          </a:p>
        </p:txBody>
      </p:sp>
      <p:sp>
        <p:nvSpPr>
          <p:cNvPr id="547" name="Google Shape;547;p49"/>
          <p:cNvSpPr txBox="1"/>
          <p:nvPr/>
        </p:nvSpPr>
        <p:spPr>
          <a:xfrm>
            <a:off x="10634858" y="6177565"/>
            <a:ext cx="351851" cy="362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x</a:t>
            </a:r>
            <a:endParaRPr/>
          </a:p>
        </p:txBody>
      </p:sp>
      <p:sp>
        <p:nvSpPr>
          <p:cNvPr id="548" name="Google Shape;548;p49"/>
          <p:cNvSpPr txBox="1"/>
          <p:nvPr/>
        </p:nvSpPr>
        <p:spPr>
          <a:xfrm>
            <a:off x="14210376" y="3254062"/>
            <a:ext cx="3339677" cy="440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Plot the points.</a:t>
            </a:r>
            <a:endParaRPr/>
          </a:p>
        </p:txBody>
      </p:sp>
      <p:grpSp>
        <p:nvGrpSpPr>
          <p:cNvPr id="549" name="Google Shape;549;p49"/>
          <p:cNvGrpSpPr/>
          <p:nvPr/>
        </p:nvGrpSpPr>
        <p:grpSpPr>
          <a:xfrm>
            <a:off x="1418220" y="5213968"/>
            <a:ext cx="7755125" cy="952219"/>
            <a:chOff x="0" y="-19050"/>
            <a:chExt cx="10340167" cy="1269627"/>
          </a:xfrm>
        </p:grpSpPr>
        <p:sp>
          <p:nvSpPr>
            <p:cNvPr id="550" name="Google Shape;550;p49"/>
            <p:cNvSpPr txBox="1"/>
            <p:nvPr/>
          </p:nvSpPr>
          <p:spPr>
            <a:xfrm>
              <a:off x="0" y="-19050"/>
              <a:ext cx="10340167" cy="581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ctr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FCB295"/>
                  </a:solidFill>
                  <a:latin typeface="NTR"/>
                  <a:ea typeface="NTR"/>
                  <a:cs typeface="NTR"/>
                  <a:sym typeface="NTR"/>
                </a:rPr>
                <a:t>Construct the table of values.</a:t>
              </a:r>
              <a:endParaRPr/>
            </a:p>
          </p:txBody>
        </p:sp>
        <p:sp>
          <p:nvSpPr>
            <p:cNvPr id="551" name="Google Shape;551;p49"/>
            <p:cNvSpPr txBox="1"/>
            <p:nvPr/>
          </p:nvSpPr>
          <p:spPr>
            <a:xfrm>
              <a:off x="0" y="669340"/>
              <a:ext cx="10340167" cy="581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ctr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NTR"/>
                  <a:ea typeface="NTR"/>
                  <a:cs typeface="NTR"/>
                  <a:sym typeface="NTR"/>
                </a:rPr>
                <a:t>Do this by substituting values of x to y=2x. </a:t>
              </a:r>
              <a:endParaRPr/>
            </a:p>
          </p:txBody>
        </p:sp>
      </p:grpSp>
      <p:sp>
        <p:nvSpPr>
          <p:cNvPr id="552" name="Google Shape;552;p49"/>
          <p:cNvSpPr txBox="1"/>
          <p:nvPr/>
        </p:nvSpPr>
        <p:spPr>
          <a:xfrm>
            <a:off x="1802316" y="8835778"/>
            <a:ext cx="6966881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Notice that for every value of x, there is only one value of y. </a:t>
            </a:r>
            <a:endParaRPr/>
          </a:p>
        </p:txBody>
      </p:sp>
      <p:sp>
        <p:nvSpPr>
          <p:cNvPr id="553" name="Google Shape;553;p49"/>
          <p:cNvSpPr txBox="1"/>
          <p:nvPr/>
        </p:nvSpPr>
        <p:spPr>
          <a:xfrm>
            <a:off x="1234923" y="856306"/>
            <a:ext cx="16084297" cy="21970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GRAPHING A FUNCTION USING THE TABLE OF VALUES</a:t>
            </a:r>
            <a:endParaRPr/>
          </a:p>
        </p:txBody>
      </p:sp>
      <p:sp>
        <p:nvSpPr>
          <p:cNvPr id="554" name="Google Shape;554;p49"/>
          <p:cNvSpPr txBox="1"/>
          <p:nvPr/>
        </p:nvSpPr>
        <p:spPr>
          <a:xfrm>
            <a:off x="1234923" y="3340422"/>
            <a:ext cx="7215900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Given the equation</a:t>
            </a: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y = 2x.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0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60" name="Google Shape;560;p50"/>
          <p:cNvGrpSpPr/>
          <p:nvPr/>
        </p:nvGrpSpPr>
        <p:grpSpPr>
          <a:xfrm>
            <a:off x="11639664" y="4308691"/>
            <a:ext cx="4559625" cy="4558922"/>
            <a:chOff x="0" y="12700"/>
            <a:chExt cx="6079500" cy="6078563"/>
          </a:xfrm>
        </p:grpSpPr>
        <p:cxnSp>
          <p:nvCxnSpPr>
            <p:cNvPr id="561" name="Google Shape;561;p50"/>
            <p:cNvCxnSpPr/>
            <p:nvPr/>
          </p:nvCxnSpPr>
          <p:spPr>
            <a:xfrm>
              <a:off x="0" y="2273111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2" name="Google Shape;562;p50"/>
            <p:cNvCxnSpPr/>
            <p:nvPr/>
          </p:nvCxnSpPr>
          <p:spPr>
            <a:xfrm>
              <a:off x="0" y="12700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3" name="Google Shape;563;p50"/>
            <p:cNvCxnSpPr/>
            <p:nvPr/>
          </p:nvCxnSpPr>
          <p:spPr>
            <a:xfrm>
              <a:off x="0" y="766170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4" name="Google Shape;564;p50"/>
            <p:cNvCxnSpPr/>
            <p:nvPr/>
          </p:nvCxnSpPr>
          <p:spPr>
            <a:xfrm>
              <a:off x="0" y="1519641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5" name="Google Shape;565;p50"/>
            <p:cNvCxnSpPr/>
            <p:nvPr/>
          </p:nvCxnSpPr>
          <p:spPr>
            <a:xfrm>
              <a:off x="0" y="6091263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6" name="Google Shape;566;p50"/>
            <p:cNvCxnSpPr/>
            <p:nvPr/>
          </p:nvCxnSpPr>
          <p:spPr>
            <a:xfrm>
              <a:off x="0" y="3830852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7" name="Google Shape;567;p50"/>
            <p:cNvCxnSpPr/>
            <p:nvPr/>
          </p:nvCxnSpPr>
          <p:spPr>
            <a:xfrm>
              <a:off x="0" y="4584322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8" name="Google Shape;568;p50"/>
            <p:cNvCxnSpPr/>
            <p:nvPr/>
          </p:nvCxnSpPr>
          <p:spPr>
            <a:xfrm>
              <a:off x="0" y="5337793"/>
              <a:ext cx="6079500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569" name="Google Shape;569;p50"/>
          <p:cNvGrpSpPr/>
          <p:nvPr/>
        </p:nvGrpSpPr>
        <p:grpSpPr>
          <a:xfrm>
            <a:off x="11640087" y="4299160"/>
            <a:ext cx="4558922" cy="4577979"/>
            <a:chOff x="12700" y="-8"/>
            <a:chExt cx="6078563" cy="6103972"/>
          </a:xfrm>
        </p:grpSpPr>
        <p:cxnSp>
          <p:nvCxnSpPr>
            <p:cNvPr id="570" name="Google Shape;570;p50"/>
            <p:cNvCxnSpPr/>
            <p:nvPr/>
          </p:nvCxnSpPr>
          <p:spPr>
            <a:xfrm rot="10800000">
              <a:off x="2273111" y="292"/>
              <a:ext cx="0" cy="61035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1" name="Google Shape;571;p50"/>
            <p:cNvCxnSpPr/>
            <p:nvPr/>
          </p:nvCxnSpPr>
          <p:spPr>
            <a:xfrm rot="10800000">
              <a:off x="12700" y="292"/>
              <a:ext cx="0" cy="61035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2" name="Google Shape;572;p50"/>
            <p:cNvCxnSpPr/>
            <p:nvPr/>
          </p:nvCxnSpPr>
          <p:spPr>
            <a:xfrm rot="10800000">
              <a:off x="766170" y="292"/>
              <a:ext cx="0" cy="61035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3" name="Google Shape;573;p50"/>
            <p:cNvCxnSpPr/>
            <p:nvPr/>
          </p:nvCxnSpPr>
          <p:spPr>
            <a:xfrm rot="10800000">
              <a:off x="1519641" y="292"/>
              <a:ext cx="0" cy="61035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4" name="Google Shape;574;p50"/>
            <p:cNvCxnSpPr/>
            <p:nvPr/>
          </p:nvCxnSpPr>
          <p:spPr>
            <a:xfrm rot="10800000">
              <a:off x="6091263" y="292"/>
              <a:ext cx="0" cy="61035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5" name="Google Shape;575;p50"/>
            <p:cNvCxnSpPr/>
            <p:nvPr/>
          </p:nvCxnSpPr>
          <p:spPr>
            <a:xfrm flipH="1" rot="10800000">
              <a:off x="3818152" y="164"/>
              <a:ext cx="12600" cy="61038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6" name="Google Shape;576;p50"/>
            <p:cNvCxnSpPr/>
            <p:nvPr/>
          </p:nvCxnSpPr>
          <p:spPr>
            <a:xfrm rot="10800000">
              <a:off x="4584322" y="-8"/>
              <a:ext cx="0" cy="61038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7" name="Google Shape;577;p50"/>
            <p:cNvCxnSpPr/>
            <p:nvPr/>
          </p:nvCxnSpPr>
          <p:spPr>
            <a:xfrm rot="10800000">
              <a:off x="5337793" y="292"/>
              <a:ext cx="0" cy="610350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78" name="Google Shape;578;p50"/>
          <p:cNvCxnSpPr/>
          <p:nvPr/>
        </p:nvCxnSpPr>
        <p:spPr>
          <a:xfrm>
            <a:off x="11081959" y="6590344"/>
            <a:ext cx="5675100" cy="0"/>
          </a:xfrm>
          <a:prstGeom prst="straightConnector1">
            <a:avLst/>
          </a:prstGeom>
          <a:noFill/>
          <a:ln cap="rnd" cmpd="sng" w="38100">
            <a:solidFill>
              <a:srgbClr val="B37345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579" name="Google Shape;579;p50"/>
          <p:cNvGrpSpPr/>
          <p:nvPr/>
        </p:nvGrpSpPr>
        <p:grpSpPr>
          <a:xfrm>
            <a:off x="13179820" y="4009088"/>
            <a:ext cx="2035034" cy="4053941"/>
            <a:chOff x="0" y="-144661"/>
            <a:chExt cx="2713379" cy="5405255"/>
          </a:xfrm>
        </p:grpSpPr>
        <p:grpSp>
          <p:nvGrpSpPr>
            <p:cNvPr id="580" name="Google Shape;580;p50"/>
            <p:cNvGrpSpPr/>
            <p:nvPr/>
          </p:nvGrpSpPr>
          <p:grpSpPr>
            <a:xfrm>
              <a:off x="1557741" y="2888715"/>
              <a:ext cx="389468" cy="666731"/>
              <a:chOff x="0" y="-28575"/>
              <a:chExt cx="76932" cy="131700"/>
            </a:xfrm>
          </p:grpSpPr>
          <p:sp>
            <p:nvSpPr>
              <p:cNvPr id="581" name="Google Shape;581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82" name="Google Shape;582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583" name="Google Shape;583;p50"/>
            <p:cNvGrpSpPr/>
            <p:nvPr/>
          </p:nvGrpSpPr>
          <p:grpSpPr>
            <a:xfrm>
              <a:off x="0" y="2888715"/>
              <a:ext cx="389468" cy="666731"/>
              <a:chOff x="0" y="-28575"/>
              <a:chExt cx="76932" cy="131700"/>
            </a:xfrm>
          </p:grpSpPr>
          <p:sp>
            <p:nvSpPr>
              <p:cNvPr id="584" name="Google Shape;584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85" name="Google Shape;585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-1</a:t>
                </a:r>
                <a:endParaRPr/>
              </a:p>
            </p:txBody>
          </p:sp>
        </p:grpSp>
        <p:grpSp>
          <p:nvGrpSpPr>
            <p:cNvPr id="586" name="Google Shape;586;p50"/>
            <p:cNvGrpSpPr/>
            <p:nvPr/>
          </p:nvGrpSpPr>
          <p:grpSpPr>
            <a:xfrm>
              <a:off x="791570" y="2888715"/>
              <a:ext cx="389468" cy="666731"/>
              <a:chOff x="0" y="-28575"/>
              <a:chExt cx="76932" cy="131700"/>
            </a:xfrm>
          </p:grpSpPr>
          <p:sp>
            <p:nvSpPr>
              <p:cNvPr id="587" name="Google Shape;587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88" name="Google Shape;588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/>
              </a:p>
            </p:txBody>
          </p:sp>
        </p:grpSp>
        <p:grpSp>
          <p:nvGrpSpPr>
            <p:cNvPr id="589" name="Google Shape;589;p50"/>
            <p:cNvGrpSpPr/>
            <p:nvPr/>
          </p:nvGrpSpPr>
          <p:grpSpPr>
            <a:xfrm>
              <a:off x="2323911" y="2888715"/>
              <a:ext cx="389468" cy="666731"/>
              <a:chOff x="0" y="-28575"/>
              <a:chExt cx="76932" cy="131700"/>
            </a:xfrm>
          </p:grpSpPr>
          <p:sp>
            <p:nvSpPr>
              <p:cNvPr id="590" name="Google Shape;590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91" name="Google Shape;591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ct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592" name="Google Shape;592;p50"/>
            <p:cNvGrpSpPr/>
            <p:nvPr/>
          </p:nvGrpSpPr>
          <p:grpSpPr>
            <a:xfrm>
              <a:off x="444976" y="-144661"/>
              <a:ext cx="389468" cy="666731"/>
              <a:chOff x="0" y="-28575"/>
              <a:chExt cx="76932" cy="131700"/>
            </a:xfrm>
          </p:grpSpPr>
          <p:sp>
            <p:nvSpPr>
              <p:cNvPr id="593" name="Google Shape;593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94" name="Google Shape;594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grpSp>
          <p:nvGrpSpPr>
            <p:cNvPr id="595" name="Google Shape;595;p50"/>
            <p:cNvGrpSpPr/>
            <p:nvPr/>
          </p:nvGrpSpPr>
          <p:grpSpPr>
            <a:xfrm>
              <a:off x="444976" y="2132563"/>
              <a:ext cx="389468" cy="666731"/>
              <a:chOff x="0" y="-28575"/>
              <a:chExt cx="76932" cy="131700"/>
            </a:xfrm>
          </p:grpSpPr>
          <p:sp>
            <p:nvSpPr>
              <p:cNvPr id="596" name="Google Shape;596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597" name="Google Shape;597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598" name="Google Shape;598;p50"/>
            <p:cNvGrpSpPr/>
            <p:nvPr/>
          </p:nvGrpSpPr>
          <p:grpSpPr>
            <a:xfrm>
              <a:off x="389466" y="4593863"/>
              <a:ext cx="444994" cy="666731"/>
              <a:chOff x="0" y="-28575"/>
              <a:chExt cx="87900" cy="131700"/>
            </a:xfrm>
          </p:grpSpPr>
          <p:sp>
            <p:nvSpPr>
              <p:cNvPr id="599" name="Google Shape;599;p50"/>
              <p:cNvSpPr/>
              <p:nvPr/>
            </p:nvSpPr>
            <p:spPr>
              <a:xfrm>
                <a:off x="0" y="0"/>
                <a:ext cx="87897" cy="102998"/>
              </a:xfrm>
              <a:custGeom>
                <a:rect b="b" l="l" r="r" t="t"/>
                <a:pathLst>
                  <a:path extrusionOk="0" h="102998" w="87897">
                    <a:moveTo>
                      <a:pt x="0" y="0"/>
                    </a:moveTo>
                    <a:lnTo>
                      <a:pt x="87897" y="0"/>
                    </a:lnTo>
                    <a:lnTo>
                      <a:pt x="87897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00" name="Google Shape;600;p50"/>
              <p:cNvSpPr txBox="1"/>
              <p:nvPr/>
            </p:nvSpPr>
            <p:spPr>
              <a:xfrm>
                <a:off x="0" y="-28575"/>
                <a:ext cx="879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-2</a:t>
                </a:r>
                <a:endParaRPr/>
              </a:p>
            </p:txBody>
          </p:sp>
        </p:grpSp>
        <p:grpSp>
          <p:nvGrpSpPr>
            <p:cNvPr id="601" name="Google Shape;601;p50"/>
            <p:cNvGrpSpPr/>
            <p:nvPr/>
          </p:nvGrpSpPr>
          <p:grpSpPr>
            <a:xfrm>
              <a:off x="444976" y="1373488"/>
              <a:ext cx="389468" cy="666731"/>
              <a:chOff x="0" y="-28575"/>
              <a:chExt cx="76932" cy="131700"/>
            </a:xfrm>
          </p:grpSpPr>
          <p:sp>
            <p:nvSpPr>
              <p:cNvPr id="602" name="Google Shape;602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03" name="Google Shape;603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604" name="Google Shape;604;p50"/>
            <p:cNvGrpSpPr/>
            <p:nvPr/>
          </p:nvGrpSpPr>
          <p:grpSpPr>
            <a:xfrm>
              <a:off x="444976" y="3650713"/>
              <a:ext cx="389468" cy="666731"/>
              <a:chOff x="0" y="-28575"/>
              <a:chExt cx="76932" cy="131700"/>
            </a:xfrm>
          </p:grpSpPr>
          <p:sp>
            <p:nvSpPr>
              <p:cNvPr id="605" name="Google Shape;605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06" name="Google Shape;606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-1</a:t>
                </a:r>
                <a:endParaRPr/>
              </a:p>
            </p:txBody>
          </p:sp>
        </p:grpSp>
        <p:grpSp>
          <p:nvGrpSpPr>
            <p:cNvPr id="607" name="Google Shape;607;p50"/>
            <p:cNvGrpSpPr/>
            <p:nvPr/>
          </p:nvGrpSpPr>
          <p:grpSpPr>
            <a:xfrm>
              <a:off x="444976" y="614414"/>
              <a:ext cx="389468" cy="666731"/>
              <a:chOff x="0" y="-28575"/>
              <a:chExt cx="76932" cy="131700"/>
            </a:xfrm>
          </p:grpSpPr>
          <p:sp>
            <p:nvSpPr>
              <p:cNvPr id="608" name="Google Shape;608;p50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09" name="Google Shape;609;p50"/>
              <p:cNvSpPr txBox="1"/>
              <p:nvPr/>
            </p:nvSpPr>
            <p:spPr>
              <a:xfrm>
                <a:off x="0" y="-28575"/>
                <a:ext cx="76800" cy="13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</p:grpSp>
      <p:pic>
        <p:nvPicPr>
          <p:cNvPr id="610" name="Google Shape;610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679771" y="3797273"/>
            <a:ext cx="3061212" cy="443636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1" name="Google Shape;611;p50"/>
          <p:cNvCxnSpPr/>
          <p:nvPr/>
        </p:nvCxnSpPr>
        <p:spPr>
          <a:xfrm rot="10800000">
            <a:off x="13919623" y="3750640"/>
            <a:ext cx="0" cy="5675100"/>
          </a:xfrm>
          <a:prstGeom prst="straightConnector1">
            <a:avLst/>
          </a:prstGeom>
          <a:noFill/>
          <a:ln cap="rnd" cmpd="sng" w="38100">
            <a:solidFill>
              <a:srgbClr val="B37345"/>
            </a:solidFill>
            <a:prstDash val="solid"/>
            <a:round/>
            <a:headEnd len="med" w="med" type="triangle"/>
            <a:tailEnd len="med" w="med" type="triangle"/>
          </a:ln>
        </p:spPr>
      </p:cxnSp>
      <p:graphicFrame>
        <p:nvGraphicFramePr>
          <p:cNvPr id="612" name="Google Shape;612;p50"/>
          <p:cNvGraphicFramePr/>
          <p:nvPr/>
        </p:nvGraphicFramePr>
        <p:xfrm>
          <a:off x="1961066" y="65733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{6B6453AF-2548-49EC-B0BF-D976E116B519}</a:tableStyleId>
              </a:tblPr>
              <a:tblGrid>
                <a:gridCol w="1329875"/>
                <a:gridCol w="1329875"/>
                <a:gridCol w="1329875"/>
                <a:gridCol w="1329875"/>
                <a:gridCol w="1329875"/>
              </a:tblGrid>
              <a:tr h="9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x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1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13" name="Google Shape;613;p50"/>
          <p:cNvSpPr/>
          <p:nvPr/>
        </p:nvSpPr>
        <p:spPr>
          <a:xfrm rot="6546859">
            <a:off x="-1779608" y="6068897"/>
            <a:ext cx="4673773" cy="1478612"/>
          </a:xfrm>
          <a:custGeom>
            <a:rect b="b" l="l" r="r" t="t"/>
            <a:pathLst>
              <a:path extrusionOk="0" h="1478404" w="4673116">
                <a:moveTo>
                  <a:pt x="0" y="0"/>
                </a:moveTo>
                <a:lnTo>
                  <a:pt x="4673116" y="0"/>
                </a:lnTo>
                <a:lnTo>
                  <a:pt x="4673116" y="1478404"/>
                </a:lnTo>
                <a:lnTo>
                  <a:pt x="0" y="1478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4" name="Google Shape;614;p50"/>
          <p:cNvSpPr/>
          <p:nvPr/>
        </p:nvSpPr>
        <p:spPr>
          <a:xfrm rot="-189358">
            <a:off x="8934171" y="6945810"/>
            <a:ext cx="2371112" cy="1069156"/>
          </a:xfrm>
          <a:custGeom>
            <a:rect b="b" l="l" r="r" t="t"/>
            <a:pathLst>
              <a:path extrusionOk="0" h="1070210" w="2373450">
                <a:moveTo>
                  <a:pt x="0" y="0"/>
                </a:moveTo>
                <a:lnTo>
                  <a:pt x="2373450" y="0"/>
                </a:lnTo>
                <a:lnTo>
                  <a:pt x="2373450" y="1070211"/>
                </a:lnTo>
                <a:lnTo>
                  <a:pt x="0" y="10702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5" name="Google Shape;615;p50"/>
          <p:cNvSpPr/>
          <p:nvPr/>
        </p:nvSpPr>
        <p:spPr>
          <a:xfrm rot="825477">
            <a:off x="17366867" y="8514669"/>
            <a:ext cx="366304" cy="441813"/>
          </a:xfrm>
          <a:custGeom>
            <a:rect b="b" l="l" r="r" t="t"/>
            <a:pathLst>
              <a:path extrusionOk="0" h="442409" w="366798">
                <a:moveTo>
                  <a:pt x="0" y="0"/>
                </a:moveTo>
                <a:lnTo>
                  <a:pt x="366797" y="0"/>
                </a:lnTo>
                <a:lnTo>
                  <a:pt x="366797" y="442410"/>
                </a:lnTo>
                <a:lnTo>
                  <a:pt x="0" y="4424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6" name="Google Shape;616;p50"/>
          <p:cNvSpPr/>
          <p:nvPr/>
        </p:nvSpPr>
        <p:spPr>
          <a:xfrm rot="-956724">
            <a:off x="9724154" y="4206987"/>
            <a:ext cx="348833" cy="398873"/>
          </a:xfrm>
          <a:custGeom>
            <a:rect b="b" l="l" r="r" t="t"/>
            <a:pathLst>
              <a:path extrusionOk="0" h="398469" w="348479">
                <a:moveTo>
                  <a:pt x="0" y="0"/>
                </a:moveTo>
                <a:lnTo>
                  <a:pt x="348479" y="0"/>
                </a:lnTo>
                <a:lnTo>
                  <a:pt x="348479" y="398469"/>
                </a:lnTo>
                <a:lnTo>
                  <a:pt x="0" y="3984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17" name="Google Shape;617;p50"/>
          <p:cNvSpPr/>
          <p:nvPr/>
        </p:nvSpPr>
        <p:spPr>
          <a:xfrm rot="825477">
            <a:off x="820903" y="8295159"/>
            <a:ext cx="366304" cy="441813"/>
          </a:xfrm>
          <a:custGeom>
            <a:rect b="b" l="l" r="r" t="t"/>
            <a:pathLst>
              <a:path extrusionOk="0" h="442409" w="366798">
                <a:moveTo>
                  <a:pt x="0" y="0"/>
                </a:moveTo>
                <a:lnTo>
                  <a:pt x="366798" y="0"/>
                </a:lnTo>
                <a:lnTo>
                  <a:pt x="366798" y="442409"/>
                </a:lnTo>
                <a:lnTo>
                  <a:pt x="0" y="4424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18" name="Google Shape;618;p50"/>
          <p:cNvGrpSpPr/>
          <p:nvPr/>
        </p:nvGrpSpPr>
        <p:grpSpPr>
          <a:xfrm>
            <a:off x="4395868" y="4438394"/>
            <a:ext cx="1761002" cy="664078"/>
            <a:chOff x="0" y="-19050"/>
            <a:chExt cx="463800" cy="174900"/>
          </a:xfrm>
        </p:grpSpPr>
        <p:sp>
          <p:nvSpPr>
            <p:cNvPr id="619" name="Google Shape;619;p50"/>
            <p:cNvSpPr/>
            <p:nvPr/>
          </p:nvSpPr>
          <p:spPr>
            <a:xfrm>
              <a:off x="0" y="0"/>
              <a:ext cx="463730" cy="155712"/>
            </a:xfrm>
            <a:custGeom>
              <a:rect b="b" l="l" r="r" t="t"/>
              <a:pathLst>
                <a:path extrusionOk="0" h="155712" w="463730">
                  <a:moveTo>
                    <a:pt x="77856" y="0"/>
                  </a:moveTo>
                  <a:lnTo>
                    <a:pt x="385874" y="0"/>
                  </a:lnTo>
                  <a:cubicBezTo>
                    <a:pt x="428873" y="0"/>
                    <a:pt x="463730" y="34857"/>
                    <a:pt x="463730" y="77856"/>
                  </a:cubicBezTo>
                  <a:lnTo>
                    <a:pt x="463730" y="77856"/>
                  </a:lnTo>
                  <a:cubicBezTo>
                    <a:pt x="463730" y="98504"/>
                    <a:pt x="455527" y="118307"/>
                    <a:pt x="440927" y="132908"/>
                  </a:cubicBezTo>
                  <a:cubicBezTo>
                    <a:pt x="426326" y="147509"/>
                    <a:pt x="406523" y="155712"/>
                    <a:pt x="385874" y="155712"/>
                  </a:cubicBezTo>
                  <a:lnTo>
                    <a:pt x="77856" y="155712"/>
                  </a:lnTo>
                  <a:cubicBezTo>
                    <a:pt x="34857" y="155712"/>
                    <a:pt x="0" y="120854"/>
                    <a:pt x="0" y="77856"/>
                  </a:cubicBezTo>
                  <a:lnTo>
                    <a:pt x="0" y="77856"/>
                  </a:lnTo>
                  <a:cubicBezTo>
                    <a:pt x="0" y="34857"/>
                    <a:pt x="34857" y="0"/>
                    <a:pt x="77856" y="0"/>
                  </a:cubicBezTo>
                  <a:close/>
                </a:path>
              </a:pathLst>
            </a:custGeom>
            <a:solidFill>
              <a:srgbClr val="00C4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50"/>
            <p:cNvSpPr txBox="1"/>
            <p:nvPr/>
          </p:nvSpPr>
          <p:spPr>
            <a:xfrm>
              <a:off x="0" y="-19050"/>
              <a:ext cx="463800" cy="1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1" name="Google Shape;621;p50"/>
          <p:cNvSpPr txBox="1"/>
          <p:nvPr/>
        </p:nvSpPr>
        <p:spPr>
          <a:xfrm>
            <a:off x="4405393" y="4495819"/>
            <a:ext cx="17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Step 1:</a:t>
            </a:r>
            <a:endParaRPr/>
          </a:p>
        </p:txBody>
      </p:sp>
      <p:grpSp>
        <p:nvGrpSpPr>
          <p:cNvPr id="622" name="Google Shape;622;p50"/>
          <p:cNvGrpSpPr/>
          <p:nvPr/>
        </p:nvGrpSpPr>
        <p:grpSpPr>
          <a:xfrm>
            <a:off x="14999852" y="2376583"/>
            <a:ext cx="1761002" cy="664078"/>
            <a:chOff x="0" y="-19050"/>
            <a:chExt cx="463800" cy="174900"/>
          </a:xfrm>
        </p:grpSpPr>
        <p:sp>
          <p:nvSpPr>
            <p:cNvPr id="623" name="Google Shape;623;p50"/>
            <p:cNvSpPr/>
            <p:nvPr/>
          </p:nvSpPr>
          <p:spPr>
            <a:xfrm>
              <a:off x="0" y="0"/>
              <a:ext cx="463730" cy="155712"/>
            </a:xfrm>
            <a:custGeom>
              <a:rect b="b" l="l" r="r" t="t"/>
              <a:pathLst>
                <a:path extrusionOk="0" h="155712" w="463730">
                  <a:moveTo>
                    <a:pt x="77856" y="0"/>
                  </a:moveTo>
                  <a:lnTo>
                    <a:pt x="385874" y="0"/>
                  </a:lnTo>
                  <a:cubicBezTo>
                    <a:pt x="428873" y="0"/>
                    <a:pt x="463730" y="34857"/>
                    <a:pt x="463730" y="77856"/>
                  </a:cubicBezTo>
                  <a:lnTo>
                    <a:pt x="463730" y="77856"/>
                  </a:lnTo>
                  <a:cubicBezTo>
                    <a:pt x="463730" y="98504"/>
                    <a:pt x="455527" y="118307"/>
                    <a:pt x="440927" y="132908"/>
                  </a:cubicBezTo>
                  <a:cubicBezTo>
                    <a:pt x="426326" y="147509"/>
                    <a:pt x="406523" y="155712"/>
                    <a:pt x="385874" y="155712"/>
                  </a:cubicBezTo>
                  <a:lnTo>
                    <a:pt x="77856" y="155712"/>
                  </a:lnTo>
                  <a:cubicBezTo>
                    <a:pt x="34857" y="155712"/>
                    <a:pt x="0" y="120854"/>
                    <a:pt x="0" y="77856"/>
                  </a:cubicBezTo>
                  <a:lnTo>
                    <a:pt x="0" y="77856"/>
                  </a:lnTo>
                  <a:cubicBezTo>
                    <a:pt x="0" y="34857"/>
                    <a:pt x="34857" y="0"/>
                    <a:pt x="77856" y="0"/>
                  </a:cubicBezTo>
                  <a:close/>
                </a:path>
              </a:pathLst>
            </a:custGeom>
            <a:solidFill>
              <a:srgbClr val="00C4A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50"/>
            <p:cNvSpPr txBox="1"/>
            <p:nvPr/>
          </p:nvSpPr>
          <p:spPr>
            <a:xfrm>
              <a:off x="0" y="-19050"/>
              <a:ext cx="463800" cy="17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5" name="Google Shape;625;p50"/>
          <p:cNvSpPr txBox="1"/>
          <p:nvPr/>
        </p:nvSpPr>
        <p:spPr>
          <a:xfrm>
            <a:off x="14999852" y="2457202"/>
            <a:ext cx="1760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Step 2:</a:t>
            </a:r>
            <a:endParaRPr/>
          </a:p>
        </p:txBody>
      </p:sp>
      <p:sp>
        <p:nvSpPr>
          <p:cNvPr id="626" name="Google Shape;626;p50"/>
          <p:cNvSpPr txBox="1"/>
          <p:nvPr/>
        </p:nvSpPr>
        <p:spPr>
          <a:xfrm>
            <a:off x="13732450" y="3288352"/>
            <a:ext cx="3741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y</a:t>
            </a:r>
            <a:endParaRPr/>
          </a:p>
        </p:txBody>
      </p:sp>
      <p:sp>
        <p:nvSpPr>
          <p:cNvPr id="627" name="Google Shape;627;p50"/>
          <p:cNvSpPr txBox="1"/>
          <p:nvPr/>
        </p:nvSpPr>
        <p:spPr>
          <a:xfrm>
            <a:off x="10634858" y="6177565"/>
            <a:ext cx="351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x</a:t>
            </a:r>
            <a:endParaRPr/>
          </a:p>
        </p:txBody>
      </p:sp>
      <p:sp>
        <p:nvSpPr>
          <p:cNvPr id="628" name="Google Shape;628;p50"/>
          <p:cNvSpPr txBox="1"/>
          <p:nvPr/>
        </p:nvSpPr>
        <p:spPr>
          <a:xfrm>
            <a:off x="14210376" y="3254062"/>
            <a:ext cx="333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99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Plot the points.</a:t>
            </a:r>
            <a:endParaRPr/>
          </a:p>
        </p:txBody>
      </p:sp>
      <p:grpSp>
        <p:nvGrpSpPr>
          <p:cNvPr id="629" name="Google Shape;629;p50"/>
          <p:cNvGrpSpPr/>
          <p:nvPr/>
        </p:nvGrpSpPr>
        <p:grpSpPr>
          <a:xfrm>
            <a:off x="1418220" y="5213968"/>
            <a:ext cx="7755075" cy="947168"/>
            <a:chOff x="0" y="-19050"/>
            <a:chExt cx="10340100" cy="1262890"/>
          </a:xfrm>
        </p:grpSpPr>
        <p:sp>
          <p:nvSpPr>
            <p:cNvPr id="630" name="Google Shape;630;p50"/>
            <p:cNvSpPr txBox="1"/>
            <p:nvPr/>
          </p:nvSpPr>
          <p:spPr>
            <a:xfrm>
              <a:off x="0" y="-19050"/>
              <a:ext cx="103401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ctr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799" u="none" cap="none" strike="noStrike">
                  <a:solidFill>
                    <a:srgbClr val="FCB295"/>
                  </a:solidFill>
                  <a:latin typeface="NTR"/>
                  <a:ea typeface="NTR"/>
                  <a:cs typeface="NTR"/>
                  <a:sym typeface="NTR"/>
                </a:rPr>
                <a:t>Construct the table of values.</a:t>
              </a:r>
              <a:endParaRPr/>
            </a:p>
          </p:txBody>
        </p:sp>
        <p:sp>
          <p:nvSpPr>
            <p:cNvPr id="631" name="Google Shape;631;p50"/>
            <p:cNvSpPr txBox="1"/>
            <p:nvPr/>
          </p:nvSpPr>
          <p:spPr>
            <a:xfrm>
              <a:off x="0" y="669340"/>
              <a:ext cx="10340100" cy="57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ctr">
                <a:lnSpc>
                  <a:spcPct val="13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FFFFFF"/>
                  </a:solidFill>
                  <a:latin typeface="NTR"/>
                  <a:ea typeface="NTR"/>
                  <a:cs typeface="NTR"/>
                  <a:sym typeface="NTR"/>
                </a:rPr>
                <a:t>Do this by substituting values of x to y=2x. </a:t>
              </a:r>
              <a:endParaRPr/>
            </a:p>
          </p:txBody>
        </p:sp>
      </p:grpSp>
      <p:sp>
        <p:nvSpPr>
          <p:cNvPr id="632" name="Google Shape;632;p50"/>
          <p:cNvSpPr txBox="1"/>
          <p:nvPr/>
        </p:nvSpPr>
        <p:spPr>
          <a:xfrm>
            <a:off x="1802316" y="8835778"/>
            <a:ext cx="6966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30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Notice that for every value of x, there is only one value of y. </a:t>
            </a:r>
            <a:endParaRPr/>
          </a:p>
        </p:txBody>
      </p:sp>
      <p:sp>
        <p:nvSpPr>
          <p:cNvPr id="633" name="Google Shape;633;p50"/>
          <p:cNvSpPr txBox="1"/>
          <p:nvPr/>
        </p:nvSpPr>
        <p:spPr>
          <a:xfrm>
            <a:off x="1234923" y="856306"/>
            <a:ext cx="16084200" cy="26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GRAPHING A FUNCTION USING THE TABLE OF VALUES</a:t>
            </a:r>
            <a:endParaRPr/>
          </a:p>
        </p:txBody>
      </p:sp>
      <p:sp>
        <p:nvSpPr>
          <p:cNvPr id="634" name="Google Shape;634;p50"/>
          <p:cNvSpPr txBox="1"/>
          <p:nvPr/>
        </p:nvSpPr>
        <p:spPr>
          <a:xfrm>
            <a:off x="1234923" y="3340422"/>
            <a:ext cx="721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Given the equation</a:t>
            </a: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y = 2x.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51899" y="7820800"/>
            <a:ext cx="6073502" cy="2871351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51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641" name="Google Shape;641;p51"/>
          <p:cNvGraphicFramePr/>
          <p:nvPr/>
        </p:nvGraphicFramePr>
        <p:xfrm>
          <a:off x="3902914" y="5122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{6B6453AF-2548-49EC-B0BF-D976E116B519}</a:tableStyleId>
              </a:tblPr>
              <a:tblGrid>
                <a:gridCol w="1310275"/>
                <a:gridCol w="1310275"/>
                <a:gridCol w="1310275"/>
                <a:gridCol w="1310275"/>
                <a:gridCol w="1310275"/>
                <a:gridCol w="1310275"/>
                <a:gridCol w="1310275"/>
                <a:gridCol w="1310275"/>
              </a:tblGrid>
              <a:tr h="143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399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x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35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4399" u="none" cap="none" strike="noStrike">
                          <a:solidFill>
                            <a:srgbClr val="FCB295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y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-18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-16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-15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11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600" u="none" cap="none" strike="noStrike">
                          <a:solidFill>
                            <a:srgbClr val="FFFFFF"/>
                          </a:solidFill>
                          <a:latin typeface="NTR"/>
                          <a:ea typeface="NTR"/>
                          <a:cs typeface="NTR"/>
                          <a:sym typeface="NTR"/>
                        </a:rPr>
                        <a:t>-9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6EE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42" name="Google Shape;642;p51"/>
          <p:cNvSpPr txBox="1"/>
          <p:nvPr/>
        </p:nvSpPr>
        <p:spPr>
          <a:xfrm>
            <a:off x="2943622" y="3603173"/>
            <a:ext cx="12400756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hanga"/>
                <a:ea typeface="Changa"/>
                <a:cs typeface="Changa"/>
                <a:sym typeface="Changa"/>
              </a:rPr>
              <a:t>Is this relation a function?</a:t>
            </a:r>
            <a:endParaRPr/>
          </a:p>
        </p:txBody>
      </p:sp>
      <p:sp>
        <p:nvSpPr>
          <p:cNvPr id="643" name="Google Shape;643;p51"/>
          <p:cNvSpPr txBox="1"/>
          <p:nvPr/>
        </p:nvSpPr>
        <p:spPr>
          <a:xfrm>
            <a:off x="1534172" y="2050599"/>
            <a:ext cx="15219656" cy="121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TRY THIS!</a:t>
            </a:r>
            <a:endParaRPr/>
          </a:p>
        </p:txBody>
      </p:sp>
      <p:cxnSp>
        <p:nvCxnSpPr>
          <p:cNvPr id="644" name="Google Shape;644;p51"/>
          <p:cNvCxnSpPr/>
          <p:nvPr/>
        </p:nvCxnSpPr>
        <p:spPr>
          <a:xfrm>
            <a:off x="1028700" y="9208853"/>
            <a:ext cx="5896576" cy="0"/>
          </a:xfrm>
          <a:prstGeom prst="straightConnector1">
            <a:avLst/>
          </a:prstGeom>
          <a:noFill/>
          <a:ln cap="flat" cmpd="sng" w="95250">
            <a:solidFill>
              <a:srgbClr val="F9D02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5" name="Google Shape;645;p51"/>
          <p:cNvCxnSpPr/>
          <p:nvPr/>
        </p:nvCxnSpPr>
        <p:spPr>
          <a:xfrm rot="10800000">
            <a:off x="1076325" y="4131460"/>
            <a:ext cx="0" cy="5077393"/>
          </a:xfrm>
          <a:prstGeom prst="straightConnector1">
            <a:avLst/>
          </a:prstGeom>
          <a:noFill/>
          <a:ln cap="flat" cmpd="sng" w="95250">
            <a:solidFill>
              <a:srgbClr val="F9D02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46" name="Google Shape;646;p51"/>
          <p:cNvSpPr/>
          <p:nvPr/>
        </p:nvSpPr>
        <p:spPr>
          <a:xfrm>
            <a:off x="-2100319" y="6736090"/>
            <a:ext cx="5396459" cy="4114800"/>
          </a:xfrm>
          <a:custGeom>
            <a:rect b="b" l="l" r="r" t="t"/>
            <a:pathLst>
              <a:path extrusionOk="0" h="4114800" w="5396459">
                <a:moveTo>
                  <a:pt x="0" y="0"/>
                </a:moveTo>
                <a:lnTo>
                  <a:pt x="5396459" y="0"/>
                </a:lnTo>
                <a:lnTo>
                  <a:pt x="53964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7" name="Google Shape;647;p51"/>
          <p:cNvSpPr/>
          <p:nvPr/>
        </p:nvSpPr>
        <p:spPr>
          <a:xfrm rot="747388">
            <a:off x="14173321" y="-200317"/>
            <a:ext cx="4690823" cy="1618334"/>
          </a:xfrm>
          <a:custGeom>
            <a:rect b="b" l="l" r="r" t="t"/>
            <a:pathLst>
              <a:path extrusionOk="0" h="1618334" w="4690823">
                <a:moveTo>
                  <a:pt x="0" y="0"/>
                </a:moveTo>
                <a:lnTo>
                  <a:pt x="4690824" y="0"/>
                </a:lnTo>
                <a:lnTo>
                  <a:pt x="4690824" y="1618334"/>
                </a:lnTo>
                <a:lnTo>
                  <a:pt x="0" y="16183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8" name="Google Shape;648;p51"/>
          <p:cNvSpPr/>
          <p:nvPr/>
        </p:nvSpPr>
        <p:spPr>
          <a:xfrm rot="-2556956">
            <a:off x="1894561" y="1445991"/>
            <a:ext cx="743835" cy="1354666"/>
          </a:xfrm>
          <a:custGeom>
            <a:rect b="b" l="l" r="r" t="t"/>
            <a:pathLst>
              <a:path extrusionOk="0" h="1354666" w="743835">
                <a:moveTo>
                  <a:pt x="0" y="0"/>
                </a:moveTo>
                <a:lnTo>
                  <a:pt x="743835" y="0"/>
                </a:lnTo>
                <a:lnTo>
                  <a:pt x="743835" y="1354666"/>
                </a:lnTo>
                <a:lnTo>
                  <a:pt x="0" y="13546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49" name="Google Shape;649;p51"/>
          <p:cNvSpPr/>
          <p:nvPr/>
        </p:nvSpPr>
        <p:spPr>
          <a:xfrm rot="1304833">
            <a:off x="14497331" y="3311120"/>
            <a:ext cx="371917" cy="677333"/>
          </a:xfrm>
          <a:custGeom>
            <a:rect b="b" l="l" r="r" t="t"/>
            <a:pathLst>
              <a:path extrusionOk="0" h="677333" w="371917">
                <a:moveTo>
                  <a:pt x="0" y="0"/>
                </a:moveTo>
                <a:lnTo>
                  <a:pt x="371917" y="0"/>
                </a:lnTo>
                <a:lnTo>
                  <a:pt x="371917" y="677333"/>
                </a:lnTo>
                <a:lnTo>
                  <a:pt x="0" y="677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50" name="Google Shape;650;p51"/>
          <p:cNvSpPr/>
          <p:nvPr/>
        </p:nvSpPr>
        <p:spPr>
          <a:xfrm rot="1579531">
            <a:off x="15586954" y="6108505"/>
            <a:ext cx="689202" cy="1255170"/>
          </a:xfrm>
          <a:custGeom>
            <a:rect b="b" l="l" r="r" t="t"/>
            <a:pathLst>
              <a:path extrusionOk="0" h="1255170" w="689202">
                <a:moveTo>
                  <a:pt x="0" y="0"/>
                </a:moveTo>
                <a:lnTo>
                  <a:pt x="689203" y="0"/>
                </a:lnTo>
                <a:lnTo>
                  <a:pt x="689203" y="1255170"/>
                </a:lnTo>
                <a:lnTo>
                  <a:pt x="0" y="1255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2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656" name="Google Shape;656;p52"/>
          <p:cNvGrpSpPr/>
          <p:nvPr/>
        </p:nvGrpSpPr>
        <p:grpSpPr>
          <a:xfrm>
            <a:off x="10008425" y="1738776"/>
            <a:ext cx="5688588" cy="6809449"/>
            <a:chOff x="12700" y="0"/>
            <a:chExt cx="7584783" cy="9079265"/>
          </a:xfrm>
        </p:grpSpPr>
        <p:cxnSp>
          <p:nvCxnSpPr>
            <p:cNvPr id="657" name="Google Shape;657;p52"/>
            <p:cNvCxnSpPr/>
            <p:nvPr/>
          </p:nvCxnSpPr>
          <p:spPr>
            <a:xfrm rot="10800000">
              <a:off x="3805092" y="0"/>
              <a:ext cx="0" cy="9079265"/>
            </a:xfrm>
            <a:prstGeom prst="straightConnector1">
              <a:avLst/>
            </a:prstGeom>
            <a:noFill/>
            <a:ln cap="rnd" cmpd="sng" w="76200">
              <a:solidFill>
                <a:srgbClr val="F6EEE3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658" name="Google Shape;658;p52"/>
            <p:cNvCxnSpPr/>
            <p:nvPr/>
          </p:nvCxnSpPr>
          <p:spPr>
            <a:xfrm rot="10800000">
              <a:off x="3026293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59" name="Google Shape;659;p52"/>
            <p:cNvCxnSpPr/>
            <p:nvPr/>
          </p:nvCxnSpPr>
          <p:spPr>
            <a:xfrm rot="10800000">
              <a:off x="766098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0" name="Google Shape;660;p52"/>
            <p:cNvCxnSpPr/>
            <p:nvPr/>
          </p:nvCxnSpPr>
          <p:spPr>
            <a:xfrm rot="10800000">
              <a:off x="12700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1" name="Google Shape;661;p52"/>
            <p:cNvCxnSpPr/>
            <p:nvPr/>
          </p:nvCxnSpPr>
          <p:spPr>
            <a:xfrm rot="10800000">
              <a:off x="1519497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2" name="Google Shape;662;p52"/>
            <p:cNvCxnSpPr/>
            <p:nvPr/>
          </p:nvCxnSpPr>
          <p:spPr>
            <a:xfrm rot="10800000">
              <a:off x="2272895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3" name="Google Shape;663;p52"/>
            <p:cNvCxnSpPr/>
            <p:nvPr/>
          </p:nvCxnSpPr>
          <p:spPr>
            <a:xfrm rot="10800000">
              <a:off x="6844085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4" name="Google Shape;664;p52"/>
            <p:cNvCxnSpPr/>
            <p:nvPr/>
          </p:nvCxnSpPr>
          <p:spPr>
            <a:xfrm rot="10800000">
              <a:off x="7597483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5" name="Google Shape;665;p52"/>
            <p:cNvCxnSpPr/>
            <p:nvPr/>
          </p:nvCxnSpPr>
          <p:spPr>
            <a:xfrm rot="10800000">
              <a:off x="4583890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6" name="Google Shape;666;p52"/>
            <p:cNvCxnSpPr/>
            <p:nvPr/>
          </p:nvCxnSpPr>
          <p:spPr>
            <a:xfrm rot="10800000">
              <a:off x="5337288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67" name="Google Shape;667;p52"/>
            <p:cNvCxnSpPr/>
            <p:nvPr/>
          </p:nvCxnSpPr>
          <p:spPr>
            <a:xfrm rot="10800000">
              <a:off x="6090687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668" name="Google Shape;668;p52"/>
          <p:cNvGrpSpPr/>
          <p:nvPr/>
        </p:nvGrpSpPr>
        <p:grpSpPr>
          <a:xfrm>
            <a:off x="9447995" y="2299206"/>
            <a:ext cx="6809449" cy="5688588"/>
            <a:chOff x="0" y="12700"/>
            <a:chExt cx="9079265" cy="7584783"/>
          </a:xfrm>
        </p:grpSpPr>
        <p:cxnSp>
          <p:nvCxnSpPr>
            <p:cNvPr id="669" name="Google Shape;669;p52"/>
            <p:cNvCxnSpPr/>
            <p:nvPr/>
          </p:nvCxnSpPr>
          <p:spPr>
            <a:xfrm>
              <a:off x="0" y="3026293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p52"/>
            <p:cNvCxnSpPr/>
            <p:nvPr/>
          </p:nvCxnSpPr>
          <p:spPr>
            <a:xfrm>
              <a:off x="0" y="766098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1" name="Google Shape;671;p52"/>
            <p:cNvCxnSpPr/>
            <p:nvPr/>
          </p:nvCxnSpPr>
          <p:spPr>
            <a:xfrm>
              <a:off x="0" y="12700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2" name="Google Shape;672;p52"/>
            <p:cNvCxnSpPr/>
            <p:nvPr/>
          </p:nvCxnSpPr>
          <p:spPr>
            <a:xfrm>
              <a:off x="0" y="1519497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3" name="Google Shape;673;p52"/>
            <p:cNvCxnSpPr/>
            <p:nvPr/>
          </p:nvCxnSpPr>
          <p:spPr>
            <a:xfrm>
              <a:off x="0" y="2272895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4" name="Google Shape;674;p52"/>
            <p:cNvCxnSpPr/>
            <p:nvPr/>
          </p:nvCxnSpPr>
          <p:spPr>
            <a:xfrm>
              <a:off x="0" y="6844085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5" name="Google Shape;675;p52"/>
            <p:cNvCxnSpPr/>
            <p:nvPr/>
          </p:nvCxnSpPr>
          <p:spPr>
            <a:xfrm>
              <a:off x="0" y="7597483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6" name="Google Shape;676;p52"/>
            <p:cNvCxnSpPr/>
            <p:nvPr/>
          </p:nvCxnSpPr>
          <p:spPr>
            <a:xfrm>
              <a:off x="0" y="4583890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7" name="Google Shape;677;p52"/>
            <p:cNvCxnSpPr/>
            <p:nvPr/>
          </p:nvCxnSpPr>
          <p:spPr>
            <a:xfrm>
              <a:off x="0" y="5337288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8" name="Google Shape;678;p52"/>
            <p:cNvCxnSpPr/>
            <p:nvPr/>
          </p:nvCxnSpPr>
          <p:spPr>
            <a:xfrm>
              <a:off x="0" y="6090687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679" name="Google Shape;679;p52"/>
          <p:cNvCxnSpPr/>
          <p:nvPr/>
        </p:nvCxnSpPr>
        <p:spPr>
          <a:xfrm>
            <a:off x="9447995" y="5143500"/>
            <a:ext cx="6809449" cy="0"/>
          </a:xfrm>
          <a:prstGeom prst="straightConnector1">
            <a:avLst/>
          </a:prstGeom>
          <a:noFill/>
          <a:ln cap="rnd" cmpd="sng" w="57150">
            <a:solidFill>
              <a:srgbClr val="F6EEE3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680" name="Google Shape;680;p52"/>
          <p:cNvGrpSpPr/>
          <p:nvPr/>
        </p:nvGrpSpPr>
        <p:grpSpPr>
          <a:xfrm>
            <a:off x="14985915" y="5100450"/>
            <a:ext cx="292099" cy="467260"/>
            <a:chOff x="0" y="-19050"/>
            <a:chExt cx="76932" cy="123065"/>
          </a:xfrm>
        </p:grpSpPr>
        <p:sp>
          <p:nvSpPr>
            <p:cNvPr id="681" name="Google Shape;681;p52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682" name="Google Shape;682;p52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4</a:t>
              </a:r>
              <a:endParaRPr/>
            </a:p>
          </p:txBody>
        </p:sp>
      </p:grpSp>
      <p:grpSp>
        <p:nvGrpSpPr>
          <p:cNvPr id="683" name="Google Shape;683;p52"/>
          <p:cNvGrpSpPr/>
          <p:nvPr/>
        </p:nvGrpSpPr>
        <p:grpSpPr>
          <a:xfrm>
            <a:off x="15550963" y="5100450"/>
            <a:ext cx="292099" cy="467260"/>
            <a:chOff x="0" y="-19050"/>
            <a:chExt cx="76932" cy="123065"/>
          </a:xfrm>
        </p:grpSpPr>
        <p:sp>
          <p:nvSpPr>
            <p:cNvPr id="684" name="Google Shape;684;p52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685" name="Google Shape;685;p52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5</a:t>
              </a:r>
              <a:endParaRPr/>
            </a:p>
          </p:txBody>
        </p:sp>
      </p:grpSp>
      <p:grpSp>
        <p:nvGrpSpPr>
          <p:cNvPr id="686" name="Google Shape;686;p52"/>
          <p:cNvGrpSpPr/>
          <p:nvPr/>
        </p:nvGrpSpPr>
        <p:grpSpPr>
          <a:xfrm>
            <a:off x="12435623" y="1995175"/>
            <a:ext cx="292099" cy="6188154"/>
            <a:chOff x="0" y="-144661"/>
            <a:chExt cx="389466" cy="8250872"/>
          </a:xfrm>
        </p:grpSpPr>
        <p:grpSp>
          <p:nvGrpSpPr>
            <p:cNvPr id="687" name="Google Shape;687;p52"/>
            <p:cNvGrpSpPr/>
            <p:nvPr/>
          </p:nvGrpSpPr>
          <p:grpSpPr>
            <a:xfrm>
              <a:off x="0" y="608737"/>
              <a:ext cx="389466" cy="666089"/>
              <a:chOff x="0" y="-28575"/>
              <a:chExt cx="76932" cy="131573"/>
            </a:xfrm>
          </p:grpSpPr>
          <p:sp>
            <p:nvSpPr>
              <p:cNvPr id="688" name="Google Shape;688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89" name="Google Shape;689;p52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grpSp>
          <p:nvGrpSpPr>
            <p:cNvPr id="690" name="Google Shape;690;p52"/>
            <p:cNvGrpSpPr/>
            <p:nvPr/>
          </p:nvGrpSpPr>
          <p:grpSpPr>
            <a:xfrm>
              <a:off x="0" y="-144661"/>
              <a:ext cx="389466" cy="666089"/>
              <a:chOff x="0" y="-28575"/>
              <a:chExt cx="76932" cy="131573"/>
            </a:xfrm>
          </p:grpSpPr>
          <p:sp>
            <p:nvSpPr>
              <p:cNvPr id="691" name="Google Shape;691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92" name="Google Shape;692;p52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/>
              </a:p>
            </p:txBody>
          </p:sp>
        </p:grpSp>
        <p:grpSp>
          <p:nvGrpSpPr>
            <p:cNvPr id="693" name="Google Shape;693;p52"/>
            <p:cNvGrpSpPr/>
            <p:nvPr/>
          </p:nvGrpSpPr>
          <p:grpSpPr>
            <a:xfrm>
              <a:off x="0" y="2868932"/>
              <a:ext cx="389466" cy="666089"/>
              <a:chOff x="0" y="-28575"/>
              <a:chExt cx="76932" cy="131573"/>
            </a:xfrm>
          </p:grpSpPr>
          <p:sp>
            <p:nvSpPr>
              <p:cNvPr id="694" name="Google Shape;694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95" name="Google Shape;695;p52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696" name="Google Shape;696;p52"/>
            <p:cNvGrpSpPr/>
            <p:nvPr/>
          </p:nvGrpSpPr>
          <p:grpSpPr>
            <a:xfrm>
              <a:off x="0" y="5276368"/>
              <a:ext cx="389466" cy="569648"/>
              <a:chOff x="0" y="-9525"/>
              <a:chExt cx="76932" cy="112523"/>
            </a:xfrm>
          </p:grpSpPr>
          <p:sp>
            <p:nvSpPr>
              <p:cNvPr id="697" name="Google Shape;697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698" name="Google Shape;698;p52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-2</a:t>
                </a:r>
                <a:endParaRPr/>
              </a:p>
            </p:txBody>
          </p:sp>
        </p:grpSp>
        <p:grpSp>
          <p:nvGrpSpPr>
            <p:cNvPr id="699" name="Google Shape;699;p52"/>
            <p:cNvGrpSpPr/>
            <p:nvPr/>
          </p:nvGrpSpPr>
          <p:grpSpPr>
            <a:xfrm>
              <a:off x="0" y="6029767"/>
              <a:ext cx="389466" cy="569648"/>
              <a:chOff x="0" y="-9525"/>
              <a:chExt cx="76932" cy="112523"/>
            </a:xfrm>
          </p:grpSpPr>
          <p:sp>
            <p:nvSpPr>
              <p:cNvPr id="700" name="Google Shape;700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01" name="Google Shape;701;p52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-3</a:t>
                </a:r>
                <a:endParaRPr/>
              </a:p>
            </p:txBody>
          </p:sp>
        </p:grpSp>
        <p:grpSp>
          <p:nvGrpSpPr>
            <p:cNvPr id="702" name="Google Shape;702;p52"/>
            <p:cNvGrpSpPr/>
            <p:nvPr/>
          </p:nvGrpSpPr>
          <p:grpSpPr>
            <a:xfrm>
              <a:off x="0" y="2115534"/>
              <a:ext cx="389466" cy="666089"/>
              <a:chOff x="0" y="-28575"/>
              <a:chExt cx="76932" cy="131573"/>
            </a:xfrm>
          </p:grpSpPr>
          <p:sp>
            <p:nvSpPr>
              <p:cNvPr id="703" name="Google Shape;703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04" name="Google Shape;704;p52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705" name="Google Shape;705;p52"/>
            <p:cNvGrpSpPr/>
            <p:nvPr/>
          </p:nvGrpSpPr>
          <p:grpSpPr>
            <a:xfrm>
              <a:off x="0" y="4426529"/>
              <a:ext cx="389466" cy="666089"/>
              <a:chOff x="0" y="-28575"/>
              <a:chExt cx="76932" cy="131573"/>
            </a:xfrm>
          </p:grpSpPr>
          <p:sp>
            <p:nvSpPr>
              <p:cNvPr id="706" name="Google Shape;706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07" name="Google Shape;707;p52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-1</a:t>
                </a:r>
                <a:endParaRPr/>
              </a:p>
            </p:txBody>
          </p:sp>
        </p:grpSp>
        <p:grpSp>
          <p:nvGrpSpPr>
            <p:cNvPr id="708" name="Google Shape;708;p52"/>
            <p:cNvGrpSpPr/>
            <p:nvPr/>
          </p:nvGrpSpPr>
          <p:grpSpPr>
            <a:xfrm>
              <a:off x="0" y="1362136"/>
              <a:ext cx="389466" cy="666089"/>
              <a:chOff x="0" y="-28575"/>
              <a:chExt cx="76932" cy="131573"/>
            </a:xfrm>
          </p:grpSpPr>
          <p:sp>
            <p:nvSpPr>
              <p:cNvPr id="709" name="Google Shape;709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10" name="Google Shape;710;p52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  <p:grpSp>
          <p:nvGrpSpPr>
            <p:cNvPr id="711" name="Google Shape;711;p52"/>
            <p:cNvGrpSpPr/>
            <p:nvPr/>
          </p:nvGrpSpPr>
          <p:grpSpPr>
            <a:xfrm>
              <a:off x="0" y="6783165"/>
              <a:ext cx="389466" cy="569648"/>
              <a:chOff x="0" y="-9525"/>
              <a:chExt cx="76932" cy="112523"/>
            </a:xfrm>
          </p:grpSpPr>
          <p:sp>
            <p:nvSpPr>
              <p:cNvPr id="712" name="Google Shape;712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13" name="Google Shape;713;p52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-4</a:t>
                </a:r>
                <a:endParaRPr/>
              </a:p>
            </p:txBody>
          </p:sp>
        </p:grpSp>
        <p:grpSp>
          <p:nvGrpSpPr>
            <p:cNvPr id="714" name="Google Shape;714;p52"/>
            <p:cNvGrpSpPr/>
            <p:nvPr/>
          </p:nvGrpSpPr>
          <p:grpSpPr>
            <a:xfrm>
              <a:off x="0" y="7536563"/>
              <a:ext cx="389466" cy="569648"/>
              <a:chOff x="0" y="-9525"/>
              <a:chExt cx="76932" cy="112523"/>
            </a:xfrm>
          </p:grpSpPr>
          <p:sp>
            <p:nvSpPr>
              <p:cNvPr id="715" name="Google Shape;715;p52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16" name="Google Shape;716;p52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-5</a:t>
                </a:r>
                <a:endParaRPr/>
              </a:p>
            </p:txBody>
          </p:sp>
        </p:grpSp>
      </p:grpSp>
      <p:grpSp>
        <p:nvGrpSpPr>
          <p:cNvPr id="717" name="Google Shape;717;p52"/>
          <p:cNvGrpSpPr/>
          <p:nvPr/>
        </p:nvGrpSpPr>
        <p:grpSpPr>
          <a:xfrm>
            <a:off x="13290768" y="5100450"/>
            <a:ext cx="292099" cy="467260"/>
            <a:chOff x="0" y="-19050"/>
            <a:chExt cx="76932" cy="123065"/>
          </a:xfrm>
        </p:grpSpPr>
        <p:sp>
          <p:nvSpPr>
            <p:cNvPr id="718" name="Google Shape;718;p52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19" name="Google Shape;719;p52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1</a:t>
              </a:r>
              <a:endParaRPr/>
            </a:p>
          </p:txBody>
        </p:sp>
      </p:grpSp>
      <p:grpSp>
        <p:nvGrpSpPr>
          <p:cNvPr id="720" name="Google Shape;720;p52"/>
          <p:cNvGrpSpPr/>
          <p:nvPr/>
        </p:nvGrpSpPr>
        <p:grpSpPr>
          <a:xfrm>
            <a:off x="13855817" y="5100450"/>
            <a:ext cx="292099" cy="467260"/>
            <a:chOff x="0" y="-19050"/>
            <a:chExt cx="76932" cy="123065"/>
          </a:xfrm>
        </p:grpSpPr>
        <p:sp>
          <p:nvSpPr>
            <p:cNvPr id="721" name="Google Shape;721;p52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22" name="Google Shape;722;p52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2</a:t>
              </a:r>
              <a:endParaRPr/>
            </a:p>
          </p:txBody>
        </p:sp>
      </p:grpSp>
      <p:grpSp>
        <p:nvGrpSpPr>
          <p:cNvPr id="723" name="Google Shape;723;p52"/>
          <p:cNvGrpSpPr/>
          <p:nvPr/>
        </p:nvGrpSpPr>
        <p:grpSpPr>
          <a:xfrm>
            <a:off x="14420866" y="5100450"/>
            <a:ext cx="292099" cy="467260"/>
            <a:chOff x="0" y="-19050"/>
            <a:chExt cx="76932" cy="123065"/>
          </a:xfrm>
        </p:grpSpPr>
        <p:sp>
          <p:nvSpPr>
            <p:cNvPr id="724" name="Google Shape;724;p52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25" name="Google Shape;725;p52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3</a:t>
              </a:r>
              <a:endParaRPr/>
            </a:p>
          </p:txBody>
        </p:sp>
      </p:grpSp>
      <p:grpSp>
        <p:nvGrpSpPr>
          <p:cNvPr id="726" name="Google Shape;726;p52"/>
          <p:cNvGrpSpPr/>
          <p:nvPr/>
        </p:nvGrpSpPr>
        <p:grpSpPr>
          <a:xfrm>
            <a:off x="12049646" y="5100450"/>
            <a:ext cx="365024" cy="467260"/>
            <a:chOff x="0" y="-19050"/>
            <a:chExt cx="96138" cy="123065"/>
          </a:xfrm>
        </p:grpSpPr>
        <p:sp>
          <p:nvSpPr>
            <p:cNvPr id="727" name="Google Shape;727;p52"/>
            <p:cNvSpPr/>
            <p:nvPr/>
          </p:nvSpPr>
          <p:spPr>
            <a:xfrm>
              <a:off x="0" y="0"/>
              <a:ext cx="96138" cy="104015"/>
            </a:xfrm>
            <a:custGeom>
              <a:rect b="b" l="l" r="r" t="t"/>
              <a:pathLst>
                <a:path extrusionOk="0" h="104015" w="96138">
                  <a:moveTo>
                    <a:pt x="0" y="0"/>
                  </a:moveTo>
                  <a:lnTo>
                    <a:pt x="96138" y="0"/>
                  </a:lnTo>
                  <a:lnTo>
                    <a:pt x="96138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28" name="Google Shape;728;p52"/>
            <p:cNvSpPr txBox="1"/>
            <p:nvPr/>
          </p:nvSpPr>
          <p:spPr>
            <a:xfrm>
              <a:off x="0" y="-19050"/>
              <a:ext cx="96138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-1</a:t>
              </a:r>
              <a:endParaRPr/>
            </a:p>
          </p:txBody>
        </p:sp>
      </p:grpSp>
      <p:grpSp>
        <p:nvGrpSpPr>
          <p:cNvPr id="729" name="Google Shape;729;p52"/>
          <p:cNvGrpSpPr/>
          <p:nvPr/>
        </p:nvGrpSpPr>
        <p:grpSpPr>
          <a:xfrm>
            <a:off x="11484598" y="5099745"/>
            <a:ext cx="365024" cy="467260"/>
            <a:chOff x="0" y="-19050"/>
            <a:chExt cx="96138" cy="123065"/>
          </a:xfrm>
        </p:grpSpPr>
        <p:sp>
          <p:nvSpPr>
            <p:cNvPr id="730" name="Google Shape;730;p52"/>
            <p:cNvSpPr/>
            <p:nvPr/>
          </p:nvSpPr>
          <p:spPr>
            <a:xfrm>
              <a:off x="0" y="0"/>
              <a:ext cx="96138" cy="104015"/>
            </a:xfrm>
            <a:custGeom>
              <a:rect b="b" l="l" r="r" t="t"/>
              <a:pathLst>
                <a:path extrusionOk="0" h="104015" w="96138">
                  <a:moveTo>
                    <a:pt x="0" y="0"/>
                  </a:moveTo>
                  <a:lnTo>
                    <a:pt x="96138" y="0"/>
                  </a:lnTo>
                  <a:lnTo>
                    <a:pt x="96138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31" name="Google Shape;731;p52"/>
            <p:cNvSpPr txBox="1"/>
            <p:nvPr/>
          </p:nvSpPr>
          <p:spPr>
            <a:xfrm>
              <a:off x="0" y="-19050"/>
              <a:ext cx="96138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-2</a:t>
              </a:r>
              <a:endParaRPr/>
            </a:p>
          </p:txBody>
        </p:sp>
      </p:grpSp>
      <p:grpSp>
        <p:nvGrpSpPr>
          <p:cNvPr id="732" name="Google Shape;732;p52"/>
          <p:cNvGrpSpPr/>
          <p:nvPr/>
        </p:nvGrpSpPr>
        <p:grpSpPr>
          <a:xfrm>
            <a:off x="10919549" y="5099745"/>
            <a:ext cx="365024" cy="467260"/>
            <a:chOff x="0" y="-19050"/>
            <a:chExt cx="96138" cy="123065"/>
          </a:xfrm>
        </p:grpSpPr>
        <p:sp>
          <p:nvSpPr>
            <p:cNvPr id="733" name="Google Shape;733;p52"/>
            <p:cNvSpPr/>
            <p:nvPr/>
          </p:nvSpPr>
          <p:spPr>
            <a:xfrm>
              <a:off x="0" y="0"/>
              <a:ext cx="96138" cy="104015"/>
            </a:xfrm>
            <a:custGeom>
              <a:rect b="b" l="l" r="r" t="t"/>
              <a:pathLst>
                <a:path extrusionOk="0" h="104015" w="96138">
                  <a:moveTo>
                    <a:pt x="0" y="0"/>
                  </a:moveTo>
                  <a:lnTo>
                    <a:pt x="96138" y="0"/>
                  </a:lnTo>
                  <a:lnTo>
                    <a:pt x="96138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34" name="Google Shape;734;p52"/>
            <p:cNvSpPr txBox="1"/>
            <p:nvPr/>
          </p:nvSpPr>
          <p:spPr>
            <a:xfrm>
              <a:off x="0" y="-19050"/>
              <a:ext cx="96138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-3</a:t>
              </a:r>
              <a:endParaRPr/>
            </a:p>
          </p:txBody>
        </p:sp>
      </p:grpSp>
      <p:grpSp>
        <p:nvGrpSpPr>
          <p:cNvPr id="735" name="Google Shape;735;p52"/>
          <p:cNvGrpSpPr/>
          <p:nvPr/>
        </p:nvGrpSpPr>
        <p:grpSpPr>
          <a:xfrm>
            <a:off x="10351224" y="5099745"/>
            <a:ext cx="368299" cy="467260"/>
            <a:chOff x="0" y="-19050"/>
            <a:chExt cx="97001" cy="123065"/>
          </a:xfrm>
        </p:grpSpPr>
        <p:sp>
          <p:nvSpPr>
            <p:cNvPr id="736" name="Google Shape;736;p52"/>
            <p:cNvSpPr/>
            <p:nvPr/>
          </p:nvSpPr>
          <p:spPr>
            <a:xfrm>
              <a:off x="0" y="0"/>
              <a:ext cx="97001" cy="104015"/>
            </a:xfrm>
            <a:custGeom>
              <a:rect b="b" l="l" r="r" t="t"/>
              <a:pathLst>
                <a:path extrusionOk="0" h="104015" w="97001">
                  <a:moveTo>
                    <a:pt x="0" y="0"/>
                  </a:moveTo>
                  <a:lnTo>
                    <a:pt x="97001" y="0"/>
                  </a:lnTo>
                  <a:lnTo>
                    <a:pt x="97001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37" name="Google Shape;737;p52"/>
            <p:cNvSpPr txBox="1"/>
            <p:nvPr/>
          </p:nvSpPr>
          <p:spPr>
            <a:xfrm>
              <a:off x="0" y="-19050"/>
              <a:ext cx="97001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-4</a:t>
              </a:r>
              <a:endParaRPr/>
            </a:p>
          </p:txBody>
        </p:sp>
      </p:grpSp>
      <p:grpSp>
        <p:nvGrpSpPr>
          <p:cNvPr id="738" name="Google Shape;738;p52"/>
          <p:cNvGrpSpPr/>
          <p:nvPr/>
        </p:nvGrpSpPr>
        <p:grpSpPr>
          <a:xfrm>
            <a:off x="9786176" y="5099745"/>
            <a:ext cx="368299" cy="467260"/>
            <a:chOff x="0" y="-19050"/>
            <a:chExt cx="97001" cy="123065"/>
          </a:xfrm>
        </p:grpSpPr>
        <p:sp>
          <p:nvSpPr>
            <p:cNvPr id="739" name="Google Shape;739;p52"/>
            <p:cNvSpPr/>
            <p:nvPr/>
          </p:nvSpPr>
          <p:spPr>
            <a:xfrm>
              <a:off x="0" y="0"/>
              <a:ext cx="97001" cy="104015"/>
            </a:xfrm>
            <a:custGeom>
              <a:rect b="b" l="l" r="r" t="t"/>
              <a:pathLst>
                <a:path extrusionOk="0" h="104015" w="97001">
                  <a:moveTo>
                    <a:pt x="0" y="0"/>
                  </a:moveTo>
                  <a:lnTo>
                    <a:pt x="97001" y="0"/>
                  </a:lnTo>
                  <a:lnTo>
                    <a:pt x="97001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40" name="Google Shape;740;p52"/>
            <p:cNvSpPr txBox="1"/>
            <p:nvPr/>
          </p:nvSpPr>
          <p:spPr>
            <a:xfrm>
              <a:off x="0" y="-19050"/>
              <a:ext cx="97001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-5</a:t>
              </a:r>
              <a:endParaRPr/>
            </a:p>
          </p:txBody>
        </p:sp>
      </p:grpSp>
      <p:sp>
        <p:nvSpPr>
          <p:cNvPr id="741" name="Google Shape;741;p52"/>
          <p:cNvSpPr txBox="1"/>
          <p:nvPr/>
        </p:nvSpPr>
        <p:spPr>
          <a:xfrm>
            <a:off x="1027809" y="4879351"/>
            <a:ext cx="6143700" cy="1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Use the </a:t>
            </a:r>
            <a:r>
              <a:rPr b="0" i="0" lang="en-US" sz="3699" u="sng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vertical line test</a:t>
            </a:r>
            <a:r>
              <a:rPr b="0" i="0" lang="en-US" sz="36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to check whether a graph of a relation is a function.</a:t>
            </a:r>
            <a:endParaRPr/>
          </a:p>
        </p:txBody>
      </p:sp>
      <p:sp>
        <p:nvSpPr>
          <p:cNvPr id="742" name="Google Shape;742;p52"/>
          <p:cNvSpPr txBox="1"/>
          <p:nvPr/>
        </p:nvSpPr>
        <p:spPr>
          <a:xfrm>
            <a:off x="1027809" y="1838866"/>
            <a:ext cx="7465282" cy="2352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VERTICAL LINE TEST</a:t>
            </a:r>
            <a:endParaRPr/>
          </a:p>
        </p:txBody>
      </p:sp>
      <p:sp>
        <p:nvSpPr>
          <p:cNvPr id="743" name="Google Shape;743;p52"/>
          <p:cNvSpPr txBox="1"/>
          <p:nvPr/>
        </p:nvSpPr>
        <p:spPr>
          <a:xfrm>
            <a:off x="1027809" y="6978849"/>
            <a:ext cx="6978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If a vertical line, drawn anywhere on the graph, can touch the graph only </a:t>
            </a:r>
            <a:r>
              <a:rPr b="0" i="0" lang="en-US" sz="3600" u="sng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once</a:t>
            </a: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, then it is</a:t>
            </a: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0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</a:t>
            </a: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</a:t>
            </a:r>
            <a:r>
              <a:rPr b="1" i="0" lang="en-US" sz="36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function</a:t>
            </a:r>
            <a:r>
              <a:rPr b="1" i="0" lang="en-US" sz="36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.</a:t>
            </a:r>
            <a:endParaRPr/>
          </a:p>
        </p:txBody>
      </p:sp>
      <p:grpSp>
        <p:nvGrpSpPr>
          <p:cNvPr id="744" name="Google Shape;744;p52"/>
          <p:cNvGrpSpPr/>
          <p:nvPr/>
        </p:nvGrpSpPr>
        <p:grpSpPr>
          <a:xfrm>
            <a:off x="11043273" y="7039534"/>
            <a:ext cx="190500" cy="190500"/>
            <a:chOff x="0" y="0"/>
            <a:chExt cx="812800" cy="812800"/>
          </a:xfrm>
        </p:grpSpPr>
        <p:sp>
          <p:nvSpPr>
            <p:cNvPr id="745" name="Google Shape;745;p5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F5B3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52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47" name="Google Shape;747;p52"/>
          <p:cNvCxnSpPr/>
          <p:nvPr/>
        </p:nvCxnSpPr>
        <p:spPr>
          <a:xfrm rot="10800000">
            <a:off x="11138523" y="1738776"/>
            <a:ext cx="0" cy="6808919"/>
          </a:xfrm>
          <a:prstGeom prst="straightConnector1">
            <a:avLst/>
          </a:prstGeom>
          <a:noFill/>
          <a:ln cap="rnd" cmpd="sng" w="57150">
            <a:solidFill>
              <a:srgbClr val="9F5B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52"/>
          <p:cNvCxnSpPr/>
          <p:nvPr/>
        </p:nvCxnSpPr>
        <p:spPr>
          <a:xfrm flipH="1" rot="10800000">
            <a:off x="10365014" y="3213379"/>
            <a:ext cx="4479238" cy="4699533"/>
          </a:xfrm>
          <a:prstGeom prst="straightConnector1">
            <a:avLst/>
          </a:prstGeom>
          <a:noFill/>
          <a:ln cap="flat" cmpd="sng" w="57150">
            <a:solidFill>
              <a:srgbClr val="EA86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9" name="Google Shape;749;p52"/>
          <p:cNvSpPr/>
          <p:nvPr/>
        </p:nvSpPr>
        <p:spPr>
          <a:xfrm flipH="1">
            <a:off x="8006704" y="0"/>
            <a:ext cx="5039851" cy="3792488"/>
          </a:xfrm>
          <a:custGeom>
            <a:rect b="b" l="l" r="r" t="t"/>
            <a:pathLst>
              <a:path extrusionOk="0" h="3792488" w="5039851">
                <a:moveTo>
                  <a:pt x="5039851" y="0"/>
                </a:moveTo>
                <a:lnTo>
                  <a:pt x="0" y="0"/>
                </a:lnTo>
                <a:lnTo>
                  <a:pt x="0" y="3792488"/>
                </a:lnTo>
                <a:lnTo>
                  <a:pt x="5039851" y="3792488"/>
                </a:lnTo>
                <a:lnTo>
                  <a:pt x="503985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0" name="Google Shape;750;p52"/>
          <p:cNvSpPr/>
          <p:nvPr/>
        </p:nvSpPr>
        <p:spPr>
          <a:xfrm rot="4955683">
            <a:off x="13469883" y="5026416"/>
            <a:ext cx="7315200" cy="1082588"/>
          </a:xfrm>
          <a:custGeom>
            <a:rect b="b" l="l" r="r" t="t"/>
            <a:pathLst>
              <a:path extrusionOk="0" h="1082588" w="7315200">
                <a:moveTo>
                  <a:pt x="0" y="0"/>
                </a:moveTo>
                <a:lnTo>
                  <a:pt x="7315200" y="0"/>
                </a:lnTo>
                <a:lnTo>
                  <a:pt x="7315200" y="1082588"/>
                </a:lnTo>
                <a:lnTo>
                  <a:pt x="0" y="1082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1" name="Google Shape;751;p52"/>
          <p:cNvSpPr/>
          <p:nvPr/>
        </p:nvSpPr>
        <p:spPr>
          <a:xfrm rot="-955411">
            <a:off x="8571146" y="8800906"/>
            <a:ext cx="503533" cy="575766"/>
          </a:xfrm>
          <a:custGeom>
            <a:rect b="b" l="l" r="r" t="t"/>
            <a:pathLst>
              <a:path extrusionOk="0" h="575766" w="503533">
                <a:moveTo>
                  <a:pt x="0" y="0"/>
                </a:moveTo>
                <a:lnTo>
                  <a:pt x="503533" y="0"/>
                </a:lnTo>
                <a:lnTo>
                  <a:pt x="503533" y="575765"/>
                </a:lnTo>
                <a:lnTo>
                  <a:pt x="0" y="575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2" name="Google Shape;752;p52"/>
          <p:cNvSpPr/>
          <p:nvPr/>
        </p:nvSpPr>
        <p:spPr>
          <a:xfrm rot="827264">
            <a:off x="536118" y="765656"/>
            <a:ext cx="436176" cy="526089"/>
          </a:xfrm>
          <a:custGeom>
            <a:rect b="b" l="l" r="r" t="t"/>
            <a:pathLst>
              <a:path extrusionOk="0" h="526089" w="436176">
                <a:moveTo>
                  <a:pt x="0" y="0"/>
                </a:moveTo>
                <a:lnTo>
                  <a:pt x="436176" y="0"/>
                </a:lnTo>
                <a:lnTo>
                  <a:pt x="436176" y="526088"/>
                </a:lnTo>
                <a:lnTo>
                  <a:pt x="0" y="526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53" name="Google Shape;753;p52"/>
          <p:cNvSpPr/>
          <p:nvPr/>
        </p:nvSpPr>
        <p:spPr>
          <a:xfrm rot="-955411">
            <a:off x="17450715" y="5081657"/>
            <a:ext cx="503533" cy="575766"/>
          </a:xfrm>
          <a:custGeom>
            <a:rect b="b" l="l" r="r" t="t"/>
            <a:pathLst>
              <a:path extrusionOk="0" h="575766" w="503533">
                <a:moveTo>
                  <a:pt x="0" y="0"/>
                </a:moveTo>
                <a:lnTo>
                  <a:pt x="503533" y="0"/>
                </a:lnTo>
                <a:lnTo>
                  <a:pt x="503533" y="575766"/>
                </a:lnTo>
                <a:lnTo>
                  <a:pt x="0" y="5757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53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759" name="Google Shape;759;p53"/>
          <p:cNvGrpSpPr/>
          <p:nvPr/>
        </p:nvGrpSpPr>
        <p:grpSpPr>
          <a:xfrm>
            <a:off x="9447995" y="2299206"/>
            <a:ext cx="6809449" cy="5688588"/>
            <a:chOff x="0" y="12700"/>
            <a:chExt cx="9079265" cy="7584783"/>
          </a:xfrm>
        </p:grpSpPr>
        <p:cxnSp>
          <p:nvCxnSpPr>
            <p:cNvPr id="760" name="Google Shape;760;p53"/>
            <p:cNvCxnSpPr/>
            <p:nvPr/>
          </p:nvCxnSpPr>
          <p:spPr>
            <a:xfrm>
              <a:off x="0" y="3026293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1" name="Google Shape;761;p53"/>
            <p:cNvCxnSpPr/>
            <p:nvPr/>
          </p:nvCxnSpPr>
          <p:spPr>
            <a:xfrm>
              <a:off x="0" y="766098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2" name="Google Shape;762;p53"/>
            <p:cNvCxnSpPr/>
            <p:nvPr/>
          </p:nvCxnSpPr>
          <p:spPr>
            <a:xfrm>
              <a:off x="0" y="12700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3" name="Google Shape;763;p53"/>
            <p:cNvCxnSpPr/>
            <p:nvPr/>
          </p:nvCxnSpPr>
          <p:spPr>
            <a:xfrm>
              <a:off x="0" y="1519497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4" name="Google Shape;764;p53"/>
            <p:cNvCxnSpPr/>
            <p:nvPr/>
          </p:nvCxnSpPr>
          <p:spPr>
            <a:xfrm>
              <a:off x="0" y="2272895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5" name="Google Shape;765;p53"/>
            <p:cNvCxnSpPr/>
            <p:nvPr/>
          </p:nvCxnSpPr>
          <p:spPr>
            <a:xfrm>
              <a:off x="0" y="6844085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6" name="Google Shape;766;p53"/>
            <p:cNvCxnSpPr/>
            <p:nvPr/>
          </p:nvCxnSpPr>
          <p:spPr>
            <a:xfrm>
              <a:off x="0" y="7597483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7" name="Google Shape;767;p53"/>
            <p:cNvCxnSpPr/>
            <p:nvPr/>
          </p:nvCxnSpPr>
          <p:spPr>
            <a:xfrm>
              <a:off x="0" y="4583890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8" name="Google Shape;768;p53"/>
            <p:cNvCxnSpPr/>
            <p:nvPr/>
          </p:nvCxnSpPr>
          <p:spPr>
            <a:xfrm>
              <a:off x="0" y="5337288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69" name="Google Shape;769;p53"/>
            <p:cNvCxnSpPr/>
            <p:nvPr/>
          </p:nvCxnSpPr>
          <p:spPr>
            <a:xfrm>
              <a:off x="0" y="6090687"/>
              <a:ext cx="9079265" cy="0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70" name="Google Shape;770;p53"/>
          <p:cNvGrpSpPr/>
          <p:nvPr/>
        </p:nvGrpSpPr>
        <p:grpSpPr>
          <a:xfrm>
            <a:off x="10008425" y="1738776"/>
            <a:ext cx="5688588" cy="6809449"/>
            <a:chOff x="12700" y="0"/>
            <a:chExt cx="7584783" cy="9079265"/>
          </a:xfrm>
        </p:grpSpPr>
        <p:cxnSp>
          <p:nvCxnSpPr>
            <p:cNvPr id="771" name="Google Shape;771;p53"/>
            <p:cNvCxnSpPr/>
            <p:nvPr/>
          </p:nvCxnSpPr>
          <p:spPr>
            <a:xfrm rot="10800000">
              <a:off x="3805092" y="0"/>
              <a:ext cx="0" cy="9079265"/>
            </a:xfrm>
            <a:prstGeom prst="straightConnector1">
              <a:avLst/>
            </a:prstGeom>
            <a:noFill/>
            <a:ln cap="rnd" cmpd="sng" w="76200">
              <a:solidFill>
                <a:srgbClr val="F6EEE3"/>
              </a:solidFill>
              <a:prstDash val="solid"/>
              <a:round/>
              <a:headEnd len="med" w="med" type="triangle"/>
              <a:tailEnd len="med" w="med" type="triangle"/>
            </a:ln>
          </p:spPr>
        </p:cxnSp>
        <p:cxnSp>
          <p:nvCxnSpPr>
            <p:cNvPr id="772" name="Google Shape;772;p53"/>
            <p:cNvCxnSpPr/>
            <p:nvPr/>
          </p:nvCxnSpPr>
          <p:spPr>
            <a:xfrm rot="10800000">
              <a:off x="3026293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3" name="Google Shape;773;p53"/>
            <p:cNvCxnSpPr/>
            <p:nvPr/>
          </p:nvCxnSpPr>
          <p:spPr>
            <a:xfrm rot="10800000">
              <a:off x="766098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4" name="Google Shape;774;p53"/>
            <p:cNvCxnSpPr/>
            <p:nvPr/>
          </p:nvCxnSpPr>
          <p:spPr>
            <a:xfrm rot="10800000">
              <a:off x="12700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5" name="Google Shape;775;p53"/>
            <p:cNvCxnSpPr/>
            <p:nvPr/>
          </p:nvCxnSpPr>
          <p:spPr>
            <a:xfrm rot="10800000">
              <a:off x="1519497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6" name="Google Shape;776;p53"/>
            <p:cNvCxnSpPr/>
            <p:nvPr/>
          </p:nvCxnSpPr>
          <p:spPr>
            <a:xfrm rot="10800000">
              <a:off x="2272895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7" name="Google Shape;777;p53"/>
            <p:cNvCxnSpPr/>
            <p:nvPr/>
          </p:nvCxnSpPr>
          <p:spPr>
            <a:xfrm rot="10800000">
              <a:off x="6844085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8" name="Google Shape;778;p53"/>
            <p:cNvCxnSpPr/>
            <p:nvPr/>
          </p:nvCxnSpPr>
          <p:spPr>
            <a:xfrm rot="10800000">
              <a:off x="7597483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9" name="Google Shape;779;p53"/>
            <p:cNvCxnSpPr/>
            <p:nvPr/>
          </p:nvCxnSpPr>
          <p:spPr>
            <a:xfrm rot="10800000">
              <a:off x="4583890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0" name="Google Shape;780;p53"/>
            <p:cNvCxnSpPr/>
            <p:nvPr/>
          </p:nvCxnSpPr>
          <p:spPr>
            <a:xfrm rot="10800000">
              <a:off x="5337288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1" name="Google Shape;781;p53"/>
            <p:cNvCxnSpPr/>
            <p:nvPr/>
          </p:nvCxnSpPr>
          <p:spPr>
            <a:xfrm rot="10800000">
              <a:off x="6090687" y="0"/>
              <a:ext cx="0" cy="9079265"/>
            </a:xfrm>
            <a:prstGeom prst="straightConnector1">
              <a:avLst/>
            </a:prstGeom>
            <a:noFill/>
            <a:ln cap="rnd" cmpd="sng" w="25400">
              <a:solidFill>
                <a:srgbClr val="F6EEE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782" name="Google Shape;782;p53"/>
          <p:cNvCxnSpPr/>
          <p:nvPr/>
        </p:nvCxnSpPr>
        <p:spPr>
          <a:xfrm>
            <a:off x="9447995" y="5143500"/>
            <a:ext cx="6809449" cy="0"/>
          </a:xfrm>
          <a:prstGeom prst="straightConnector1">
            <a:avLst/>
          </a:prstGeom>
          <a:noFill/>
          <a:ln cap="rnd" cmpd="sng" w="57150">
            <a:solidFill>
              <a:srgbClr val="F6EEE3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783" name="Google Shape;783;p53"/>
          <p:cNvGrpSpPr/>
          <p:nvPr/>
        </p:nvGrpSpPr>
        <p:grpSpPr>
          <a:xfrm>
            <a:off x="15550963" y="5100450"/>
            <a:ext cx="292099" cy="467260"/>
            <a:chOff x="0" y="-19050"/>
            <a:chExt cx="76932" cy="123065"/>
          </a:xfrm>
        </p:grpSpPr>
        <p:sp>
          <p:nvSpPr>
            <p:cNvPr id="784" name="Google Shape;784;p53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785" name="Google Shape;785;p53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5</a:t>
              </a:r>
              <a:endParaRPr/>
            </a:p>
          </p:txBody>
        </p:sp>
      </p:grpSp>
      <p:grpSp>
        <p:nvGrpSpPr>
          <p:cNvPr id="786" name="Google Shape;786;p53"/>
          <p:cNvGrpSpPr/>
          <p:nvPr/>
        </p:nvGrpSpPr>
        <p:grpSpPr>
          <a:xfrm>
            <a:off x="12435623" y="1995175"/>
            <a:ext cx="292099" cy="6188154"/>
            <a:chOff x="0" y="-144661"/>
            <a:chExt cx="389466" cy="8250872"/>
          </a:xfrm>
        </p:grpSpPr>
        <p:grpSp>
          <p:nvGrpSpPr>
            <p:cNvPr id="787" name="Google Shape;787;p53"/>
            <p:cNvGrpSpPr/>
            <p:nvPr/>
          </p:nvGrpSpPr>
          <p:grpSpPr>
            <a:xfrm>
              <a:off x="0" y="608737"/>
              <a:ext cx="389466" cy="666089"/>
              <a:chOff x="0" y="-28575"/>
              <a:chExt cx="76932" cy="131573"/>
            </a:xfrm>
          </p:grpSpPr>
          <p:sp>
            <p:nvSpPr>
              <p:cNvPr id="788" name="Google Shape;788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89" name="Google Shape;789;p53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4</a:t>
                </a:r>
                <a:endParaRPr/>
              </a:p>
            </p:txBody>
          </p:sp>
        </p:grpSp>
        <p:grpSp>
          <p:nvGrpSpPr>
            <p:cNvPr id="790" name="Google Shape;790;p53"/>
            <p:cNvGrpSpPr/>
            <p:nvPr/>
          </p:nvGrpSpPr>
          <p:grpSpPr>
            <a:xfrm>
              <a:off x="0" y="-144661"/>
              <a:ext cx="389466" cy="666089"/>
              <a:chOff x="0" y="-28575"/>
              <a:chExt cx="76932" cy="131573"/>
            </a:xfrm>
          </p:grpSpPr>
          <p:sp>
            <p:nvSpPr>
              <p:cNvPr id="791" name="Google Shape;791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92" name="Google Shape;792;p53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5</a:t>
                </a:r>
                <a:endParaRPr/>
              </a:p>
            </p:txBody>
          </p:sp>
        </p:grpSp>
        <p:grpSp>
          <p:nvGrpSpPr>
            <p:cNvPr id="793" name="Google Shape;793;p53"/>
            <p:cNvGrpSpPr/>
            <p:nvPr/>
          </p:nvGrpSpPr>
          <p:grpSpPr>
            <a:xfrm>
              <a:off x="0" y="2868932"/>
              <a:ext cx="389466" cy="666089"/>
              <a:chOff x="0" y="-28575"/>
              <a:chExt cx="76932" cy="131573"/>
            </a:xfrm>
          </p:grpSpPr>
          <p:sp>
            <p:nvSpPr>
              <p:cNvPr id="794" name="Google Shape;794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95" name="Google Shape;795;p53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  <p:grpSp>
          <p:nvGrpSpPr>
            <p:cNvPr id="796" name="Google Shape;796;p53"/>
            <p:cNvGrpSpPr/>
            <p:nvPr/>
          </p:nvGrpSpPr>
          <p:grpSpPr>
            <a:xfrm>
              <a:off x="0" y="5276368"/>
              <a:ext cx="389466" cy="569648"/>
              <a:chOff x="0" y="-9525"/>
              <a:chExt cx="76932" cy="112523"/>
            </a:xfrm>
          </p:grpSpPr>
          <p:sp>
            <p:nvSpPr>
              <p:cNvPr id="797" name="Google Shape;797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798" name="Google Shape;798;p53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-2</a:t>
                </a:r>
                <a:endParaRPr/>
              </a:p>
            </p:txBody>
          </p:sp>
        </p:grpSp>
        <p:grpSp>
          <p:nvGrpSpPr>
            <p:cNvPr id="799" name="Google Shape;799;p53"/>
            <p:cNvGrpSpPr/>
            <p:nvPr/>
          </p:nvGrpSpPr>
          <p:grpSpPr>
            <a:xfrm>
              <a:off x="0" y="6029767"/>
              <a:ext cx="389466" cy="569648"/>
              <a:chOff x="0" y="-9525"/>
              <a:chExt cx="76932" cy="112523"/>
            </a:xfrm>
          </p:grpSpPr>
          <p:sp>
            <p:nvSpPr>
              <p:cNvPr id="800" name="Google Shape;800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801" name="Google Shape;801;p53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-3</a:t>
                </a:r>
                <a:endParaRPr/>
              </a:p>
            </p:txBody>
          </p:sp>
        </p:grpSp>
        <p:grpSp>
          <p:nvGrpSpPr>
            <p:cNvPr id="802" name="Google Shape;802;p53"/>
            <p:cNvGrpSpPr/>
            <p:nvPr/>
          </p:nvGrpSpPr>
          <p:grpSpPr>
            <a:xfrm>
              <a:off x="0" y="2115534"/>
              <a:ext cx="389466" cy="666089"/>
              <a:chOff x="0" y="-28575"/>
              <a:chExt cx="76932" cy="131573"/>
            </a:xfrm>
          </p:grpSpPr>
          <p:sp>
            <p:nvSpPr>
              <p:cNvPr id="803" name="Google Shape;803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804" name="Google Shape;804;p53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  <p:grpSp>
          <p:nvGrpSpPr>
            <p:cNvPr id="805" name="Google Shape;805;p53"/>
            <p:cNvGrpSpPr/>
            <p:nvPr/>
          </p:nvGrpSpPr>
          <p:grpSpPr>
            <a:xfrm>
              <a:off x="0" y="4426529"/>
              <a:ext cx="389466" cy="666089"/>
              <a:chOff x="0" y="-28575"/>
              <a:chExt cx="76932" cy="131573"/>
            </a:xfrm>
          </p:grpSpPr>
          <p:sp>
            <p:nvSpPr>
              <p:cNvPr id="806" name="Google Shape;806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807" name="Google Shape;807;p53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-1</a:t>
                </a:r>
                <a:endParaRPr/>
              </a:p>
            </p:txBody>
          </p:sp>
        </p:grpSp>
        <p:grpSp>
          <p:nvGrpSpPr>
            <p:cNvPr id="808" name="Google Shape;808;p53"/>
            <p:cNvGrpSpPr/>
            <p:nvPr/>
          </p:nvGrpSpPr>
          <p:grpSpPr>
            <a:xfrm>
              <a:off x="0" y="1362136"/>
              <a:ext cx="389466" cy="666089"/>
              <a:chOff x="0" y="-28575"/>
              <a:chExt cx="76932" cy="131573"/>
            </a:xfrm>
          </p:grpSpPr>
          <p:sp>
            <p:nvSpPr>
              <p:cNvPr id="809" name="Google Shape;809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810" name="Google Shape;810;p53"/>
              <p:cNvSpPr txBox="1"/>
              <p:nvPr/>
            </p:nvSpPr>
            <p:spPr>
              <a:xfrm>
                <a:off x="0" y="-28575"/>
                <a:ext cx="76932" cy="1315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6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3</a:t>
                </a:r>
                <a:endParaRPr/>
              </a:p>
            </p:txBody>
          </p:sp>
        </p:grpSp>
        <p:grpSp>
          <p:nvGrpSpPr>
            <p:cNvPr id="811" name="Google Shape;811;p53"/>
            <p:cNvGrpSpPr/>
            <p:nvPr/>
          </p:nvGrpSpPr>
          <p:grpSpPr>
            <a:xfrm>
              <a:off x="0" y="6783165"/>
              <a:ext cx="389466" cy="569648"/>
              <a:chOff x="0" y="-9525"/>
              <a:chExt cx="76932" cy="112523"/>
            </a:xfrm>
          </p:grpSpPr>
          <p:sp>
            <p:nvSpPr>
              <p:cNvPr id="812" name="Google Shape;812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813" name="Google Shape;813;p53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-4</a:t>
                </a:r>
                <a:endParaRPr/>
              </a:p>
            </p:txBody>
          </p:sp>
        </p:grpSp>
        <p:grpSp>
          <p:nvGrpSpPr>
            <p:cNvPr id="814" name="Google Shape;814;p53"/>
            <p:cNvGrpSpPr/>
            <p:nvPr/>
          </p:nvGrpSpPr>
          <p:grpSpPr>
            <a:xfrm>
              <a:off x="0" y="7536563"/>
              <a:ext cx="389466" cy="569648"/>
              <a:chOff x="0" y="-9525"/>
              <a:chExt cx="76932" cy="112523"/>
            </a:xfrm>
          </p:grpSpPr>
          <p:sp>
            <p:nvSpPr>
              <p:cNvPr id="815" name="Google Shape;815;p53"/>
              <p:cNvSpPr/>
              <p:nvPr/>
            </p:nvSpPr>
            <p:spPr>
              <a:xfrm>
                <a:off x="0" y="0"/>
                <a:ext cx="76932" cy="102998"/>
              </a:xfrm>
              <a:custGeom>
                <a:rect b="b" l="l" r="r" t="t"/>
                <a:pathLst>
                  <a:path extrusionOk="0" h="102998" w="76932">
                    <a:moveTo>
                      <a:pt x="0" y="0"/>
                    </a:moveTo>
                    <a:lnTo>
                      <a:pt x="76932" y="0"/>
                    </a:lnTo>
                    <a:lnTo>
                      <a:pt x="76932" y="102998"/>
                    </a:lnTo>
                    <a:lnTo>
                      <a:pt x="0" y="102998"/>
                    </a:lnTo>
                    <a:close/>
                  </a:path>
                </a:pathLst>
              </a:custGeom>
              <a:solidFill>
                <a:srgbClr val="FCB295"/>
              </a:solidFill>
              <a:ln>
                <a:noFill/>
              </a:ln>
            </p:spPr>
          </p:sp>
          <p:sp>
            <p:nvSpPr>
              <p:cNvPr id="816" name="Google Shape;816;p53"/>
              <p:cNvSpPr txBox="1"/>
              <p:nvPr/>
            </p:nvSpPr>
            <p:spPr>
              <a:xfrm>
                <a:off x="0" y="-9525"/>
                <a:ext cx="76932" cy="1125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1" marL="0" marR="0" rtl="0" algn="r">
                  <a:lnSpc>
                    <a:spcPct val="130018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-US" sz="1599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-5</a:t>
                </a:r>
                <a:endParaRPr/>
              </a:p>
            </p:txBody>
          </p:sp>
        </p:grpSp>
      </p:grpSp>
      <p:grpSp>
        <p:nvGrpSpPr>
          <p:cNvPr id="817" name="Google Shape;817;p53"/>
          <p:cNvGrpSpPr/>
          <p:nvPr/>
        </p:nvGrpSpPr>
        <p:grpSpPr>
          <a:xfrm>
            <a:off x="13290768" y="5100450"/>
            <a:ext cx="292099" cy="467260"/>
            <a:chOff x="0" y="-19050"/>
            <a:chExt cx="76932" cy="123065"/>
          </a:xfrm>
        </p:grpSpPr>
        <p:sp>
          <p:nvSpPr>
            <p:cNvPr id="818" name="Google Shape;818;p53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19" name="Google Shape;819;p53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1</a:t>
              </a:r>
              <a:endParaRPr/>
            </a:p>
          </p:txBody>
        </p:sp>
      </p:grpSp>
      <p:grpSp>
        <p:nvGrpSpPr>
          <p:cNvPr id="820" name="Google Shape;820;p53"/>
          <p:cNvGrpSpPr/>
          <p:nvPr/>
        </p:nvGrpSpPr>
        <p:grpSpPr>
          <a:xfrm>
            <a:off x="13855817" y="5100450"/>
            <a:ext cx="292099" cy="467260"/>
            <a:chOff x="0" y="-19050"/>
            <a:chExt cx="76932" cy="123065"/>
          </a:xfrm>
        </p:grpSpPr>
        <p:sp>
          <p:nvSpPr>
            <p:cNvPr id="821" name="Google Shape;821;p53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22" name="Google Shape;822;p53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2</a:t>
              </a:r>
              <a:endParaRPr/>
            </a:p>
          </p:txBody>
        </p:sp>
      </p:grpSp>
      <p:grpSp>
        <p:nvGrpSpPr>
          <p:cNvPr id="823" name="Google Shape;823;p53"/>
          <p:cNvGrpSpPr/>
          <p:nvPr/>
        </p:nvGrpSpPr>
        <p:grpSpPr>
          <a:xfrm>
            <a:off x="14420866" y="5100450"/>
            <a:ext cx="292099" cy="467260"/>
            <a:chOff x="0" y="-19050"/>
            <a:chExt cx="76932" cy="123065"/>
          </a:xfrm>
        </p:grpSpPr>
        <p:sp>
          <p:nvSpPr>
            <p:cNvPr id="824" name="Google Shape;824;p53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25" name="Google Shape;825;p53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3</a:t>
              </a:r>
              <a:endParaRPr/>
            </a:p>
          </p:txBody>
        </p:sp>
      </p:grpSp>
      <p:grpSp>
        <p:nvGrpSpPr>
          <p:cNvPr id="826" name="Google Shape;826;p53"/>
          <p:cNvGrpSpPr/>
          <p:nvPr/>
        </p:nvGrpSpPr>
        <p:grpSpPr>
          <a:xfrm>
            <a:off x="14985915" y="5100450"/>
            <a:ext cx="292099" cy="467260"/>
            <a:chOff x="0" y="-19050"/>
            <a:chExt cx="76932" cy="123065"/>
          </a:xfrm>
        </p:grpSpPr>
        <p:sp>
          <p:nvSpPr>
            <p:cNvPr id="827" name="Google Shape;827;p53"/>
            <p:cNvSpPr/>
            <p:nvPr/>
          </p:nvSpPr>
          <p:spPr>
            <a:xfrm>
              <a:off x="0" y="0"/>
              <a:ext cx="76932" cy="104015"/>
            </a:xfrm>
            <a:custGeom>
              <a:rect b="b" l="l" r="r" t="t"/>
              <a:pathLst>
                <a:path extrusionOk="0" h="104015" w="76932">
                  <a:moveTo>
                    <a:pt x="0" y="0"/>
                  </a:moveTo>
                  <a:lnTo>
                    <a:pt x="76932" y="0"/>
                  </a:lnTo>
                  <a:lnTo>
                    <a:pt x="76932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28" name="Google Shape;828;p53"/>
            <p:cNvSpPr txBox="1"/>
            <p:nvPr/>
          </p:nvSpPr>
          <p:spPr>
            <a:xfrm>
              <a:off x="0" y="-19050"/>
              <a:ext cx="76932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4</a:t>
              </a:r>
              <a:endParaRPr/>
            </a:p>
          </p:txBody>
        </p:sp>
      </p:grpSp>
      <p:grpSp>
        <p:nvGrpSpPr>
          <p:cNvPr id="829" name="Google Shape;829;p53"/>
          <p:cNvGrpSpPr/>
          <p:nvPr/>
        </p:nvGrpSpPr>
        <p:grpSpPr>
          <a:xfrm>
            <a:off x="12049646" y="5100450"/>
            <a:ext cx="365024" cy="467260"/>
            <a:chOff x="0" y="-19050"/>
            <a:chExt cx="96138" cy="123065"/>
          </a:xfrm>
        </p:grpSpPr>
        <p:sp>
          <p:nvSpPr>
            <p:cNvPr id="830" name="Google Shape;830;p53"/>
            <p:cNvSpPr/>
            <p:nvPr/>
          </p:nvSpPr>
          <p:spPr>
            <a:xfrm>
              <a:off x="0" y="0"/>
              <a:ext cx="96138" cy="104015"/>
            </a:xfrm>
            <a:custGeom>
              <a:rect b="b" l="l" r="r" t="t"/>
              <a:pathLst>
                <a:path extrusionOk="0" h="104015" w="96138">
                  <a:moveTo>
                    <a:pt x="0" y="0"/>
                  </a:moveTo>
                  <a:lnTo>
                    <a:pt x="96138" y="0"/>
                  </a:lnTo>
                  <a:lnTo>
                    <a:pt x="96138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31" name="Google Shape;831;p53"/>
            <p:cNvSpPr txBox="1"/>
            <p:nvPr/>
          </p:nvSpPr>
          <p:spPr>
            <a:xfrm>
              <a:off x="0" y="-19050"/>
              <a:ext cx="96138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-1</a:t>
              </a:r>
              <a:endParaRPr/>
            </a:p>
          </p:txBody>
        </p:sp>
      </p:grpSp>
      <p:grpSp>
        <p:nvGrpSpPr>
          <p:cNvPr id="832" name="Google Shape;832;p53"/>
          <p:cNvGrpSpPr/>
          <p:nvPr/>
        </p:nvGrpSpPr>
        <p:grpSpPr>
          <a:xfrm>
            <a:off x="11484598" y="5099745"/>
            <a:ext cx="365024" cy="467260"/>
            <a:chOff x="0" y="-19050"/>
            <a:chExt cx="96138" cy="123065"/>
          </a:xfrm>
        </p:grpSpPr>
        <p:sp>
          <p:nvSpPr>
            <p:cNvPr id="833" name="Google Shape;833;p53"/>
            <p:cNvSpPr/>
            <p:nvPr/>
          </p:nvSpPr>
          <p:spPr>
            <a:xfrm>
              <a:off x="0" y="0"/>
              <a:ext cx="96138" cy="104015"/>
            </a:xfrm>
            <a:custGeom>
              <a:rect b="b" l="l" r="r" t="t"/>
              <a:pathLst>
                <a:path extrusionOk="0" h="104015" w="96138">
                  <a:moveTo>
                    <a:pt x="0" y="0"/>
                  </a:moveTo>
                  <a:lnTo>
                    <a:pt x="96138" y="0"/>
                  </a:lnTo>
                  <a:lnTo>
                    <a:pt x="96138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34" name="Google Shape;834;p53"/>
            <p:cNvSpPr txBox="1"/>
            <p:nvPr/>
          </p:nvSpPr>
          <p:spPr>
            <a:xfrm>
              <a:off x="0" y="-19050"/>
              <a:ext cx="96138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-2</a:t>
              </a:r>
              <a:endParaRPr/>
            </a:p>
          </p:txBody>
        </p:sp>
      </p:grpSp>
      <p:grpSp>
        <p:nvGrpSpPr>
          <p:cNvPr id="835" name="Google Shape;835;p53"/>
          <p:cNvGrpSpPr/>
          <p:nvPr/>
        </p:nvGrpSpPr>
        <p:grpSpPr>
          <a:xfrm>
            <a:off x="10919549" y="5099745"/>
            <a:ext cx="365024" cy="467260"/>
            <a:chOff x="0" y="-19050"/>
            <a:chExt cx="96138" cy="123065"/>
          </a:xfrm>
        </p:grpSpPr>
        <p:sp>
          <p:nvSpPr>
            <p:cNvPr id="836" name="Google Shape;836;p53"/>
            <p:cNvSpPr/>
            <p:nvPr/>
          </p:nvSpPr>
          <p:spPr>
            <a:xfrm>
              <a:off x="0" y="0"/>
              <a:ext cx="96138" cy="104015"/>
            </a:xfrm>
            <a:custGeom>
              <a:rect b="b" l="l" r="r" t="t"/>
              <a:pathLst>
                <a:path extrusionOk="0" h="104015" w="96138">
                  <a:moveTo>
                    <a:pt x="0" y="0"/>
                  </a:moveTo>
                  <a:lnTo>
                    <a:pt x="96138" y="0"/>
                  </a:lnTo>
                  <a:lnTo>
                    <a:pt x="96138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37" name="Google Shape;837;p53"/>
            <p:cNvSpPr txBox="1"/>
            <p:nvPr/>
          </p:nvSpPr>
          <p:spPr>
            <a:xfrm>
              <a:off x="0" y="-19050"/>
              <a:ext cx="96138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-3</a:t>
              </a:r>
              <a:endParaRPr/>
            </a:p>
          </p:txBody>
        </p:sp>
      </p:grpSp>
      <p:grpSp>
        <p:nvGrpSpPr>
          <p:cNvPr id="838" name="Google Shape;838;p53"/>
          <p:cNvGrpSpPr/>
          <p:nvPr/>
        </p:nvGrpSpPr>
        <p:grpSpPr>
          <a:xfrm>
            <a:off x="10351224" y="5099745"/>
            <a:ext cx="368299" cy="467260"/>
            <a:chOff x="0" y="-19050"/>
            <a:chExt cx="97001" cy="123065"/>
          </a:xfrm>
        </p:grpSpPr>
        <p:sp>
          <p:nvSpPr>
            <p:cNvPr id="839" name="Google Shape;839;p53"/>
            <p:cNvSpPr/>
            <p:nvPr/>
          </p:nvSpPr>
          <p:spPr>
            <a:xfrm>
              <a:off x="0" y="0"/>
              <a:ext cx="97001" cy="104015"/>
            </a:xfrm>
            <a:custGeom>
              <a:rect b="b" l="l" r="r" t="t"/>
              <a:pathLst>
                <a:path extrusionOk="0" h="104015" w="97001">
                  <a:moveTo>
                    <a:pt x="0" y="0"/>
                  </a:moveTo>
                  <a:lnTo>
                    <a:pt x="97001" y="0"/>
                  </a:lnTo>
                  <a:lnTo>
                    <a:pt x="97001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40" name="Google Shape;840;p53"/>
            <p:cNvSpPr txBox="1"/>
            <p:nvPr/>
          </p:nvSpPr>
          <p:spPr>
            <a:xfrm>
              <a:off x="0" y="-19050"/>
              <a:ext cx="97001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-4</a:t>
              </a:r>
              <a:endParaRPr/>
            </a:p>
          </p:txBody>
        </p:sp>
      </p:grpSp>
      <p:grpSp>
        <p:nvGrpSpPr>
          <p:cNvPr id="841" name="Google Shape;841;p53"/>
          <p:cNvGrpSpPr/>
          <p:nvPr/>
        </p:nvGrpSpPr>
        <p:grpSpPr>
          <a:xfrm>
            <a:off x="10558056" y="2878116"/>
            <a:ext cx="4589327" cy="4589327"/>
            <a:chOff x="0" y="0"/>
            <a:chExt cx="812800" cy="812800"/>
          </a:xfrm>
        </p:grpSpPr>
        <p:sp>
          <p:nvSpPr>
            <p:cNvPr id="842" name="Google Shape;842;p5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57150">
              <a:solidFill>
                <a:srgbClr val="86C9C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53"/>
            <p:cNvSpPr txBox="1"/>
            <p:nvPr/>
          </p:nvSpPr>
          <p:spPr>
            <a:xfrm>
              <a:off x="76200" y="57150"/>
              <a:ext cx="660400" cy="679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2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44" name="Google Shape;844;p53"/>
          <p:cNvGrpSpPr/>
          <p:nvPr/>
        </p:nvGrpSpPr>
        <p:grpSpPr>
          <a:xfrm>
            <a:off x="11006811" y="1739305"/>
            <a:ext cx="190500" cy="6808919"/>
            <a:chOff x="0" y="0"/>
            <a:chExt cx="254000" cy="9078559"/>
          </a:xfrm>
        </p:grpSpPr>
        <p:cxnSp>
          <p:nvCxnSpPr>
            <p:cNvPr id="845" name="Google Shape;845;p53"/>
            <p:cNvCxnSpPr/>
            <p:nvPr/>
          </p:nvCxnSpPr>
          <p:spPr>
            <a:xfrm rot="10800000">
              <a:off x="127000" y="0"/>
              <a:ext cx="0" cy="9078559"/>
            </a:xfrm>
            <a:prstGeom prst="straightConnector1">
              <a:avLst/>
            </a:prstGeom>
            <a:noFill/>
            <a:ln cap="rnd" cmpd="sng" w="76200">
              <a:solidFill>
                <a:srgbClr val="9F5B3B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46" name="Google Shape;846;p53"/>
            <p:cNvGrpSpPr/>
            <p:nvPr/>
          </p:nvGrpSpPr>
          <p:grpSpPr>
            <a:xfrm>
              <a:off x="0" y="6364254"/>
              <a:ext cx="254000" cy="254000"/>
              <a:chOff x="0" y="0"/>
              <a:chExt cx="812800" cy="812800"/>
            </a:xfrm>
          </p:grpSpPr>
          <p:sp>
            <p:nvSpPr>
              <p:cNvPr id="847" name="Google Shape;847;p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5B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8" name="Google Shape;848;p5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9" name="Google Shape;849;p53"/>
            <p:cNvGrpSpPr/>
            <p:nvPr/>
          </p:nvGrpSpPr>
          <p:grpSpPr>
            <a:xfrm>
              <a:off x="0" y="2408072"/>
              <a:ext cx="254000" cy="254000"/>
              <a:chOff x="0" y="0"/>
              <a:chExt cx="812800" cy="812800"/>
            </a:xfrm>
          </p:grpSpPr>
          <p:sp>
            <p:nvSpPr>
              <p:cNvPr id="850" name="Google Shape;850;p5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rect b="b" l="l" r="r" t="t"/>
                <a:pathLst>
                  <a:path extrusionOk="0"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F5B3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53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22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52" name="Google Shape;852;p53"/>
          <p:cNvGrpSpPr/>
          <p:nvPr/>
        </p:nvGrpSpPr>
        <p:grpSpPr>
          <a:xfrm>
            <a:off x="9786176" y="5099745"/>
            <a:ext cx="368299" cy="467260"/>
            <a:chOff x="0" y="-19050"/>
            <a:chExt cx="97001" cy="123065"/>
          </a:xfrm>
        </p:grpSpPr>
        <p:sp>
          <p:nvSpPr>
            <p:cNvPr id="853" name="Google Shape;853;p53"/>
            <p:cNvSpPr/>
            <p:nvPr/>
          </p:nvSpPr>
          <p:spPr>
            <a:xfrm>
              <a:off x="0" y="0"/>
              <a:ext cx="97001" cy="104015"/>
            </a:xfrm>
            <a:custGeom>
              <a:rect b="b" l="l" r="r" t="t"/>
              <a:pathLst>
                <a:path extrusionOk="0" h="104015" w="97001">
                  <a:moveTo>
                    <a:pt x="0" y="0"/>
                  </a:moveTo>
                  <a:lnTo>
                    <a:pt x="97001" y="0"/>
                  </a:lnTo>
                  <a:lnTo>
                    <a:pt x="97001" y="104015"/>
                  </a:lnTo>
                  <a:lnTo>
                    <a:pt x="0" y="104015"/>
                  </a:lnTo>
                  <a:close/>
                </a:path>
              </a:pathLst>
            </a:custGeom>
            <a:solidFill>
              <a:srgbClr val="FCB295"/>
            </a:solidFill>
            <a:ln>
              <a:noFill/>
            </a:ln>
          </p:spPr>
        </p:sp>
        <p:sp>
          <p:nvSpPr>
            <p:cNvPr id="854" name="Google Shape;854;p53"/>
            <p:cNvSpPr txBox="1"/>
            <p:nvPr/>
          </p:nvSpPr>
          <p:spPr>
            <a:xfrm>
              <a:off x="0" y="-19050"/>
              <a:ext cx="97001" cy="1230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1" marL="0" marR="0" rtl="0" algn="ctr">
                <a:lnSpc>
                  <a:spcPct val="130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99" u="none" cap="none" strike="noStrike">
                  <a:solidFill>
                    <a:srgbClr val="000000"/>
                  </a:solidFill>
                  <a:latin typeface="NTR"/>
                  <a:ea typeface="NTR"/>
                  <a:cs typeface="NTR"/>
                  <a:sym typeface="NTR"/>
                </a:rPr>
                <a:t>-5</a:t>
              </a:r>
              <a:endParaRPr/>
            </a:p>
          </p:txBody>
        </p:sp>
      </p:grpSp>
      <p:sp>
        <p:nvSpPr>
          <p:cNvPr id="855" name="Google Shape;855;p53"/>
          <p:cNvSpPr txBox="1"/>
          <p:nvPr/>
        </p:nvSpPr>
        <p:spPr>
          <a:xfrm>
            <a:off x="1027809" y="4879351"/>
            <a:ext cx="64104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If a vertical line, drawn anywhere on the graph, can touch the graph </a:t>
            </a:r>
            <a:r>
              <a:rPr b="0" i="0" lang="en-US" sz="3500" u="sng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more than once</a:t>
            </a:r>
            <a:r>
              <a:rPr b="0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, then the relation is </a:t>
            </a:r>
            <a:r>
              <a:rPr b="1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not a </a:t>
            </a:r>
            <a:r>
              <a:rPr b="1" i="0" lang="en-US" sz="3500" u="none" cap="none" strike="noStrike">
                <a:solidFill>
                  <a:srgbClr val="FCB295"/>
                </a:solidFill>
                <a:latin typeface="NTR"/>
                <a:ea typeface="NTR"/>
                <a:cs typeface="NTR"/>
                <a:sym typeface="NTR"/>
              </a:rPr>
              <a:t>function</a:t>
            </a:r>
            <a:r>
              <a:rPr b="1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.</a:t>
            </a:r>
            <a:endParaRPr/>
          </a:p>
        </p:txBody>
      </p:sp>
      <p:sp>
        <p:nvSpPr>
          <p:cNvPr id="856" name="Google Shape;856;p53"/>
          <p:cNvSpPr/>
          <p:nvPr/>
        </p:nvSpPr>
        <p:spPr>
          <a:xfrm rot="-6744989">
            <a:off x="15119861" y="205112"/>
            <a:ext cx="4357881" cy="1647175"/>
          </a:xfrm>
          <a:custGeom>
            <a:rect b="b" l="l" r="r" t="t"/>
            <a:pathLst>
              <a:path extrusionOk="0" h="1647175" w="4357881">
                <a:moveTo>
                  <a:pt x="0" y="0"/>
                </a:moveTo>
                <a:lnTo>
                  <a:pt x="4357881" y="0"/>
                </a:lnTo>
                <a:lnTo>
                  <a:pt x="4357881" y="1647176"/>
                </a:lnTo>
                <a:lnTo>
                  <a:pt x="0" y="16471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7" name="Google Shape;857;p53"/>
          <p:cNvSpPr/>
          <p:nvPr/>
        </p:nvSpPr>
        <p:spPr>
          <a:xfrm>
            <a:off x="16030388" y="-2375495"/>
            <a:ext cx="5396459" cy="4114800"/>
          </a:xfrm>
          <a:custGeom>
            <a:rect b="b" l="l" r="r" t="t"/>
            <a:pathLst>
              <a:path extrusionOk="0" h="4114800" w="5396459">
                <a:moveTo>
                  <a:pt x="0" y="0"/>
                </a:moveTo>
                <a:lnTo>
                  <a:pt x="5396459" y="0"/>
                </a:lnTo>
                <a:lnTo>
                  <a:pt x="53964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8" name="Google Shape;858;p53"/>
          <p:cNvSpPr/>
          <p:nvPr/>
        </p:nvSpPr>
        <p:spPr>
          <a:xfrm rot="1072861">
            <a:off x="16719276" y="9013912"/>
            <a:ext cx="516975" cy="488776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5" y="0"/>
                </a:lnTo>
                <a:lnTo>
                  <a:pt x="516975" y="488776"/>
                </a:lnTo>
                <a:lnTo>
                  <a:pt x="0" y="488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9" name="Google Shape;859;p53"/>
          <p:cNvSpPr/>
          <p:nvPr/>
        </p:nvSpPr>
        <p:spPr>
          <a:xfrm>
            <a:off x="6585665" y="520922"/>
            <a:ext cx="516975" cy="488776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5" y="0"/>
                </a:lnTo>
                <a:lnTo>
                  <a:pt x="516975" y="488776"/>
                </a:lnTo>
                <a:lnTo>
                  <a:pt x="0" y="4887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0" name="Google Shape;860;p53"/>
          <p:cNvSpPr/>
          <p:nvPr/>
        </p:nvSpPr>
        <p:spPr>
          <a:xfrm>
            <a:off x="7738417" y="597909"/>
            <a:ext cx="754674" cy="334801"/>
          </a:xfrm>
          <a:custGeom>
            <a:rect b="b" l="l" r="r" t="t"/>
            <a:pathLst>
              <a:path extrusionOk="0" h="334801" w="754674">
                <a:moveTo>
                  <a:pt x="0" y="0"/>
                </a:moveTo>
                <a:lnTo>
                  <a:pt x="754674" y="0"/>
                </a:lnTo>
                <a:lnTo>
                  <a:pt x="754674" y="334801"/>
                </a:lnTo>
                <a:lnTo>
                  <a:pt x="0" y="334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1" name="Google Shape;861;p53"/>
          <p:cNvSpPr/>
          <p:nvPr/>
        </p:nvSpPr>
        <p:spPr>
          <a:xfrm rot="1304833">
            <a:off x="9183536" y="451080"/>
            <a:ext cx="528918" cy="963261"/>
          </a:xfrm>
          <a:custGeom>
            <a:rect b="b" l="l" r="r" t="t"/>
            <a:pathLst>
              <a:path extrusionOk="0" h="963261" w="528918">
                <a:moveTo>
                  <a:pt x="0" y="0"/>
                </a:moveTo>
                <a:lnTo>
                  <a:pt x="528917" y="0"/>
                </a:lnTo>
                <a:lnTo>
                  <a:pt x="528917" y="963260"/>
                </a:lnTo>
                <a:lnTo>
                  <a:pt x="0" y="9632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2" name="Google Shape;862;p53"/>
          <p:cNvSpPr/>
          <p:nvPr/>
        </p:nvSpPr>
        <p:spPr>
          <a:xfrm>
            <a:off x="-1052737" y="-821544"/>
            <a:ext cx="7315200" cy="2560320"/>
          </a:xfrm>
          <a:custGeom>
            <a:rect b="b" l="l" r="r" t="t"/>
            <a:pathLst>
              <a:path extrusionOk="0" h="2560320" w="7315200">
                <a:moveTo>
                  <a:pt x="0" y="0"/>
                </a:moveTo>
                <a:lnTo>
                  <a:pt x="7315200" y="0"/>
                </a:lnTo>
                <a:lnTo>
                  <a:pt x="7315200" y="2560320"/>
                </a:lnTo>
                <a:lnTo>
                  <a:pt x="0" y="25603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3" name="Google Shape;863;p53"/>
          <p:cNvSpPr txBox="1"/>
          <p:nvPr/>
        </p:nvSpPr>
        <p:spPr>
          <a:xfrm>
            <a:off x="1027809" y="2034580"/>
            <a:ext cx="7465282" cy="23526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VERTICAL LINE TEST</a:t>
            </a:r>
            <a:endParaRPr/>
          </a:p>
        </p:txBody>
      </p:sp>
      <p:pic>
        <p:nvPicPr>
          <p:cNvPr id="864" name="Google Shape;864;p5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000800" y="6864725"/>
            <a:ext cx="5866775" cy="292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54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0" name="Google Shape;870;p54"/>
          <p:cNvSpPr txBox="1"/>
          <p:nvPr/>
        </p:nvSpPr>
        <p:spPr>
          <a:xfrm>
            <a:off x="8779628" y="3433353"/>
            <a:ext cx="6633000" cy="16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A function is a special type of relation where each input only has one output.</a:t>
            </a:r>
            <a:endParaRPr/>
          </a:p>
        </p:txBody>
      </p:sp>
      <p:sp>
        <p:nvSpPr>
          <p:cNvPr id="871" name="Google Shape;871;p54"/>
          <p:cNvSpPr txBox="1"/>
          <p:nvPr/>
        </p:nvSpPr>
        <p:spPr>
          <a:xfrm>
            <a:off x="8779628" y="5730784"/>
            <a:ext cx="6633000" cy="11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Graphing a function using the table of values</a:t>
            </a:r>
            <a:endParaRPr/>
          </a:p>
        </p:txBody>
      </p:sp>
      <p:sp>
        <p:nvSpPr>
          <p:cNvPr id="872" name="Google Shape;872;p54"/>
          <p:cNvSpPr txBox="1"/>
          <p:nvPr/>
        </p:nvSpPr>
        <p:spPr>
          <a:xfrm>
            <a:off x="8779628" y="7176742"/>
            <a:ext cx="8293371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Step 1:</a:t>
            </a:r>
            <a:r>
              <a:rPr b="0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Construct the table of values.</a:t>
            </a:r>
            <a:endParaRPr/>
          </a:p>
          <a:p>
            <a:pPr indent="0" lvl="0" marL="0" marR="0" rtl="0" algn="l">
              <a:lnSpc>
                <a:spcPct val="16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Step 2:</a:t>
            </a:r>
            <a:r>
              <a:rPr b="0" i="0" lang="en-US" sz="29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 Plot the points on the coordinate plane.</a:t>
            </a:r>
            <a:endParaRPr/>
          </a:p>
        </p:txBody>
      </p:sp>
      <p:sp>
        <p:nvSpPr>
          <p:cNvPr id="873" name="Google Shape;873;p54"/>
          <p:cNvSpPr txBox="1"/>
          <p:nvPr/>
        </p:nvSpPr>
        <p:spPr>
          <a:xfrm>
            <a:off x="8779628" y="1452559"/>
            <a:ext cx="8293371" cy="1219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SUMMARY</a:t>
            </a:r>
            <a:endParaRPr/>
          </a:p>
        </p:txBody>
      </p:sp>
      <p:sp>
        <p:nvSpPr>
          <p:cNvPr id="874" name="Google Shape;874;p54"/>
          <p:cNvSpPr/>
          <p:nvPr/>
        </p:nvSpPr>
        <p:spPr>
          <a:xfrm>
            <a:off x="7669614" y="3471453"/>
            <a:ext cx="703090" cy="722044"/>
          </a:xfrm>
          <a:custGeom>
            <a:rect b="b" l="l" r="r" t="t"/>
            <a:pathLst>
              <a:path extrusionOk="0" h="722044" w="703090">
                <a:moveTo>
                  <a:pt x="0" y="0"/>
                </a:moveTo>
                <a:lnTo>
                  <a:pt x="703091" y="0"/>
                </a:lnTo>
                <a:lnTo>
                  <a:pt x="703091" y="722045"/>
                </a:lnTo>
                <a:lnTo>
                  <a:pt x="0" y="7220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5" name="Google Shape;875;p54"/>
          <p:cNvSpPr/>
          <p:nvPr/>
        </p:nvSpPr>
        <p:spPr>
          <a:xfrm>
            <a:off x="7669614" y="5768884"/>
            <a:ext cx="703090" cy="722044"/>
          </a:xfrm>
          <a:custGeom>
            <a:rect b="b" l="l" r="r" t="t"/>
            <a:pathLst>
              <a:path extrusionOk="0" h="722044" w="703090">
                <a:moveTo>
                  <a:pt x="0" y="0"/>
                </a:moveTo>
                <a:lnTo>
                  <a:pt x="703091" y="0"/>
                </a:lnTo>
                <a:lnTo>
                  <a:pt x="703091" y="722044"/>
                </a:lnTo>
                <a:lnTo>
                  <a:pt x="0" y="722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76" name="Google Shape;876;p54"/>
          <p:cNvCxnSpPr/>
          <p:nvPr/>
        </p:nvCxnSpPr>
        <p:spPr>
          <a:xfrm rot="10800000">
            <a:off x="13753534" y="9619133"/>
            <a:ext cx="5896576" cy="0"/>
          </a:xfrm>
          <a:prstGeom prst="straightConnector1">
            <a:avLst/>
          </a:prstGeom>
          <a:noFill/>
          <a:ln cap="flat" cmpd="sng" w="95250">
            <a:solidFill>
              <a:srgbClr val="F9D02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77" name="Google Shape;877;p54"/>
          <p:cNvCxnSpPr/>
          <p:nvPr/>
        </p:nvCxnSpPr>
        <p:spPr>
          <a:xfrm rot="10800000">
            <a:off x="17459780" y="5742999"/>
            <a:ext cx="0" cy="5077393"/>
          </a:xfrm>
          <a:prstGeom prst="straightConnector1">
            <a:avLst/>
          </a:prstGeom>
          <a:noFill/>
          <a:ln cap="flat" cmpd="sng" w="95250">
            <a:solidFill>
              <a:srgbClr val="F9D02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78" name="Google Shape;878;p54"/>
          <p:cNvSpPr/>
          <p:nvPr/>
        </p:nvSpPr>
        <p:spPr>
          <a:xfrm>
            <a:off x="14761551" y="7261695"/>
            <a:ext cx="5396459" cy="4114800"/>
          </a:xfrm>
          <a:custGeom>
            <a:rect b="b" l="l" r="r" t="t"/>
            <a:pathLst>
              <a:path extrusionOk="0" h="4114800" w="5396459">
                <a:moveTo>
                  <a:pt x="0" y="0"/>
                </a:moveTo>
                <a:lnTo>
                  <a:pt x="5396459" y="0"/>
                </a:lnTo>
                <a:lnTo>
                  <a:pt x="539645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9" name="Google Shape;879;p54"/>
          <p:cNvSpPr/>
          <p:nvPr/>
        </p:nvSpPr>
        <p:spPr>
          <a:xfrm rot="-955411">
            <a:off x="9652756" y="9033974"/>
            <a:ext cx="464895" cy="531585"/>
          </a:xfrm>
          <a:custGeom>
            <a:rect b="b" l="l" r="r" t="t"/>
            <a:pathLst>
              <a:path extrusionOk="0" h="531585" w="464895">
                <a:moveTo>
                  <a:pt x="0" y="0"/>
                </a:moveTo>
                <a:lnTo>
                  <a:pt x="464895" y="0"/>
                </a:lnTo>
                <a:lnTo>
                  <a:pt x="464895" y="531585"/>
                </a:lnTo>
                <a:lnTo>
                  <a:pt x="0" y="531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0" name="Google Shape;880;p54"/>
          <p:cNvSpPr/>
          <p:nvPr/>
        </p:nvSpPr>
        <p:spPr>
          <a:xfrm rot="827264">
            <a:off x="16625944" y="3211933"/>
            <a:ext cx="395863" cy="477466"/>
          </a:xfrm>
          <a:custGeom>
            <a:rect b="b" l="l" r="r" t="t"/>
            <a:pathLst>
              <a:path extrusionOk="0" h="477466" w="395863">
                <a:moveTo>
                  <a:pt x="0" y="0"/>
                </a:moveTo>
                <a:lnTo>
                  <a:pt x="395863" y="0"/>
                </a:lnTo>
                <a:lnTo>
                  <a:pt x="395863" y="477467"/>
                </a:lnTo>
                <a:lnTo>
                  <a:pt x="0" y="4774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1" name="Google Shape;881;p54"/>
          <p:cNvSpPr/>
          <p:nvPr/>
        </p:nvSpPr>
        <p:spPr>
          <a:xfrm rot="1887687">
            <a:off x="7140717" y="1082274"/>
            <a:ext cx="464895" cy="531585"/>
          </a:xfrm>
          <a:custGeom>
            <a:rect b="b" l="l" r="r" t="t"/>
            <a:pathLst>
              <a:path extrusionOk="0" h="531585" w="464895">
                <a:moveTo>
                  <a:pt x="0" y="0"/>
                </a:moveTo>
                <a:lnTo>
                  <a:pt x="464895" y="0"/>
                </a:lnTo>
                <a:lnTo>
                  <a:pt x="464895" y="531585"/>
                </a:lnTo>
                <a:lnTo>
                  <a:pt x="0" y="5315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2" name="Google Shape;882;p54"/>
          <p:cNvSpPr/>
          <p:nvPr/>
        </p:nvSpPr>
        <p:spPr>
          <a:xfrm>
            <a:off x="-1998309" y="882249"/>
            <a:ext cx="3996618" cy="1627713"/>
          </a:xfrm>
          <a:custGeom>
            <a:rect b="b" l="l" r="r" t="t"/>
            <a:pathLst>
              <a:path extrusionOk="0" h="1627713" w="3996618">
                <a:moveTo>
                  <a:pt x="0" y="0"/>
                </a:moveTo>
                <a:lnTo>
                  <a:pt x="3996618" y="0"/>
                </a:lnTo>
                <a:lnTo>
                  <a:pt x="3996618" y="1627713"/>
                </a:lnTo>
                <a:lnTo>
                  <a:pt x="0" y="16277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5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8" name="Google Shape;888;p55"/>
          <p:cNvSpPr/>
          <p:nvPr/>
        </p:nvSpPr>
        <p:spPr>
          <a:xfrm>
            <a:off x="11121643" y="7507542"/>
            <a:ext cx="6094371" cy="1758288"/>
          </a:xfrm>
          <a:custGeom>
            <a:rect b="b" l="l" r="r" t="t"/>
            <a:pathLst>
              <a:path extrusionOk="0" h="1620456" w="5616632">
                <a:moveTo>
                  <a:pt x="5600503" y="186309"/>
                </a:moveTo>
                <a:cubicBezTo>
                  <a:pt x="5600122" y="125349"/>
                  <a:pt x="5609520" y="8509"/>
                  <a:pt x="5609520" y="8509"/>
                </a:cubicBezTo>
                <a:lnTo>
                  <a:pt x="5464613" y="6223"/>
                </a:lnTo>
                <a:lnTo>
                  <a:pt x="5259127" y="16002"/>
                </a:lnTo>
                <a:cubicBezTo>
                  <a:pt x="5259127" y="16002"/>
                  <a:pt x="4925498" y="0"/>
                  <a:pt x="4893621" y="14986"/>
                </a:cubicBezTo>
                <a:cubicBezTo>
                  <a:pt x="4861617" y="29972"/>
                  <a:pt x="4795704" y="6223"/>
                  <a:pt x="4795704" y="6223"/>
                </a:cubicBezTo>
                <a:lnTo>
                  <a:pt x="931164" y="4318"/>
                </a:lnTo>
                <a:lnTo>
                  <a:pt x="640207" y="3556"/>
                </a:lnTo>
                <a:lnTo>
                  <a:pt x="413258" y="11430"/>
                </a:lnTo>
                <a:lnTo>
                  <a:pt x="149479" y="10668"/>
                </a:lnTo>
                <a:lnTo>
                  <a:pt x="49403" y="1905"/>
                </a:lnTo>
                <a:cubicBezTo>
                  <a:pt x="33528" y="1905"/>
                  <a:pt x="20701" y="14605"/>
                  <a:pt x="20701" y="30480"/>
                </a:cubicBezTo>
                <a:lnTo>
                  <a:pt x="36957" y="275590"/>
                </a:lnTo>
                <a:lnTo>
                  <a:pt x="19177" y="546989"/>
                </a:lnTo>
                <a:lnTo>
                  <a:pt x="17018" y="974788"/>
                </a:lnTo>
                <a:lnTo>
                  <a:pt x="25019" y="1153604"/>
                </a:lnTo>
                <a:cubicBezTo>
                  <a:pt x="25019" y="1153604"/>
                  <a:pt x="0" y="1194752"/>
                  <a:pt x="16002" y="1354772"/>
                </a:cubicBezTo>
                <a:cubicBezTo>
                  <a:pt x="32004" y="1514792"/>
                  <a:pt x="49276" y="1610042"/>
                  <a:pt x="49276" y="1610042"/>
                </a:cubicBezTo>
                <a:lnTo>
                  <a:pt x="132842" y="1610296"/>
                </a:lnTo>
                <a:lnTo>
                  <a:pt x="305562" y="1593786"/>
                </a:lnTo>
                <a:lnTo>
                  <a:pt x="532511" y="1611312"/>
                </a:lnTo>
                <a:lnTo>
                  <a:pt x="771144" y="1620456"/>
                </a:lnTo>
                <a:lnTo>
                  <a:pt x="906526" y="1595310"/>
                </a:lnTo>
                <a:lnTo>
                  <a:pt x="1008761" y="1612582"/>
                </a:lnTo>
                <a:lnTo>
                  <a:pt x="4860474" y="1614487"/>
                </a:lnTo>
                <a:lnTo>
                  <a:pt x="5103425" y="1615122"/>
                </a:lnTo>
                <a:lnTo>
                  <a:pt x="5340280" y="1605470"/>
                </a:lnTo>
                <a:lnTo>
                  <a:pt x="5526589" y="1616265"/>
                </a:lnTo>
                <a:lnTo>
                  <a:pt x="5604059" y="1616519"/>
                </a:lnTo>
                <a:lnTo>
                  <a:pt x="5604440" y="1468564"/>
                </a:lnTo>
                <a:lnTo>
                  <a:pt x="5604694" y="1354899"/>
                </a:lnTo>
                <a:lnTo>
                  <a:pt x="5596820" y="1149413"/>
                </a:lnTo>
                <a:lnTo>
                  <a:pt x="5605710" y="981265"/>
                </a:lnTo>
                <a:lnTo>
                  <a:pt x="5607488" y="671576"/>
                </a:lnTo>
                <a:lnTo>
                  <a:pt x="5616632" y="424561"/>
                </a:lnTo>
                <a:cubicBezTo>
                  <a:pt x="5616632" y="424561"/>
                  <a:pt x="5600630" y="247015"/>
                  <a:pt x="5600249" y="186055"/>
                </a:cubicBezTo>
                <a:close/>
              </a:path>
            </a:pathLst>
          </a:custGeom>
          <a:solidFill>
            <a:srgbClr val="FCB29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55"/>
          <p:cNvSpPr/>
          <p:nvPr/>
        </p:nvSpPr>
        <p:spPr>
          <a:xfrm>
            <a:off x="11259436" y="1855203"/>
            <a:ext cx="1649883" cy="1955680"/>
          </a:xfrm>
          <a:custGeom>
            <a:rect b="b" l="l" r="r" t="t"/>
            <a:pathLst>
              <a:path extrusionOk="0" h="1955680" w="1649883">
                <a:moveTo>
                  <a:pt x="0" y="0"/>
                </a:moveTo>
                <a:lnTo>
                  <a:pt x="1649883" y="0"/>
                </a:lnTo>
                <a:lnTo>
                  <a:pt x="1649883" y="1955681"/>
                </a:lnTo>
                <a:lnTo>
                  <a:pt x="0" y="19556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0" name="Google Shape;890;p55"/>
          <p:cNvSpPr/>
          <p:nvPr/>
        </p:nvSpPr>
        <p:spPr>
          <a:xfrm>
            <a:off x="13063215" y="4625474"/>
            <a:ext cx="2117370" cy="1955680"/>
          </a:xfrm>
          <a:custGeom>
            <a:rect b="b" l="l" r="r" t="t"/>
            <a:pathLst>
              <a:path extrusionOk="0" h="1955680" w="2117370">
                <a:moveTo>
                  <a:pt x="0" y="0"/>
                </a:moveTo>
                <a:lnTo>
                  <a:pt x="2117370" y="0"/>
                </a:lnTo>
                <a:lnTo>
                  <a:pt x="2117370" y="1955680"/>
                </a:lnTo>
                <a:lnTo>
                  <a:pt x="0" y="1955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1" name="Google Shape;891;p55"/>
          <p:cNvSpPr/>
          <p:nvPr/>
        </p:nvSpPr>
        <p:spPr>
          <a:xfrm>
            <a:off x="15405777" y="1785937"/>
            <a:ext cx="1504096" cy="1955680"/>
          </a:xfrm>
          <a:custGeom>
            <a:rect b="b" l="l" r="r" t="t"/>
            <a:pathLst>
              <a:path extrusionOk="0" h="1955680" w="1504096">
                <a:moveTo>
                  <a:pt x="0" y="0"/>
                </a:moveTo>
                <a:lnTo>
                  <a:pt x="1504096" y="0"/>
                </a:lnTo>
                <a:lnTo>
                  <a:pt x="1504096" y="1955680"/>
                </a:lnTo>
                <a:lnTo>
                  <a:pt x="0" y="19556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2" name="Google Shape;892;p55"/>
          <p:cNvSpPr/>
          <p:nvPr/>
        </p:nvSpPr>
        <p:spPr>
          <a:xfrm>
            <a:off x="15322923" y="4625474"/>
            <a:ext cx="1753242" cy="1753242"/>
          </a:xfrm>
          <a:custGeom>
            <a:rect b="b" l="l" r="r" t="t"/>
            <a:pathLst>
              <a:path extrusionOk="0" h="1753242" w="1753242">
                <a:moveTo>
                  <a:pt x="0" y="0"/>
                </a:moveTo>
                <a:lnTo>
                  <a:pt x="1753241" y="0"/>
                </a:lnTo>
                <a:lnTo>
                  <a:pt x="1753241" y="1753242"/>
                </a:lnTo>
                <a:lnTo>
                  <a:pt x="0" y="175324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3" name="Google Shape;893;p55"/>
          <p:cNvSpPr/>
          <p:nvPr/>
        </p:nvSpPr>
        <p:spPr>
          <a:xfrm>
            <a:off x="13242289" y="1855203"/>
            <a:ext cx="1982998" cy="1817148"/>
          </a:xfrm>
          <a:custGeom>
            <a:rect b="b" l="l" r="r" t="t"/>
            <a:pathLst>
              <a:path extrusionOk="0" h="1817148" w="1982998">
                <a:moveTo>
                  <a:pt x="0" y="0"/>
                </a:moveTo>
                <a:lnTo>
                  <a:pt x="1982998" y="0"/>
                </a:lnTo>
                <a:lnTo>
                  <a:pt x="1982998" y="1817148"/>
                </a:lnTo>
                <a:lnTo>
                  <a:pt x="0" y="18171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4" name="Google Shape;894;p55"/>
          <p:cNvSpPr/>
          <p:nvPr/>
        </p:nvSpPr>
        <p:spPr>
          <a:xfrm>
            <a:off x="11133356" y="4914344"/>
            <a:ext cx="1790177" cy="1565591"/>
          </a:xfrm>
          <a:custGeom>
            <a:rect b="b" l="l" r="r" t="t"/>
            <a:pathLst>
              <a:path extrusionOk="0" h="1565591" w="1790177">
                <a:moveTo>
                  <a:pt x="0" y="0"/>
                </a:moveTo>
                <a:lnTo>
                  <a:pt x="1790177" y="0"/>
                </a:lnTo>
                <a:lnTo>
                  <a:pt x="1790177" y="1565591"/>
                </a:lnTo>
                <a:lnTo>
                  <a:pt x="0" y="15655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5" name="Google Shape;895;p55"/>
          <p:cNvSpPr txBox="1"/>
          <p:nvPr/>
        </p:nvSpPr>
        <p:spPr>
          <a:xfrm>
            <a:off x="1028700" y="4616971"/>
            <a:ext cx="9129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Select 10 clothing items from your closet. Create a mapping diagram to record the colors to each of the clothing you have.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Then, find out if the information you collected represents a function or not.</a:t>
            </a:r>
            <a:endParaRPr/>
          </a:p>
        </p:txBody>
      </p:sp>
      <p:sp>
        <p:nvSpPr>
          <p:cNvPr id="896" name="Google Shape;896;p55"/>
          <p:cNvSpPr txBox="1"/>
          <p:nvPr/>
        </p:nvSpPr>
        <p:spPr>
          <a:xfrm>
            <a:off x="11648506" y="7781999"/>
            <a:ext cx="5061400" cy="1173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NTR"/>
                <a:ea typeface="NTR"/>
                <a:cs typeface="NTR"/>
                <a:sym typeface="NTR"/>
              </a:rPr>
              <a:t>Share your findings with the class next session.</a:t>
            </a:r>
            <a:endParaRPr/>
          </a:p>
        </p:txBody>
      </p:sp>
      <p:sp>
        <p:nvSpPr>
          <p:cNvPr id="897" name="Google Shape;897;p55"/>
          <p:cNvSpPr txBox="1"/>
          <p:nvPr/>
        </p:nvSpPr>
        <p:spPr>
          <a:xfrm>
            <a:off x="1028700" y="1323975"/>
            <a:ext cx="9129573" cy="1219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9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999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CLOSET COLORS!</a:t>
            </a:r>
            <a:endParaRPr/>
          </a:p>
        </p:txBody>
      </p:sp>
      <p:sp>
        <p:nvSpPr>
          <p:cNvPr id="898" name="Google Shape;898;p55"/>
          <p:cNvSpPr/>
          <p:nvPr/>
        </p:nvSpPr>
        <p:spPr>
          <a:xfrm>
            <a:off x="-1414710" y="8887346"/>
            <a:ext cx="7315200" cy="1499616"/>
          </a:xfrm>
          <a:custGeom>
            <a:rect b="b" l="l" r="r" t="t"/>
            <a:pathLst>
              <a:path extrusionOk="0" h="1499616" w="7315200">
                <a:moveTo>
                  <a:pt x="0" y="0"/>
                </a:moveTo>
                <a:lnTo>
                  <a:pt x="7315200" y="0"/>
                </a:lnTo>
                <a:lnTo>
                  <a:pt x="7315200" y="1499616"/>
                </a:lnTo>
                <a:lnTo>
                  <a:pt x="0" y="14996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9" name="Google Shape;899;p55"/>
          <p:cNvSpPr/>
          <p:nvPr/>
        </p:nvSpPr>
        <p:spPr>
          <a:xfrm rot="-5285530">
            <a:off x="16765108" y="-599883"/>
            <a:ext cx="2129905" cy="2170604"/>
          </a:xfrm>
          <a:custGeom>
            <a:rect b="b" l="l" r="r" t="t"/>
            <a:pathLst>
              <a:path extrusionOk="0" h="2170604" w="2129905">
                <a:moveTo>
                  <a:pt x="0" y="0"/>
                </a:moveTo>
                <a:lnTo>
                  <a:pt x="2129905" y="0"/>
                </a:lnTo>
                <a:lnTo>
                  <a:pt x="2129905" y="2170603"/>
                </a:lnTo>
                <a:lnTo>
                  <a:pt x="0" y="217060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0" name="Google Shape;900;p55"/>
          <p:cNvSpPr/>
          <p:nvPr/>
        </p:nvSpPr>
        <p:spPr>
          <a:xfrm rot="-2556956">
            <a:off x="703759" y="2741895"/>
            <a:ext cx="556982" cy="1014372"/>
          </a:xfrm>
          <a:custGeom>
            <a:rect b="b" l="l" r="r" t="t"/>
            <a:pathLst>
              <a:path extrusionOk="0" h="1014372" w="556982">
                <a:moveTo>
                  <a:pt x="0" y="0"/>
                </a:moveTo>
                <a:lnTo>
                  <a:pt x="556982" y="0"/>
                </a:lnTo>
                <a:lnTo>
                  <a:pt x="556982" y="1014371"/>
                </a:lnTo>
                <a:lnTo>
                  <a:pt x="0" y="10143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1" name="Google Shape;901;p55"/>
          <p:cNvSpPr/>
          <p:nvPr/>
        </p:nvSpPr>
        <p:spPr>
          <a:xfrm rot="1072861">
            <a:off x="17000813" y="3739912"/>
            <a:ext cx="516975" cy="488776"/>
          </a:xfrm>
          <a:custGeom>
            <a:rect b="b" l="l" r="r" t="t"/>
            <a:pathLst>
              <a:path extrusionOk="0" h="488776" w="516975">
                <a:moveTo>
                  <a:pt x="0" y="0"/>
                </a:moveTo>
                <a:lnTo>
                  <a:pt x="516974" y="0"/>
                </a:lnTo>
                <a:lnTo>
                  <a:pt x="516974" y="488777"/>
                </a:lnTo>
                <a:lnTo>
                  <a:pt x="0" y="4887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2" name="Google Shape;902;p55"/>
          <p:cNvSpPr/>
          <p:nvPr/>
        </p:nvSpPr>
        <p:spPr>
          <a:xfrm rot="1624025">
            <a:off x="9479129" y="2930207"/>
            <a:ext cx="499522" cy="909726"/>
          </a:xfrm>
          <a:custGeom>
            <a:rect b="b" l="l" r="r" t="t"/>
            <a:pathLst>
              <a:path extrusionOk="0" h="909726" w="499522">
                <a:moveTo>
                  <a:pt x="0" y="0"/>
                </a:moveTo>
                <a:lnTo>
                  <a:pt x="499522" y="0"/>
                </a:lnTo>
                <a:lnTo>
                  <a:pt x="499522" y="909726"/>
                </a:lnTo>
                <a:lnTo>
                  <a:pt x="0" y="909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6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08" name="Google Shape;908;p56"/>
          <p:cNvSpPr txBox="1"/>
          <p:nvPr/>
        </p:nvSpPr>
        <p:spPr>
          <a:xfrm>
            <a:off x="1476626" y="2092618"/>
            <a:ext cx="9403274" cy="1114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REFERENCE</a:t>
            </a:r>
            <a:endParaRPr/>
          </a:p>
        </p:txBody>
      </p:sp>
      <p:sp>
        <p:nvSpPr>
          <p:cNvPr id="909" name="Google Shape;909;p56"/>
          <p:cNvSpPr txBox="1"/>
          <p:nvPr/>
        </p:nvSpPr>
        <p:spPr>
          <a:xfrm>
            <a:off x="1476626" y="4139781"/>
            <a:ext cx="7799833" cy="27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Mathspace. “6.0 Functions and relations | Grade 8 Math | Common Core 8 - 2023 Edition.” Accessed 12 June 2023,</a:t>
            </a:r>
            <a:endParaRPr/>
          </a:p>
          <a:p>
            <a:pPr indent="0" lvl="0" marL="0" marR="0" rtl="0" algn="l">
              <a:lnSpc>
                <a:spcPct val="13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https://mathspace.co/textbooks/syllabuses/Syllabus-1157/topics/Topic-21908/subtopics/Subtopic-279918/?searchString=</a:t>
            </a:r>
            <a:endParaRPr/>
          </a:p>
        </p:txBody>
      </p:sp>
      <p:sp>
        <p:nvSpPr>
          <p:cNvPr id="910" name="Google Shape;910;p56"/>
          <p:cNvSpPr/>
          <p:nvPr/>
        </p:nvSpPr>
        <p:spPr>
          <a:xfrm flipH="1" rot="-7603577">
            <a:off x="8387971" y="876400"/>
            <a:ext cx="1776975" cy="840025"/>
          </a:xfrm>
          <a:custGeom>
            <a:rect b="b" l="l" r="r" t="t"/>
            <a:pathLst>
              <a:path extrusionOk="0" h="840025" w="1776975">
                <a:moveTo>
                  <a:pt x="1776975" y="0"/>
                </a:moveTo>
                <a:lnTo>
                  <a:pt x="0" y="0"/>
                </a:lnTo>
                <a:lnTo>
                  <a:pt x="0" y="840025"/>
                </a:lnTo>
                <a:lnTo>
                  <a:pt x="1776975" y="840025"/>
                </a:lnTo>
                <a:lnTo>
                  <a:pt x="1776975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1" name="Google Shape;911;p56"/>
          <p:cNvSpPr/>
          <p:nvPr/>
        </p:nvSpPr>
        <p:spPr>
          <a:xfrm>
            <a:off x="0" y="8522131"/>
            <a:ext cx="5578608" cy="1764869"/>
          </a:xfrm>
          <a:custGeom>
            <a:rect b="b" l="l" r="r" t="t"/>
            <a:pathLst>
              <a:path extrusionOk="0" h="1764869" w="5578608">
                <a:moveTo>
                  <a:pt x="0" y="0"/>
                </a:moveTo>
                <a:lnTo>
                  <a:pt x="5578608" y="0"/>
                </a:lnTo>
                <a:lnTo>
                  <a:pt x="5578608" y="1764869"/>
                </a:lnTo>
                <a:lnTo>
                  <a:pt x="0" y="176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2" name="Google Shape;912;p56"/>
          <p:cNvSpPr/>
          <p:nvPr/>
        </p:nvSpPr>
        <p:spPr>
          <a:xfrm rot="827264">
            <a:off x="17308491" y="2732284"/>
            <a:ext cx="380383" cy="458795"/>
          </a:xfrm>
          <a:custGeom>
            <a:rect b="b" l="l" r="r" t="t"/>
            <a:pathLst>
              <a:path extrusionOk="0" h="458795" w="380383">
                <a:moveTo>
                  <a:pt x="0" y="0"/>
                </a:moveTo>
                <a:lnTo>
                  <a:pt x="380383" y="0"/>
                </a:lnTo>
                <a:lnTo>
                  <a:pt x="380383" y="458794"/>
                </a:lnTo>
                <a:lnTo>
                  <a:pt x="0" y="458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3" name="Google Shape;913;p56"/>
          <p:cNvSpPr/>
          <p:nvPr/>
        </p:nvSpPr>
        <p:spPr>
          <a:xfrm rot="2972040">
            <a:off x="8987606" y="7922795"/>
            <a:ext cx="577705" cy="660577"/>
          </a:xfrm>
          <a:custGeom>
            <a:rect b="b" l="l" r="r" t="t"/>
            <a:pathLst>
              <a:path extrusionOk="0" h="660577" w="577705">
                <a:moveTo>
                  <a:pt x="0" y="0"/>
                </a:moveTo>
                <a:lnTo>
                  <a:pt x="577705" y="0"/>
                </a:lnTo>
                <a:lnTo>
                  <a:pt x="577705" y="660577"/>
                </a:lnTo>
                <a:lnTo>
                  <a:pt x="0" y="6605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4" name="Google Shape;914;p56"/>
          <p:cNvSpPr/>
          <p:nvPr/>
        </p:nvSpPr>
        <p:spPr>
          <a:xfrm>
            <a:off x="12638577" y="-732842"/>
            <a:ext cx="6179516" cy="2131933"/>
          </a:xfrm>
          <a:custGeom>
            <a:rect b="b" l="l" r="r" t="t"/>
            <a:pathLst>
              <a:path extrusionOk="0" h="2131933" w="6179516">
                <a:moveTo>
                  <a:pt x="0" y="0"/>
                </a:moveTo>
                <a:lnTo>
                  <a:pt x="6179515" y="0"/>
                </a:lnTo>
                <a:lnTo>
                  <a:pt x="6179515" y="2131933"/>
                </a:lnTo>
                <a:lnTo>
                  <a:pt x="0" y="2131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5" name="Google Shape;915;p56"/>
          <p:cNvSpPr/>
          <p:nvPr/>
        </p:nvSpPr>
        <p:spPr>
          <a:xfrm rot="-2769085">
            <a:off x="1053810" y="676791"/>
            <a:ext cx="551120" cy="618605"/>
          </a:xfrm>
          <a:custGeom>
            <a:rect b="b" l="l" r="r" t="t"/>
            <a:pathLst>
              <a:path extrusionOk="0" h="618605" w="551120">
                <a:moveTo>
                  <a:pt x="0" y="0"/>
                </a:moveTo>
                <a:lnTo>
                  <a:pt x="551120" y="0"/>
                </a:lnTo>
                <a:lnTo>
                  <a:pt x="551120" y="618605"/>
                </a:lnTo>
                <a:lnTo>
                  <a:pt x="0" y="6186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7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1" name="Google Shape;921;p57"/>
          <p:cNvSpPr txBox="1"/>
          <p:nvPr/>
        </p:nvSpPr>
        <p:spPr>
          <a:xfrm>
            <a:off x="1119142" y="2877581"/>
            <a:ext cx="5059200" cy="597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Use these design resources in your Canva Presentation.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rgbClr val="FFFFFF"/>
              </a:solidFill>
              <a:latin typeface="NTR"/>
              <a:ea typeface="NTR"/>
              <a:cs typeface="NTR"/>
              <a:sym typeface="NTR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You can find these fonts online too. Happy designing! 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57"/>
          <p:cNvSpPr/>
          <p:nvPr/>
        </p:nvSpPr>
        <p:spPr>
          <a:xfrm rot="-955411">
            <a:off x="17328621" y="740817"/>
            <a:ext cx="503533" cy="575766"/>
          </a:xfrm>
          <a:custGeom>
            <a:rect b="b" l="l" r="r" t="t"/>
            <a:pathLst>
              <a:path extrusionOk="0" h="575766" w="503533">
                <a:moveTo>
                  <a:pt x="0" y="0"/>
                </a:moveTo>
                <a:lnTo>
                  <a:pt x="503533" y="0"/>
                </a:lnTo>
                <a:lnTo>
                  <a:pt x="503533" y="575766"/>
                </a:lnTo>
                <a:lnTo>
                  <a:pt x="0" y="5757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3" name="Google Shape;923;p57"/>
          <p:cNvSpPr/>
          <p:nvPr/>
        </p:nvSpPr>
        <p:spPr>
          <a:xfrm>
            <a:off x="9696497" y="1232680"/>
            <a:ext cx="1837592" cy="1837592"/>
          </a:xfrm>
          <a:custGeom>
            <a:rect b="b" l="l" r="r" t="t"/>
            <a:pathLst>
              <a:path extrusionOk="0" h="1837592" w="1837592">
                <a:moveTo>
                  <a:pt x="0" y="0"/>
                </a:moveTo>
                <a:lnTo>
                  <a:pt x="1837592" y="0"/>
                </a:lnTo>
                <a:lnTo>
                  <a:pt x="1837592" y="1837592"/>
                </a:lnTo>
                <a:lnTo>
                  <a:pt x="0" y="18375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4" name="Google Shape;924;p57"/>
          <p:cNvSpPr/>
          <p:nvPr/>
        </p:nvSpPr>
        <p:spPr>
          <a:xfrm>
            <a:off x="15292940" y="4129653"/>
            <a:ext cx="1397316" cy="2149717"/>
          </a:xfrm>
          <a:custGeom>
            <a:rect b="b" l="l" r="r" t="t"/>
            <a:pathLst>
              <a:path extrusionOk="0" h="2149717" w="1397316">
                <a:moveTo>
                  <a:pt x="0" y="0"/>
                </a:moveTo>
                <a:lnTo>
                  <a:pt x="1397317" y="0"/>
                </a:lnTo>
                <a:lnTo>
                  <a:pt x="1397317" y="2149718"/>
                </a:lnTo>
                <a:lnTo>
                  <a:pt x="0" y="214971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5" name="Google Shape;925;p57"/>
          <p:cNvSpPr/>
          <p:nvPr/>
        </p:nvSpPr>
        <p:spPr>
          <a:xfrm>
            <a:off x="12848904" y="1158754"/>
            <a:ext cx="1256244" cy="1985444"/>
          </a:xfrm>
          <a:custGeom>
            <a:rect b="b" l="l" r="r" t="t"/>
            <a:pathLst>
              <a:path extrusionOk="0" h="1985444" w="1256244">
                <a:moveTo>
                  <a:pt x="0" y="0"/>
                </a:moveTo>
                <a:lnTo>
                  <a:pt x="1256244" y="0"/>
                </a:lnTo>
                <a:lnTo>
                  <a:pt x="1256244" y="1985444"/>
                </a:lnTo>
                <a:lnTo>
                  <a:pt x="0" y="1985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6" name="Google Shape;926;p57"/>
          <p:cNvSpPr/>
          <p:nvPr/>
        </p:nvSpPr>
        <p:spPr>
          <a:xfrm>
            <a:off x="9696497" y="3945990"/>
            <a:ext cx="1410837" cy="2141687"/>
          </a:xfrm>
          <a:custGeom>
            <a:rect b="b" l="l" r="r" t="t"/>
            <a:pathLst>
              <a:path extrusionOk="0" h="2141687" w="1410837">
                <a:moveTo>
                  <a:pt x="0" y="0"/>
                </a:moveTo>
                <a:lnTo>
                  <a:pt x="1410836" y="0"/>
                </a:lnTo>
                <a:lnTo>
                  <a:pt x="1410836" y="2141687"/>
                </a:lnTo>
                <a:lnTo>
                  <a:pt x="0" y="21416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7" name="Google Shape;927;p57"/>
          <p:cNvSpPr/>
          <p:nvPr/>
        </p:nvSpPr>
        <p:spPr>
          <a:xfrm>
            <a:off x="12463592" y="3879335"/>
            <a:ext cx="1473089" cy="2223530"/>
          </a:xfrm>
          <a:custGeom>
            <a:rect b="b" l="l" r="r" t="t"/>
            <a:pathLst>
              <a:path extrusionOk="0" h="2223530" w="1473089">
                <a:moveTo>
                  <a:pt x="0" y="0"/>
                </a:moveTo>
                <a:lnTo>
                  <a:pt x="1473089" y="0"/>
                </a:lnTo>
                <a:lnTo>
                  <a:pt x="1473089" y="2223530"/>
                </a:lnTo>
                <a:lnTo>
                  <a:pt x="0" y="22235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8" name="Google Shape;928;p57"/>
          <p:cNvSpPr/>
          <p:nvPr/>
        </p:nvSpPr>
        <p:spPr>
          <a:xfrm>
            <a:off x="15052312" y="1252904"/>
            <a:ext cx="1878573" cy="2087304"/>
          </a:xfrm>
          <a:custGeom>
            <a:rect b="b" l="l" r="r" t="t"/>
            <a:pathLst>
              <a:path extrusionOk="0" h="2087304" w="1878573">
                <a:moveTo>
                  <a:pt x="0" y="0"/>
                </a:moveTo>
                <a:lnTo>
                  <a:pt x="1878573" y="0"/>
                </a:lnTo>
                <a:lnTo>
                  <a:pt x="1878573" y="2087304"/>
                </a:lnTo>
                <a:lnTo>
                  <a:pt x="0" y="20873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9" name="Google Shape;929;p57"/>
          <p:cNvSpPr/>
          <p:nvPr/>
        </p:nvSpPr>
        <p:spPr>
          <a:xfrm>
            <a:off x="15552138" y="7040177"/>
            <a:ext cx="1290519" cy="2309654"/>
          </a:xfrm>
          <a:custGeom>
            <a:rect b="b" l="l" r="r" t="t"/>
            <a:pathLst>
              <a:path extrusionOk="0" h="2309654" w="1290519">
                <a:moveTo>
                  <a:pt x="0" y="0"/>
                </a:moveTo>
                <a:lnTo>
                  <a:pt x="1290519" y="0"/>
                </a:lnTo>
                <a:lnTo>
                  <a:pt x="1290519" y="2309654"/>
                </a:lnTo>
                <a:lnTo>
                  <a:pt x="0" y="23096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0" name="Google Shape;930;p57"/>
          <p:cNvSpPr txBox="1"/>
          <p:nvPr/>
        </p:nvSpPr>
        <p:spPr>
          <a:xfrm>
            <a:off x="1028700" y="1028700"/>
            <a:ext cx="81153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Resource Page</a:t>
            </a:r>
            <a:endParaRPr/>
          </a:p>
        </p:txBody>
      </p:sp>
      <p:sp>
        <p:nvSpPr>
          <p:cNvPr id="931" name="Google Shape;931;p57"/>
          <p:cNvSpPr txBox="1"/>
          <p:nvPr/>
        </p:nvSpPr>
        <p:spPr>
          <a:xfrm>
            <a:off x="1119142" y="4026866"/>
            <a:ext cx="46767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This presentation template uses the following free fonts:</a:t>
            </a:r>
            <a:endParaRPr/>
          </a:p>
        </p:txBody>
      </p:sp>
      <p:sp>
        <p:nvSpPr>
          <p:cNvPr id="932" name="Google Shape;932;p57"/>
          <p:cNvSpPr txBox="1"/>
          <p:nvPr/>
        </p:nvSpPr>
        <p:spPr>
          <a:xfrm>
            <a:off x="1119179" y="5387586"/>
            <a:ext cx="5059200" cy="14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Titles:  Changa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Headers:  Changa</a:t>
            </a:r>
            <a:endParaRPr/>
          </a:p>
          <a:p>
            <a:pPr indent="-259080" lvl="1" marL="518160" marR="0" rtl="0" algn="l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Body Copy: Yantramanav</a:t>
            </a:r>
            <a:endParaRPr/>
          </a:p>
        </p:txBody>
      </p:sp>
      <p:pic>
        <p:nvPicPr>
          <p:cNvPr id="933" name="Google Shape;933;p5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474663" y="6994630"/>
            <a:ext cx="1397300" cy="2411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5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2953008" y="6912600"/>
            <a:ext cx="1256250" cy="2575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3D5A80"/>
        </a:solidFill>
      </p:bgPr>
    </p:bg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58"/>
          <p:cNvSpPr/>
          <p:nvPr/>
        </p:nvSpPr>
        <p:spPr>
          <a:xfrm>
            <a:off x="37596" y="0"/>
            <a:ext cx="18250404" cy="18250404"/>
          </a:xfrm>
          <a:custGeom>
            <a:rect b="b" l="l" r="r" t="t"/>
            <a:pathLst>
              <a:path extrusionOk="0" h="18250404" w="18250404">
                <a:moveTo>
                  <a:pt x="0" y="0"/>
                </a:moveTo>
                <a:lnTo>
                  <a:pt x="18250404" y="0"/>
                </a:lnTo>
                <a:lnTo>
                  <a:pt x="18250404" y="18250404"/>
                </a:lnTo>
                <a:lnTo>
                  <a:pt x="0" y="18250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19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0" name="Google Shape;940;p58"/>
          <p:cNvSpPr txBox="1"/>
          <p:nvPr/>
        </p:nvSpPr>
        <p:spPr>
          <a:xfrm>
            <a:off x="5280936" y="1028700"/>
            <a:ext cx="772612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59FF82"/>
                </a:solidFill>
                <a:latin typeface="Changa"/>
                <a:ea typeface="Changa"/>
                <a:cs typeface="Changa"/>
                <a:sym typeface="Changa"/>
              </a:rPr>
              <a:t>Credits</a:t>
            </a:r>
            <a:endParaRPr/>
          </a:p>
        </p:txBody>
      </p:sp>
      <p:sp>
        <p:nvSpPr>
          <p:cNvPr id="941" name="Google Shape;941;p58"/>
          <p:cNvSpPr txBox="1"/>
          <p:nvPr/>
        </p:nvSpPr>
        <p:spPr>
          <a:xfrm>
            <a:off x="3376830" y="8227061"/>
            <a:ext cx="12651949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Happy designing! </a:t>
            </a:r>
            <a:endParaRPr/>
          </a:p>
        </p:txBody>
      </p:sp>
      <p:sp>
        <p:nvSpPr>
          <p:cNvPr id="942" name="Google Shape;942;p58"/>
          <p:cNvSpPr/>
          <p:nvPr/>
        </p:nvSpPr>
        <p:spPr>
          <a:xfrm>
            <a:off x="12991259" y="-484245"/>
            <a:ext cx="5039851" cy="3792488"/>
          </a:xfrm>
          <a:custGeom>
            <a:rect b="b" l="l" r="r" t="t"/>
            <a:pathLst>
              <a:path extrusionOk="0" h="3792488" w="5039851">
                <a:moveTo>
                  <a:pt x="0" y="0"/>
                </a:moveTo>
                <a:lnTo>
                  <a:pt x="5039851" y="0"/>
                </a:lnTo>
                <a:lnTo>
                  <a:pt x="5039851" y="3792488"/>
                </a:lnTo>
                <a:lnTo>
                  <a:pt x="0" y="37924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3" name="Google Shape;943;p58"/>
          <p:cNvSpPr/>
          <p:nvPr/>
        </p:nvSpPr>
        <p:spPr>
          <a:xfrm rot="4955683">
            <a:off x="-3140126" y="7701562"/>
            <a:ext cx="7315200" cy="1082588"/>
          </a:xfrm>
          <a:custGeom>
            <a:rect b="b" l="l" r="r" t="t"/>
            <a:pathLst>
              <a:path extrusionOk="0" h="1082588" w="7315200">
                <a:moveTo>
                  <a:pt x="0" y="0"/>
                </a:moveTo>
                <a:lnTo>
                  <a:pt x="7315200" y="0"/>
                </a:lnTo>
                <a:lnTo>
                  <a:pt x="7315200" y="1082588"/>
                </a:lnTo>
                <a:lnTo>
                  <a:pt x="0" y="10825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4" name="Google Shape;944;p58"/>
          <p:cNvSpPr/>
          <p:nvPr/>
        </p:nvSpPr>
        <p:spPr>
          <a:xfrm rot="-955411">
            <a:off x="1614799" y="1969895"/>
            <a:ext cx="647415" cy="740287"/>
          </a:xfrm>
          <a:custGeom>
            <a:rect b="b" l="l" r="r" t="t"/>
            <a:pathLst>
              <a:path extrusionOk="0" h="740287" w="647415">
                <a:moveTo>
                  <a:pt x="0" y="0"/>
                </a:moveTo>
                <a:lnTo>
                  <a:pt x="647415" y="0"/>
                </a:lnTo>
                <a:lnTo>
                  <a:pt x="647415" y="740287"/>
                </a:lnTo>
                <a:lnTo>
                  <a:pt x="0" y="74028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5" name="Google Shape;945;p58"/>
          <p:cNvSpPr/>
          <p:nvPr/>
        </p:nvSpPr>
        <p:spPr>
          <a:xfrm rot="827264">
            <a:off x="16699574" y="4495251"/>
            <a:ext cx="495631" cy="597801"/>
          </a:xfrm>
          <a:custGeom>
            <a:rect b="b" l="l" r="r" t="t"/>
            <a:pathLst>
              <a:path extrusionOk="0" h="597801" w="495631">
                <a:moveTo>
                  <a:pt x="0" y="0"/>
                </a:moveTo>
                <a:lnTo>
                  <a:pt x="495631" y="0"/>
                </a:lnTo>
                <a:lnTo>
                  <a:pt x="495631" y="597801"/>
                </a:lnTo>
                <a:lnTo>
                  <a:pt x="0" y="5978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6" name="Google Shape;946;p58"/>
          <p:cNvSpPr/>
          <p:nvPr/>
        </p:nvSpPr>
        <p:spPr>
          <a:xfrm>
            <a:off x="15607994" y="7328466"/>
            <a:ext cx="3425711" cy="3491170"/>
          </a:xfrm>
          <a:custGeom>
            <a:rect b="b" l="l" r="r" t="t"/>
            <a:pathLst>
              <a:path extrusionOk="0" h="3491170" w="3425711">
                <a:moveTo>
                  <a:pt x="0" y="0"/>
                </a:moveTo>
                <a:lnTo>
                  <a:pt x="3425711" y="0"/>
                </a:lnTo>
                <a:lnTo>
                  <a:pt x="3425711" y="3491171"/>
                </a:lnTo>
                <a:lnTo>
                  <a:pt x="0" y="34911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7" name="Google Shape;947;p58"/>
          <p:cNvSpPr txBox="1"/>
          <p:nvPr/>
        </p:nvSpPr>
        <p:spPr>
          <a:xfrm>
            <a:off x="3797615" y="5467425"/>
            <a:ext cx="11810379" cy="1136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This presentation template is free for everyone to use thanks to the following:</a:t>
            </a:r>
            <a:endParaRPr/>
          </a:p>
        </p:txBody>
      </p:sp>
      <p:sp>
        <p:nvSpPr>
          <p:cNvPr id="948" name="Google Shape;948;p58"/>
          <p:cNvSpPr txBox="1"/>
          <p:nvPr/>
        </p:nvSpPr>
        <p:spPr>
          <a:xfrm>
            <a:off x="3376830" y="7169849"/>
            <a:ext cx="12651949" cy="860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99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SlidesCarnival for the presentation template</a:t>
            </a:r>
            <a:endParaRPr/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FFFFFF"/>
                </a:solidFill>
                <a:latin typeface="NTR"/>
                <a:ea typeface="NTR"/>
                <a:cs typeface="NTR"/>
                <a:sym typeface="NTR"/>
              </a:rPr>
              <a:t>Pexels for the photos</a:t>
            </a:r>
            <a:endParaRPr/>
          </a:p>
        </p:txBody>
      </p:sp>
      <p:pic>
        <p:nvPicPr>
          <p:cNvPr id="949" name="Google Shape;949;p5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37020" y="3420900"/>
            <a:ext cx="5898105" cy="1480750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58"/>
          <p:cNvSpPr/>
          <p:nvPr/>
        </p:nvSpPr>
        <p:spPr>
          <a:xfrm>
            <a:off x="3094539" y="5882027"/>
            <a:ext cx="703090" cy="722044"/>
          </a:xfrm>
          <a:custGeom>
            <a:rect b="b" l="l" r="r" t="t"/>
            <a:pathLst>
              <a:path extrusionOk="0" h="722044" w="703090">
                <a:moveTo>
                  <a:pt x="0" y="0"/>
                </a:moveTo>
                <a:lnTo>
                  <a:pt x="703090" y="0"/>
                </a:lnTo>
                <a:lnTo>
                  <a:pt x="703090" y="722044"/>
                </a:lnTo>
                <a:lnTo>
                  <a:pt x="0" y="7220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5" name="Google Shape;95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15534" y="311950"/>
            <a:ext cx="6685832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6" name="Google Shape;956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" y="311950"/>
            <a:ext cx="6827788" cy="10286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9924" y="1251957"/>
            <a:ext cx="5563925" cy="8448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unctions Lesson for Middle School">
  <a:themeElements>
    <a:clrScheme name="Office">
      <a:dk1>
        <a:srgbClr val="3D5A80"/>
      </a:dk1>
      <a:lt1>
        <a:srgbClr val="FFFFFF"/>
      </a:lt1>
      <a:dk2>
        <a:srgbClr val="00C4A8"/>
      </a:dk2>
      <a:lt2>
        <a:srgbClr val="FCB295"/>
      </a:lt2>
      <a:accent1>
        <a:srgbClr val="F9D021"/>
      </a:accent1>
      <a:accent2>
        <a:srgbClr val="B37345"/>
      </a:accent2>
      <a:accent3>
        <a:srgbClr val="EA863B"/>
      </a:accent3>
      <a:accent4>
        <a:srgbClr val="3D5A80"/>
      </a:accent4>
      <a:accent5>
        <a:srgbClr val="F6EEE3"/>
      </a:accent5>
      <a:accent6>
        <a:srgbClr val="59FF82"/>
      </a:accent6>
      <a:hlink>
        <a:srgbClr val="3D5A80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